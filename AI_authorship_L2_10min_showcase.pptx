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presentation is an original research proposal based on the Psychology of Language course. The title is “Psycholinguistic Cues in AI-Authorship Perception and L2 Text Memory.” The project connects reading, language perception, second-language processing, and the current issue of AI-generated writing. My goal today is not to argue that AI detection tools are good or bad, but to propose a psycholinguistic experiment: how do bilingual readers infer authorship from language, and how does AI-like writing affect L2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point I want to clarify is why this is psycholinguistics. A simple version of the topic would be “Can people detect AI?” That would sound like an AI-detection or academic integrity project. My version is different. I ask what language cues readers use when they infer authorship. This includes reading comprehension, language perception, pragmatic inference, and second-language processing. So the object of study is the human reader: how the reader moves from linguistic form to authorship judgment and memory encoding.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motivates the project in three ways. First, recent work suggests that humans can sometimes discriminate human from AI text, but there is large individual variation. Second, AI detectors are not stable enough to be treated as perfect ground truth. Third, LLMs have become relevant to language science because they provide computational models of language prediction and representation. My gap is therefore: we need to understand the human psycholinguistic cues behind AI-authorship perception, and whether AI-like style changes L2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model of the study. Text type is the manipulated variable: human-written, AI-generated, or hybrid. But what readers actually experience are psycholinguistic cues, such as fluency, structural regularity, emotional specificity, and personal voice. These cues may drive authorship judgments. The third part of the model asks whether these different text types and cues affect L2 memory, measured through recognition and sentence reconstruction. The key assumption is that people may not detect authorship directly; they may infer it from language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two research questions. First, which linguistic cues make a text seem AI-generated? Second, when Chinese-English bilingual students read English as an L2, do AI-generated and human-written texts differ in memory encoding? The hypotheses are simple. Highly fluent and regular texts may feel more AI-like. Texts with stronger emotion and personal voice may feel more human-like. And because L2 reading depends on working memory and sentence processing, AI and human texts may be remembered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is designed as a single web-based experiment with three linked tasks. I deliberately avoid classic, overused tasks such as Stroop or semantic priming. Experiment 1 measures intuitive authorship judgment. Experiment 2 measures the language cues that might explain those judgments. Experiment 3 measures L2 memory through recognition and word-order reconstruction. The sample would be around 20 to 50 Chinese-English bilingual high school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materials will be English passages, because the participants are Chinese-English bilingual students and the third experiment is about L2 reading. Each passage will be short, about 80 to 120 words. The text conditions are human-written, AI-generated, and human-AI hybrid. The important part is control. The passages should be matched for topic, length, vocabulary difficulty, and sentence complexity. AI-generated texts will be created using standardized prompts, and hybrid texts will be created with fixed rules rather than casual manual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Experiments 1 and 2 are tightly connected. In Experiment 1, participants read a text and judge whether it is human-written, AI-generated, human with AI editing, or uncertain. This gives judgment accuracy and misclassification rate. In Experiment 2, participants rate the same text on a Likert scale for features such as fluency, structure, clarity, emotional expression, personal voice, genericness, and naturalness. The point is to explain why they made the judgment, using quantifiable psycholinguistic cues.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3 is the strongest link to psycholinguistics. It asks whether AI-generated and human-written English texts are encoded differently in L2 memory. Participants first read a passage. Then they do a short distractor task, such as odd-even judgment, to reduce simple rehearsal. After that, they complete a sentence recognition test and a word-order reconstruction task. The dependent variables are memory accuracy and reaction time. This allows us to ask whether AI text is merely easier to read, or whether it is also better encoded and remembered.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in the presentation, I would switch to the demo for around 40 to 60 seconds. I would show the welcome page, the participant background survey, one sample reading trial, the authorship judgment questions, the cue ratings, and then the memory task. The purpose of the demo is to show that this is not only a theoretical proposal. It can be implemented as a web experiment and used to collect reaction time, ratings, classification choices, and memory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planned analysis is simple. First, I would compare authorship accuracy and misclassification across text types. Second, I would correlate linguistic cue ratings with AI-likelihood judgments, to see whether fluency, structure, or lack of personal voice predicts AI-likeness. Third, I would compare memory accuracy and reaction time for human and AI texts. The interpretation is about mechanism. If AI-likeness is predicted more by surface fluency or low personal voice than by true authorship, then readers are detecting style rather than authorship.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contribution is that the study reframes AI writing as a psycholinguistic question. It could show that AI-like impressions come from fluency, structural regularity, and genericness, while human-like impressions come from emotion, specificity, and personal voice. It could also show that AI text is not simply better or worse. It may feel easier to process, but it may not always be better remembered in second-language reading. That distinction between surface fluency and deeper memory encoding is the main value of the third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study is feasible as a pilot. The next steps are to finalize matched passages, pilot the web task with a few students, collect around 20 to 50 responses, and analyze means, correlations, and accuracy rates. The limitations are also clear: the sample would be small, matching materials is difficult, and self-rated proficiency is not perfect. But as a course-based research idea, it is concrete and testable. It uses the course content on reading, language perception, and memory to study an original problem in human-AI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02920" y="6473952"/>
            <a:ext cx="11155680" cy="0"/>
          </a:xfrm>
          <a:prstGeom prst="line">
            <a:avLst/>
          </a:prstGeom>
          <a:noFill/>
          <a:ln w="7620">
            <a:solidFill>
              <a:srgbClr val="D5DEE8"/>
            </a:solidFill>
            <a:prstDash val="solid"/>
          </a:ln>
        </p:spPr>
      </p:sp>
      <p:sp>
        <p:nvSpPr>
          <p:cNvPr id="3" name="Text 1"/>
          <p:cNvSpPr/>
          <p:nvPr/>
        </p:nvSpPr>
        <p:spPr>
          <a:xfrm>
            <a:off x="566928" y="6528816"/>
            <a:ext cx="4572000" cy="137160"/>
          </a:xfrm>
          <a:prstGeom prst="rect">
            <a:avLst/>
          </a:prstGeom>
          <a:noFill/>
          <a:ln/>
        </p:spPr>
        <p:txBody>
          <a:bodyPr wrap="square" rtlCol="0" anchor="ctr"/>
          <a:lstStyle/>
          <a:p>
            <a:pPr indent="0" marL="0">
              <a:buNone/>
            </a:pPr>
            <a:r>
              <a:rPr lang="en-US" sz="650" dirty="0">
                <a:solidFill>
                  <a:srgbClr val="678096"/>
                </a:solidFill>
                <a:latin typeface="Aptos" pitchFamily="34" charset="0"/>
                <a:ea typeface="Aptos" pitchFamily="34" charset="-122"/>
                <a:cs typeface="Aptos" pitchFamily="34" charset="-120"/>
              </a:rPr>
              <a:t>Psychology of Language Research Showcase</a:t>
            </a:r>
            <a:endParaRPr lang="en-US" sz="65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pic>
        <p:nvPicPr>
          <p:cNvPr id="2" name="Image 0" descr="/mnt/data/wide_editorial_illustration_conceptual_graphic.png">    </p:cNvPr>
          <p:cNvPicPr>
            <a:picLocks noChangeAspect="1"/>
          </p:cNvPicPr>
          <p:nvPr/>
        </p:nvPicPr>
        <p:blipFill>
          <a:blip r:embed="rId1"/>
          <a:stretch>
            <a:fillRect/>
          </a:stretch>
        </p:blipFill>
        <p:spPr>
          <a:xfrm>
            <a:off x="6629400" y="411480"/>
            <a:ext cx="5257800" cy="5760720"/>
          </a:xfrm>
          <a:prstGeom prst="rect">
            <a:avLst/>
          </a:prstGeom>
        </p:spPr>
      </p:pic>
      <p:sp>
        <p:nvSpPr>
          <p:cNvPr id="3"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ORIGINAL RESEARCH IDEA</a:t>
            </a:r>
            <a:endParaRPr lang="en-US" sz="750" dirty="0"/>
          </a:p>
        </p:txBody>
      </p:sp>
      <p:sp>
        <p:nvSpPr>
          <p:cNvPr id="4" name="Text 1"/>
          <p:cNvSpPr/>
          <p:nvPr/>
        </p:nvSpPr>
        <p:spPr>
          <a:xfrm>
            <a:off x="566928" y="868680"/>
            <a:ext cx="5715000" cy="1554480"/>
          </a:xfrm>
          <a:prstGeom prst="rect">
            <a:avLst/>
          </a:prstGeom>
          <a:noFill/>
          <a:ln/>
        </p:spPr>
        <p:txBody>
          <a:bodyPr wrap="square" lIns="0" tIns="0" rIns="0" bIns="0" rtlCol="0" anchor="ctr">
            <a:normAutofit/>
          </a:bodyPr>
          <a:lstStyle/>
          <a:p>
            <a:pPr indent="0" marL="0">
              <a:buNone/>
            </a:pPr>
            <a:r>
              <a:rPr lang="en-US" sz="3300" b="1" dirty="0">
                <a:solidFill>
                  <a:srgbClr val="0B2A4A"/>
                </a:solidFill>
                <a:latin typeface="Aptos Display" pitchFamily="34" charset="0"/>
                <a:ea typeface="Aptos Display" pitchFamily="34" charset="-122"/>
                <a:cs typeface="Aptos Display" pitchFamily="34" charset="-120"/>
              </a:rPr>
              <a:t>Psycholinguistic Cues in AI-Authorship Perception and L2 Text Memory</a:t>
            </a:r>
            <a:endParaRPr lang="en-US" sz="3300" dirty="0"/>
          </a:p>
        </p:txBody>
      </p:sp>
      <p:sp>
        <p:nvSpPr>
          <p:cNvPr id="5" name="Text 2"/>
          <p:cNvSpPr/>
          <p:nvPr/>
        </p:nvSpPr>
        <p:spPr>
          <a:xfrm>
            <a:off x="594360" y="2670048"/>
            <a:ext cx="5394960" cy="274320"/>
          </a:xfrm>
          <a:prstGeom prst="rect">
            <a:avLst/>
          </a:prstGeom>
          <a:noFill/>
          <a:ln/>
        </p:spPr>
        <p:txBody>
          <a:bodyPr wrap="square" lIns="0" tIns="0" rIns="0" bIns="0" rtlCol="0" anchor="ctr"/>
          <a:lstStyle/>
          <a:p>
            <a:pPr indent="0" marL="0">
              <a:buNone/>
            </a:pPr>
            <a:r>
              <a:rPr lang="en-US" sz="1400" dirty="0">
                <a:solidFill>
                  <a:srgbClr val="50616F"/>
                </a:solidFill>
              </a:rPr>
              <a:t>A proposed web-based study with Chinese–English bilingual students</a:t>
            </a:r>
            <a:endParaRPr lang="en-US" sz="1400" dirty="0"/>
          </a:p>
        </p:txBody>
      </p:sp>
      <p:sp>
        <p:nvSpPr>
          <p:cNvPr id="6" name="Text 3"/>
          <p:cNvSpPr/>
          <p:nvPr/>
        </p:nvSpPr>
        <p:spPr>
          <a:xfrm>
            <a:off x="594360" y="3319272"/>
            <a:ext cx="1600200" cy="164592"/>
          </a:xfrm>
          <a:prstGeom prst="rect">
            <a:avLst/>
          </a:prstGeom>
          <a:noFill/>
          <a:ln/>
        </p:spPr>
        <p:txBody>
          <a:bodyPr wrap="square" lIns="0" tIns="0" rIns="0" bIns="0" rtlCol="0" anchor="ctr"/>
          <a:lstStyle/>
          <a:p>
            <a:pPr algn="ctr" indent="0" marL="0">
              <a:buNone/>
            </a:pPr>
            <a:r>
              <a:rPr lang="en-US" sz="850" b="1" dirty="0">
                <a:solidFill>
                  <a:srgbClr val="1E64A9"/>
                </a:solidFill>
              </a:rPr>
              <a:t>Psycholinguistics</a:t>
            </a:r>
            <a:endParaRPr lang="en-US" sz="850" dirty="0"/>
          </a:p>
        </p:txBody>
      </p:sp>
      <p:sp>
        <p:nvSpPr>
          <p:cNvPr id="7" name="Shape 4"/>
          <p:cNvSpPr/>
          <p:nvPr/>
        </p:nvSpPr>
        <p:spPr>
          <a:xfrm>
            <a:off x="594360" y="3566160"/>
            <a:ext cx="1600200" cy="0"/>
          </a:xfrm>
          <a:prstGeom prst="line">
            <a:avLst/>
          </a:prstGeom>
          <a:noFill/>
          <a:ln w="12700">
            <a:solidFill>
              <a:srgbClr val="1E64A9"/>
            </a:solidFill>
            <a:prstDash val="solid"/>
          </a:ln>
        </p:spPr>
      </p:sp>
      <p:sp>
        <p:nvSpPr>
          <p:cNvPr id="8" name="Text 5"/>
          <p:cNvSpPr/>
          <p:nvPr/>
        </p:nvSpPr>
        <p:spPr>
          <a:xfrm>
            <a:off x="2359152" y="3319272"/>
            <a:ext cx="1234440" cy="164592"/>
          </a:xfrm>
          <a:prstGeom prst="rect">
            <a:avLst/>
          </a:prstGeom>
          <a:noFill/>
          <a:ln/>
        </p:spPr>
        <p:txBody>
          <a:bodyPr wrap="square" lIns="0" tIns="0" rIns="0" bIns="0" rtlCol="0" anchor="ctr"/>
          <a:lstStyle/>
          <a:p>
            <a:pPr algn="ctr" indent="0" marL="0">
              <a:buNone/>
            </a:pPr>
            <a:r>
              <a:rPr lang="en-US" sz="850" b="1" dirty="0">
                <a:solidFill>
                  <a:srgbClr val="0B2A4A"/>
                </a:solidFill>
              </a:rPr>
              <a:t>L2 Reading</a:t>
            </a:r>
            <a:endParaRPr lang="en-US" sz="850" dirty="0"/>
          </a:p>
        </p:txBody>
      </p:sp>
      <p:sp>
        <p:nvSpPr>
          <p:cNvPr id="9" name="Shape 6"/>
          <p:cNvSpPr/>
          <p:nvPr/>
        </p:nvSpPr>
        <p:spPr>
          <a:xfrm>
            <a:off x="2359152" y="3566160"/>
            <a:ext cx="1234440" cy="0"/>
          </a:xfrm>
          <a:prstGeom prst="line">
            <a:avLst/>
          </a:prstGeom>
          <a:noFill/>
          <a:ln w="12700">
            <a:solidFill>
              <a:srgbClr val="0B2A4A"/>
            </a:solidFill>
            <a:prstDash val="solid"/>
          </a:ln>
        </p:spPr>
      </p:sp>
      <p:sp>
        <p:nvSpPr>
          <p:cNvPr id="10" name="Text 7"/>
          <p:cNvSpPr/>
          <p:nvPr/>
        </p:nvSpPr>
        <p:spPr>
          <a:xfrm>
            <a:off x="3749040" y="3319272"/>
            <a:ext cx="1691640" cy="164592"/>
          </a:xfrm>
          <a:prstGeom prst="rect">
            <a:avLst/>
          </a:prstGeom>
          <a:noFill/>
          <a:ln/>
        </p:spPr>
        <p:txBody>
          <a:bodyPr wrap="square" lIns="0" tIns="0" rIns="0" bIns="0" rtlCol="0" anchor="ctr"/>
          <a:lstStyle/>
          <a:p>
            <a:pPr algn="ctr" indent="0" marL="0">
              <a:buNone/>
            </a:pPr>
            <a:r>
              <a:rPr lang="en-US" sz="850" b="1" dirty="0">
                <a:solidFill>
                  <a:srgbClr val="1E64A9"/>
                </a:solidFill>
              </a:rPr>
              <a:t>Human–AI Writing</a:t>
            </a:r>
            <a:endParaRPr lang="en-US" sz="850" dirty="0"/>
          </a:p>
        </p:txBody>
      </p:sp>
      <p:sp>
        <p:nvSpPr>
          <p:cNvPr id="11" name="Shape 8"/>
          <p:cNvSpPr/>
          <p:nvPr/>
        </p:nvSpPr>
        <p:spPr>
          <a:xfrm>
            <a:off x="3749040" y="3566160"/>
            <a:ext cx="1691640" cy="0"/>
          </a:xfrm>
          <a:prstGeom prst="line">
            <a:avLst/>
          </a:prstGeom>
          <a:noFill/>
          <a:ln w="12700">
            <a:solidFill>
              <a:srgbClr val="1E64A9"/>
            </a:solidFill>
            <a:prstDash val="solid"/>
          </a:ln>
        </p:spPr>
      </p:sp>
      <p:sp>
        <p:nvSpPr>
          <p:cNvPr id="12" name="Text 9"/>
          <p:cNvSpPr/>
          <p:nvPr/>
        </p:nvSpPr>
        <p:spPr>
          <a:xfrm>
            <a:off x="594360" y="5440680"/>
            <a:ext cx="5303520" cy="228600"/>
          </a:xfrm>
          <a:prstGeom prst="rect">
            <a:avLst/>
          </a:prstGeom>
          <a:noFill/>
          <a:ln/>
        </p:spPr>
        <p:txBody>
          <a:bodyPr wrap="square" lIns="0" tIns="0" rIns="0" bIns="0" rtlCol="0" anchor="ctr"/>
          <a:lstStyle/>
          <a:p>
            <a:pPr indent="0" marL="0">
              <a:buNone/>
            </a:pPr>
            <a:r>
              <a:rPr lang="en-US" sz="1050" dirty="0">
                <a:solidFill>
                  <a:srgbClr val="50616F"/>
                </a:solidFill>
              </a:rPr>
              <a:t>Presentation format: 10-minute research proposal + demo</a:t>
            </a:r>
            <a:endParaRPr lang="en-US" sz="105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FRAMING THE TOPIC</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Why this belongs in psycholinguistics</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The project studies how readers process written language and infer the mind behind it.</a:t>
            </a:r>
            <a:endParaRPr lang="en-US" sz="1020" dirty="0"/>
          </a:p>
        </p:txBody>
      </p:sp>
      <p:sp>
        <p:nvSpPr>
          <p:cNvPr id="5" name="Shape 3"/>
          <p:cNvSpPr/>
          <p:nvPr/>
        </p:nvSpPr>
        <p:spPr>
          <a:xfrm>
            <a:off x="685800" y="1417320"/>
            <a:ext cx="4389120" cy="685800"/>
          </a:xfrm>
          <a:prstGeom prst="roundRect">
            <a:avLst>
              <a:gd name="adj" fmla="val 10667"/>
            </a:avLst>
          </a:prstGeom>
          <a:solidFill>
            <a:srgbClr val="FFFFFF">
              <a:alpha val="0"/>
            </a:srgbClr>
          </a:solidFill>
          <a:ln w="10160">
            <a:solidFill>
              <a:srgbClr val="BCD3E9"/>
            </a:solidFill>
            <a:prstDash val="solid"/>
          </a:ln>
        </p:spPr>
      </p:sp>
      <p:sp>
        <p:nvSpPr>
          <p:cNvPr id="6" name="Text 4"/>
          <p:cNvSpPr/>
          <p:nvPr/>
        </p:nvSpPr>
        <p:spPr>
          <a:xfrm>
            <a:off x="850392" y="1554480"/>
            <a:ext cx="4059936" cy="411480"/>
          </a:xfrm>
          <a:prstGeom prst="rect">
            <a:avLst/>
          </a:prstGeom>
          <a:noFill/>
          <a:ln/>
        </p:spPr>
        <p:txBody>
          <a:bodyPr wrap="square" lIns="0" tIns="0" rIns="0" bIns="0" rtlCol="0" anchor="ctr">
            <a:normAutofit/>
          </a:bodyPr>
          <a:lstStyle/>
          <a:p>
            <a:pPr indent="0" marL="0">
              <a:buNone/>
            </a:pPr>
            <a:r>
              <a:rPr lang="en-US" sz="1400" b="1" dirty="0">
                <a:solidFill>
                  <a:srgbClr val="0B2A4A"/>
                </a:solidFill>
              </a:rPr>
              <a:t>Not simply: “Can people detect AI?”</a:t>
            </a:r>
            <a:endParaRPr lang="en-US" sz="1400" dirty="0"/>
          </a:p>
        </p:txBody>
      </p:sp>
      <p:sp>
        <p:nvSpPr>
          <p:cNvPr id="7" name="Shape 5"/>
          <p:cNvSpPr/>
          <p:nvPr/>
        </p:nvSpPr>
        <p:spPr>
          <a:xfrm>
            <a:off x="6446520" y="1417320"/>
            <a:ext cx="4754880" cy="685800"/>
          </a:xfrm>
          <a:prstGeom prst="roundRect">
            <a:avLst>
              <a:gd name="adj" fmla="val 10667"/>
            </a:avLst>
          </a:prstGeom>
          <a:solidFill>
            <a:srgbClr val="FFFFFF">
              <a:alpha val="0"/>
            </a:srgbClr>
          </a:solidFill>
          <a:ln w="10160">
            <a:solidFill>
              <a:srgbClr val="BCD3E9"/>
            </a:solidFill>
            <a:prstDash val="solid"/>
          </a:ln>
        </p:spPr>
      </p:sp>
      <p:sp>
        <p:nvSpPr>
          <p:cNvPr id="8" name="Text 6"/>
          <p:cNvSpPr/>
          <p:nvPr/>
        </p:nvSpPr>
        <p:spPr>
          <a:xfrm>
            <a:off x="6611112" y="1554480"/>
            <a:ext cx="4425696" cy="411480"/>
          </a:xfrm>
          <a:prstGeom prst="rect">
            <a:avLst/>
          </a:prstGeom>
          <a:noFill/>
          <a:ln/>
        </p:spPr>
        <p:txBody>
          <a:bodyPr wrap="square" lIns="0" tIns="0" rIns="0" bIns="0" rtlCol="0" anchor="ctr">
            <a:normAutofit/>
          </a:bodyPr>
          <a:lstStyle/>
          <a:p>
            <a:pPr indent="0" marL="0">
              <a:buNone/>
            </a:pPr>
            <a:r>
              <a:rPr lang="en-US" sz="1400" b="1" dirty="0">
                <a:solidFill>
                  <a:srgbClr val="0B2A4A"/>
                </a:solidFill>
              </a:rPr>
              <a:t>Instead: “What linguistic cues guide authorship perception?”</a:t>
            </a:r>
            <a:endParaRPr lang="en-US" sz="1400" dirty="0"/>
          </a:p>
        </p:txBody>
      </p:sp>
      <p:sp>
        <p:nvSpPr>
          <p:cNvPr id="9" name="Shape 7"/>
          <p:cNvSpPr/>
          <p:nvPr/>
        </p:nvSpPr>
        <p:spPr>
          <a:xfrm>
            <a:off x="5285232" y="1764792"/>
            <a:ext cx="987552" cy="0"/>
          </a:xfrm>
          <a:prstGeom prst="line">
            <a:avLst/>
          </a:prstGeom>
          <a:noFill/>
          <a:ln w="19050">
            <a:solidFill>
              <a:srgbClr val="1E64A9"/>
            </a:solidFill>
            <a:prstDash val="solid"/>
            <a:headEnd type="none"/>
            <a:tailEnd type="triangle"/>
          </a:ln>
        </p:spPr>
      </p:sp>
      <p:sp>
        <p:nvSpPr>
          <p:cNvPr id="10" name="Text 8"/>
          <p:cNvSpPr/>
          <p:nvPr/>
        </p:nvSpPr>
        <p:spPr>
          <a:xfrm>
            <a:off x="713232" y="2587752"/>
            <a:ext cx="2926080" cy="274320"/>
          </a:xfrm>
          <a:prstGeom prst="rect">
            <a:avLst/>
          </a:prstGeom>
          <a:noFill/>
          <a:ln/>
        </p:spPr>
        <p:txBody>
          <a:bodyPr wrap="square" lIns="0" tIns="0" rIns="0" bIns="0" rtlCol="0" anchor="ctr"/>
          <a:lstStyle/>
          <a:p>
            <a:pPr indent="0" marL="0">
              <a:buNone/>
            </a:pPr>
            <a:r>
              <a:rPr lang="en-US" sz="1700" b="1" dirty="0">
                <a:solidFill>
                  <a:srgbClr val="0B2A4A"/>
                </a:solidFill>
              </a:rPr>
              <a:t>Psycholinguistic focus</a:t>
            </a:r>
            <a:endParaRPr lang="en-US" sz="1700" dirty="0"/>
          </a:p>
        </p:txBody>
      </p:sp>
      <p:sp>
        <p:nvSpPr>
          <p:cNvPr id="11" name="Text 9"/>
          <p:cNvSpPr/>
          <p:nvPr/>
        </p:nvSpPr>
        <p:spPr>
          <a:xfrm>
            <a:off x="868680" y="3054096"/>
            <a:ext cx="5257800" cy="2148840"/>
          </a:xfrm>
          <a:prstGeom prst="rect">
            <a:avLst/>
          </a:prstGeom>
          <a:noFill/>
          <a:ln/>
        </p:spPr>
        <p:txBody>
          <a:bodyPr wrap="square" lIns="508" tIns="508" rIns="508" bIns="508" rtlCol="0" anchor="ctr">
            <a:normAutofit/>
          </a:bodyPr>
          <a:lstStyle/>
          <a:p>
            <a:r>
              <a:rPr lang="en-US" sz="1320" dirty="0">
                <a:solidFill>
                  <a:srgbClr val="0B2A4A"/>
                </a:solidFill>
              </a:rPr>
              <a:t>reading comprehension: how text is processed and remembered</a:t>
            </a:r>
            <a:endParaRPr lang="en-US" sz="1320" dirty="0"/>
          </a:p>
          <a:p>
            <a:pPr indent="0" marL="0">
              <a:buNone/>
            </a:pPr>
            <a:r>
              <a:rPr lang="en-US" sz="1320" dirty="0">
                <a:solidFill>
                  <a:srgbClr val="0B2A4A"/>
                </a:solidFill>
              </a:rPr>
              <a:t>language perception: how style creates “AI-like” or “human-like” impressions</a:t>
            </a:r>
            <a:endParaRPr lang="en-US" sz="1320" dirty="0"/>
          </a:p>
          <a:p>
            <a:pPr indent="0" marL="0">
              <a:buNone/>
            </a:pPr>
            <a:r>
              <a:rPr lang="en-US" sz="1320" dirty="0">
                <a:solidFill>
                  <a:srgbClr val="0B2A4A"/>
                </a:solidFill>
              </a:rPr>
              <a:t>pragmatics: how readers infer the source, intention, and mind behind text</a:t>
            </a:r>
            <a:endParaRPr lang="en-US" sz="1320" dirty="0"/>
          </a:p>
          <a:p>
            <a:pPr indent="0" marL="0">
              <a:buNone/>
            </a:pPr>
            <a:r>
              <a:rPr lang="en-US" sz="1320" dirty="0">
                <a:solidFill>
                  <a:srgbClr val="0B2A4A"/>
                </a:solidFill>
              </a:rPr>
              <a:t>L2 processing: English text read by Chinese–English bilingual students</a:t>
            </a:r>
            <a:endParaRPr lang="en-US" sz="1320" dirty="0"/>
          </a:p>
        </p:txBody>
      </p:sp>
      <p:sp>
        <p:nvSpPr>
          <p:cNvPr id="12" name="Shape 10"/>
          <p:cNvSpPr/>
          <p:nvPr/>
        </p:nvSpPr>
        <p:spPr>
          <a:xfrm>
            <a:off x="6766560" y="2651760"/>
            <a:ext cx="3474720" cy="2103120"/>
          </a:xfrm>
          <a:prstGeom prst="arc">
            <a:avLst/>
          </a:prstGeom>
          <a:solidFill>
            <a:srgbClr val="FFFFFF">
              <a:alpha val="0"/>
            </a:srgbClr>
          </a:solidFill>
          <a:ln w="16510">
            <a:solidFill>
              <a:srgbClr val="BCD3E9"/>
            </a:solidFill>
            <a:prstDash val="solid"/>
          </a:ln>
        </p:spPr>
      </p:sp>
      <p:sp>
        <p:nvSpPr>
          <p:cNvPr id="13" name="Text 11"/>
          <p:cNvSpPr/>
          <p:nvPr/>
        </p:nvSpPr>
        <p:spPr>
          <a:xfrm>
            <a:off x="6583680" y="2907792"/>
            <a:ext cx="2103120" cy="228600"/>
          </a:xfrm>
          <a:prstGeom prst="rect">
            <a:avLst/>
          </a:prstGeom>
          <a:noFill/>
          <a:ln/>
        </p:spPr>
        <p:txBody>
          <a:bodyPr wrap="square" lIns="0" tIns="0" rIns="0" bIns="0" rtlCol="0" anchor="ctr"/>
          <a:lstStyle/>
          <a:p>
            <a:pPr indent="0" marL="0">
              <a:buNone/>
            </a:pPr>
            <a:r>
              <a:rPr lang="en-US" sz="900" b="1" dirty="0">
                <a:solidFill>
                  <a:srgbClr val="1E64A9"/>
                </a:solidFill>
              </a:rPr>
              <a:t>LANGUAGE FORM</a:t>
            </a:r>
            <a:endParaRPr lang="en-US" sz="900" dirty="0"/>
          </a:p>
        </p:txBody>
      </p:sp>
      <p:sp>
        <p:nvSpPr>
          <p:cNvPr id="14" name="Text 12"/>
          <p:cNvSpPr/>
          <p:nvPr/>
        </p:nvSpPr>
        <p:spPr>
          <a:xfrm>
            <a:off x="7635240" y="3749040"/>
            <a:ext cx="2148840" cy="502920"/>
          </a:xfrm>
          <a:prstGeom prst="rect">
            <a:avLst/>
          </a:prstGeom>
          <a:noFill/>
          <a:ln/>
        </p:spPr>
        <p:txBody>
          <a:bodyPr wrap="square" lIns="0" tIns="0" rIns="0" bIns="0" rtlCol="0" anchor="ctr"/>
          <a:lstStyle/>
          <a:p>
            <a:pPr algn="ctr" indent="0" marL="0">
              <a:buNone/>
            </a:pPr>
            <a:r>
              <a:rPr lang="en-US" sz="1700" b="1" dirty="0">
                <a:solidFill>
                  <a:srgbClr val="0B2A4A"/>
                </a:solidFill>
              </a:rPr>
              <a:t>AUTHORSHIP</a:t>
            </a:r>
            <a:endParaRPr lang="en-US" sz="1700" dirty="0"/>
          </a:p>
          <a:p>
            <a:pPr algn="ctr" indent="0" marL="0">
              <a:buNone/>
            </a:pPr>
            <a:r>
              <a:rPr lang="en-US" sz="1700" b="1" dirty="0">
                <a:solidFill>
                  <a:srgbClr val="0B2A4A"/>
                </a:solidFill>
              </a:rPr>
              <a:t>INFERENCE</a:t>
            </a:r>
            <a:endParaRPr lang="en-US" sz="1700" dirty="0"/>
          </a:p>
        </p:txBody>
      </p:sp>
      <p:sp>
        <p:nvSpPr>
          <p:cNvPr id="15" name="Text 13"/>
          <p:cNvSpPr/>
          <p:nvPr/>
        </p:nvSpPr>
        <p:spPr>
          <a:xfrm>
            <a:off x="9372600" y="4572000"/>
            <a:ext cx="1600200" cy="438912"/>
          </a:xfrm>
          <a:prstGeom prst="rect">
            <a:avLst/>
          </a:prstGeom>
          <a:noFill/>
          <a:ln/>
        </p:spPr>
        <p:txBody>
          <a:bodyPr wrap="square" lIns="0" tIns="0" rIns="0" bIns="0" rtlCol="0" anchor="ctr"/>
          <a:lstStyle/>
          <a:p>
            <a:pPr algn="ctr" indent="0" marL="0">
              <a:buNone/>
            </a:pPr>
            <a:r>
              <a:rPr lang="en-US" sz="1100" b="1" dirty="0">
                <a:solidFill>
                  <a:srgbClr val="50616F"/>
                </a:solidFill>
              </a:rPr>
              <a:t>MEMORY</a:t>
            </a:r>
            <a:endParaRPr lang="en-US" sz="1100" dirty="0"/>
          </a:p>
          <a:p>
            <a:pPr algn="ctr" indent="0" marL="0">
              <a:buNone/>
            </a:pPr>
            <a:r>
              <a:rPr lang="en-US" sz="1100" b="1" dirty="0">
                <a:solidFill>
                  <a:srgbClr val="50616F"/>
                </a:solidFill>
              </a:rPr>
              <a:t>ENCODING</a:t>
            </a:r>
            <a:endParaRPr lang="en-US" sz="110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LITERATURE ANCHORS</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What existing research suggests</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The gap is not “AI text exists”; it is how readers psychologically process it.</a:t>
            </a:r>
            <a:endParaRPr lang="en-US" sz="1020" dirty="0"/>
          </a:p>
        </p:txBody>
      </p:sp>
      <p:sp>
        <p:nvSpPr>
          <p:cNvPr id="5" name="Text 3"/>
          <p:cNvSpPr/>
          <p:nvPr/>
        </p:nvSpPr>
        <p:spPr>
          <a:xfrm>
            <a:off x="777240" y="1508760"/>
            <a:ext cx="2743200" cy="182880"/>
          </a:xfrm>
          <a:prstGeom prst="rect">
            <a:avLst/>
          </a:prstGeom>
          <a:noFill/>
          <a:ln/>
        </p:spPr>
        <p:txBody>
          <a:bodyPr wrap="square" lIns="0" tIns="0" rIns="0" bIns="0" rtlCol="0" anchor="ctr"/>
          <a:lstStyle/>
          <a:p>
            <a:pPr indent="0" marL="0">
              <a:buNone/>
            </a:pPr>
            <a:r>
              <a:rPr lang="en-US" sz="800" b="1" dirty="0">
                <a:solidFill>
                  <a:srgbClr val="1E64A9"/>
                </a:solidFill>
              </a:rPr>
              <a:t>1. Human detection varies</a:t>
            </a:r>
            <a:endParaRPr lang="en-US" sz="800" dirty="0"/>
          </a:p>
        </p:txBody>
      </p:sp>
      <p:sp>
        <p:nvSpPr>
          <p:cNvPr id="6" name="Text 4"/>
          <p:cNvSpPr/>
          <p:nvPr/>
        </p:nvSpPr>
        <p:spPr>
          <a:xfrm>
            <a:off x="777240" y="1773936"/>
            <a:ext cx="3383280" cy="731520"/>
          </a:xfrm>
          <a:prstGeom prst="rect">
            <a:avLst/>
          </a:prstGeom>
          <a:noFill/>
          <a:ln/>
        </p:spPr>
        <p:txBody>
          <a:bodyPr wrap="square" lIns="0" tIns="0" rIns="0" bIns="0" rtlCol="0" anchor="ctr">
            <a:normAutofit/>
          </a:bodyPr>
          <a:lstStyle/>
          <a:p>
            <a:pPr indent="0" marL="0">
              <a:buNone/>
            </a:pPr>
            <a:r>
              <a:rPr lang="en-US" sz="1400" dirty="0">
                <a:solidFill>
                  <a:srgbClr val="0B2A4A"/>
                </a:solidFill>
              </a:rPr>
              <a:t>People can often perform above chance, but individual differences are substantial.</a:t>
            </a:r>
            <a:endParaRPr lang="en-US" sz="1400" dirty="0"/>
          </a:p>
        </p:txBody>
      </p:sp>
      <p:sp>
        <p:nvSpPr>
          <p:cNvPr id="7" name="Text 5"/>
          <p:cNvSpPr/>
          <p:nvPr/>
        </p:nvSpPr>
        <p:spPr>
          <a:xfrm>
            <a:off x="4526280" y="2240280"/>
            <a:ext cx="2743200" cy="182880"/>
          </a:xfrm>
          <a:prstGeom prst="rect">
            <a:avLst/>
          </a:prstGeom>
          <a:noFill/>
          <a:ln/>
        </p:spPr>
        <p:txBody>
          <a:bodyPr wrap="square" lIns="0" tIns="0" rIns="0" bIns="0" rtlCol="0" anchor="ctr"/>
          <a:lstStyle/>
          <a:p>
            <a:pPr indent="0" marL="0">
              <a:buNone/>
            </a:pPr>
            <a:r>
              <a:rPr lang="en-US" sz="800" b="1" dirty="0">
                <a:solidFill>
                  <a:srgbClr val="D9A94E"/>
                </a:solidFill>
              </a:rPr>
              <a:t>2. Detectors are imperfect</a:t>
            </a:r>
            <a:endParaRPr lang="en-US" sz="800" dirty="0"/>
          </a:p>
        </p:txBody>
      </p:sp>
      <p:sp>
        <p:nvSpPr>
          <p:cNvPr id="8" name="Text 6"/>
          <p:cNvSpPr/>
          <p:nvPr/>
        </p:nvSpPr>
        <p:spPr>
          <a:xfrm>
            <a:off x="4526280" y="2514600"/>
            <a:ext cx="3566160" cy="731520"/>
          </a:xfrm>
          <a:prstGeom prst="rect">
            <a:avLst/>
          </a:prstGeom>
          <a:noFill/>
          <a:ln/>
        </p:spPr>
        <p:txBody>
          <a:bodyPr wrap="square" lIns="0" tIns="0" rIns="0" bIns="0" rtlCol="0" anchor="ctr">
            <a:normAutofit/>
          </a:bodyPr>
          <a:lstStyle/>
          <a:p>
            <a:pPr indent="0" marL="0">
              <a:buNone/>
            </a:pPr>
            <a:r>
              <a:rPr lang="en-US" sz="1400" dirty="0">
                <a:solidFill>
                  <a:srgbClr val="0B2A4A"/>
                </a:solidFill>
              </a:rPr>
              <a:t>AI detectors can show inconsistent classifications, especially across models and human controls.</a:t>
            </a:r>
            <a:endParaRPr lang="en-US" sz="1400" dirty="0"/>
          </a:p>
        </p:txBody>
      </p:sp>
      <p:sp>
        <p:nvSpPr>
          <p:cNvPr id="9" name="Text 7"/>
          <p:cNvSpPr/>
          <p:nvPr/>
        </p:nvSpPr>
        <p:spPr>
          <a:xfrm>
            <a:off x="8092440" y="3246120"/>
            <a:ext cx="2743200" cy="182880"/>
          </a:xfrm>
          <a:prstGeom prst="rect">
            <a:avLst/>
          </a:prstGeom>
          <a:noFill/>
          <a:ln/>
        </p:spPr>
        <p:txBody>
          <a:bodyPr wrap="square" lIns="0" tIns="0" rIns="0" bIns="0" rtlCol="0" anchor="ctr"/>
          <a:lstStyle/>
          <a:p>
            <a:pPr indent="0" marL="0">
              <a:buNone/>
            </a:pPr>
            <a:r>
              <a:rPr lang="en-US" sz="800" b="1" dirty="0">
                <a:solidFill>
                  <a:srgbClr val="557A65"/>
                </a:solidFill>
              </a:rPr>
              <a:t>3. LLMs now matter for language science</a:t>
            </a:r>
            <a:endParaRPr lang="en-US" sz="800" dirty="0"/>
          </a:p>
        </p:txBody>
      </p:sp>
      <p:sp>
        <p:nvSpPr>
          <p:cNvPr id="10" name="Text 8"/>
          <p:cNvSpPr/>
          <p:nvPr/>
        </p:nvSpPr>
        <p:spPr>
          <a:xfrm>
            <a:off x="8092440" y="3520440"/>
            <a:ext cx="3246120" cy="731520"/>
          </a:xfrm>
          <a:prstGeom prst="rect">
            <a:avLst/>
          </a:prstGeom>
          <a:noFill/>
          <a:ln/>
        </p:spPr>
        <p:txBody>
          <a:bodyPr wrap="square" lIns="0" tIns="0" rIns="0" bIns="0" rtlCol="0" anchor="ctr">
            <a:normAutofit/>
          </a:bodyPr>
          <a:lstStyle/>
          <a:p>
            <a:pPr indent="0" marL="0">
              <a:buNone/>
            </a:pPr>
            <a:r>
              <a:rPr lang="en-US" sz="1400" dirty="0">
                <a:solidFill>
                  <a:srgbClr val="0B2A4A"/>
                </a:solidFill>
              </a:rPr>
              <a:t>LLMs are increasingly used as computational models for studying human language processing.</a:t>
            </a:r>
            <a:endParaRPr lang="en-US" sz="1400" dirty="0"/>
          </a:p>
        </p:txBody>
      </p:sp>
      <p:sp>
        <p:nvSpPr>
          <p:cNvPr id="11" name="Shape 9"/>
          <p:cNvSpPr/>
          <p:nvPr/>
        </p:nvSpPr>
        <p:spPr>
          <a:xfrm>
            <a:off x="914400" y="4416552"/>
            <a:ext cx="8961120" cy="0"/>
          </a:xfrm>
          <a:prstGeom prst="line">
            <a:avLst/>
          </a:prstGeom>
          <a:noFill/>
          <a:ln w="12700">
            <a:solidFill>
              <a:srgbClr val="D5DEE8"/>
            </a:solidFill>
            <a:prstDash val="solid"/>
          </a:ln>
        </p:spPr>
      </p:sp>
      <p:sp>
        <p:nvSpPr>
          <p:cNvPr id="12" name="Text 10"/>
          <p:cNvSpPr/>
          <p:nvPr/>
        </p:nvSpPr>
        <p:spPr>
          <a:xfrm>
            <a:off x="960120" y="4526280"/>
            <a:ext cx="8869680" cy="228600"/>
          </a:xfrm>
          <a:prstGeom prst="rect">
            <a:avLst/>
          </a:prstGeom>
          <a:noFill/>
          <a:ln/>
        </p:spPr>
        <p:txBody>
          <a:bodyPr wrap="square" lIns="0" tIns="0" rIns="0" bIns="0" rtlCol="0" anchor="ctr"/>
          <a:lstStyle/>
          <a:p>
            <a:pPr indent="0" marL="0">
              <a:buNone/>
            </a:pPr>
            <a:r>
              <a:rPr lang="en-US" sz="1250" b="1" dirty="0">
                <a:solidFill>
                  <a:srgbClr val="0B2A4A"/>
                </a:solidFill>
              </a:rPr>
              <a:t>Gap: Which psycholinguistic cues make text feel AI-generated, and do they change L2 memory?</a:t>
            </a:r>
            <a:endParaRPr lang="en-US" sz="1250" dirty="0"/>
          </a:p>
        </p:txBody>
      </p:sp>
      <p:sp>
        <p:nvSpPr>
          <p:cNvPr id="13" name="Text 11"/>
          <p:cNvSpPr/>
          <p:nvPr/>
        </p:nvSpPr>
        <p:spPr>
          <a:xfrm>
            <a:off x="585216" y="6199632"/>
            <a:ext cx="10789920" cy="164592"/>
          </a:xfrm>
          <a:prstGeom prst="rect">
            <a:avLst/>
          </a:prstGeom>
          <a:noFill/>
          <a:ln/>
        </p:spPr>
        <p:txBody>
          <a:bodyPr wrap="square" lIns="0" tIns="0" rIns="0" bIns="0" rtlCol="0" anchor="ctr"/>
          <a:lstStyle/>
          <a:p>
            <a:pPr indent="0" marL="0">
              <a:buNone/>
            </a:pPr>
            <a:r>
              <a:rPr lang="en-US" sz="640" i="1" dirty="0">
                <a:solidFill>
                  <a:srgbClr val="778899"/>
                </a:solidFill>
              </a:rPr>
              <a:t>Anchors: Chein et al., 2024; Elkhatat et al., 2023; Goldstein et al., 2025.</a:t>
            </a:r>
            <a:endParaRPr lang="en-US" sz="64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CONCEPTUAL MODEL</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From language cues to judgments and memory</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The design links perception of style with downstream L2 text processing.</a:t>
            </a:r>
            <a:endParaRPr lang="en-US" sz="1020" dirty="0"/>
          </a:p>
        </p:txBody>
      </p:sp>
      <p:sp>
        <p:nvSpPr>
          <p:cNvPr id="5" name="Shape 3"/>
          <p:cNvSpPr/>
          <p:nvPr/>
        </p:nvSpPr>
        <p:spPr>
          <a:xfrm>
            <a:off x="777240" y="1874520"/>
            <a:ext cx="2423160" cy="914400"/>
          </a:xfrm>
          <a:prstGeom prst="roundRect">
            <a:avLst>
              <a:gd name="adj" fmla="val 8000"/>
            </a:avLst>
          </a:prstGeom>
          <a:solidFill>
            <a:srgbClr val="FFFFFF">
              <a:alpha val="0"/>
            </a:srgbClr>
          </a:solidFill>
          <a:ln w="10160">
            <a:solidFill>
              <a:srgbClr val="BCD3E9"/>
            </a:solidFill>
            <a:prstDash val="solid"/>
          </a:ln>
        </p:spPr>
      </p:sp>
      <p:sp>
        <p:nvSpPr>
          <p:cNvPr id="6" name="Text 4"/>
          <p:cNvSpPr/>
          <p:nvPr/>
        </p:nvSpPr>
        <p:spPr>
          <a:xfrm>
            <a:off x="941832" y="2011680"/>
            <a:ext cx="2093976" cy="640080"/>
          </a:xfrm>
          <a:prstGeom prst="rect">
            <a:avLst/>
          </a:prstGeom>
          <a:noFill/>
          <a:ln/>
        </p:spPr>
        <p:txBody>
          <a:bodyPr wrap="square" lIns="0" tIns="0" rIns="0" bIns="0" rtlCol="0" anchor="ctr">
            <a:normAutofit/>
          </a:bodyPr>
          <a:lstStyle/>
          <a:p>
            <a:pPr indent="0" marL="0">
              <a:buNone/>
            </a:pPr>
            <a:r>
              <a:rPr lang="en-US" sz="1400" b="1" dirty="0">
                <a:solidFill>
                  <a:srgbClr val="0B2A4A"/>
                </a:solidFill>
              </a:rPr>
              <a:t>Text type</a:t>
            </a:r>
            <a:endParaRPr lang="en-US" sz="1400" dirty="0"/>
          </a:p>
          <a:p>
            <a:pPr indent="0" marL="0">
              <a:buNone/>
            </a:pPr>
            <a:r>
              <a:rPr lang="en-US" sz="1400" b="1" dirty="0">
                <a:solidFill>
                  <a:srgbClr val="0B2A4A"/>
                </a:solidFill>
              </a:rPr>
              <a:t>Human / AI / Hybrid</a:t>
            </a:r>
            <a:endParaRPr lang="en-US" sz="1400" dirty="0"/>
          </a:p>
        </p:txBody>
      </p:sp>
      <p:sp>
        <p:nvSpPr>
          <p:cNvPr id="7" name="Shape 5"/>
          <p:cNvSpPr/>
          <p:nvPr/>
        </p:nvSpPr>
        <p:spPr>
          <a:xfrm>
            <a:off x="3703320" y="1874520"/>
            <a:ext cx="3154680" cy="914400"/>
          </a:xfrm>
          <a:prstGeom prst="roundRect">
            <a:avLst>
              <a:gd name="adj" fmla="val 8000"/>
            </a:avLst>
          </a:prstGeom>
          <a:solidFill>
            <a:srgbClr val="FFFFFF">
              <a:alpha val="0"/>
            </a:srgbClr>
          </a:solidFill>
          <a:ln w="10160">
            <a:solidFill>
              <a:srgbClr val="BCD3E9"/>
            </a:solidFill>
            <a:prstDash val="solid"/>
          </a:ln>
        </p:spPr>
      </p:sp>
      <p:sp>
        <p:nvSpPr>
          <p:cNvPr id="8" name="Text 6"/>
          <p:cNvSpPr/>
          <p:nvPr/>
        </p:nvSpPr>
        <p:spPr>
          <a:xfrm>
            <a:off x="3867912" y="2011680"/>
            <a:ext cx="2825496" cy="640080"/>
          </a:xfrm>
          <a:prstGeom prst="rect">
            <a:avLst/>
          </a:prstGeom>
          <a:noFill/>
          <a:ln/>
        </p:spPr>
        <p:txBody>
          <a:bodyPr wrap="square" lIns="0" tIns="0" rIns="0" bIns="0" rtlCol="0" anchor="ctr">
            <a:normAutofit/>
          </a:bodyPr>
          <a:lstStyle/>
          <a:p>
            <a:pPr indent="0" marL="0">
              <a:buNone/>
            </a:pPr>
            <a:r>
              <a:rPr lang="en-US" sz="1400" b="1" dirty="0">
                <a:solidFill>
                  <a:srgbClr val="0B2A4A"/>
                </a:solidFill>
              </a:rPr>
              <a:t>Psycholinguistic cues</a:t>
            </a:r>
            <a:endParaRPr lang="en-US" sz="1400" dirty="0"/>
          </a:p>
          <a:p>
            <a:pPr indent="0" marL="0">
              <a:buNone/>
            </a:pPr>
            <a:r>
              <a:rPr lang="en-US" sz="1400" b="1" dirty="0">
                <a:solidFill>
                  <a:srgbClr val="0B2A4A"/>
                </a:solidFill>
              </a:rPr>
              <a:t>fluency · structure · emotion · voice</a:t>
            </a:r>
            <a:endParaRPr lang="en-US" sz="1400" dirty="0"/>
          </a:p>
        </p:txBody>
      </p:sp>
      <p:sp>
        <p:nvSpPr>
          <p:cNvPr id="9" name="Shape 7"/>
          <p:cNvSpPr/>
          <p:nvPr/>
        </p:nvSpPr>
        <p:spPr>
          <a:xfrm>
            <a:off x="7315200" y="1874520"/>
            <a:ext cx="2331720" cy="914400"/>
          </a:xfrm>
          <a:prstGeom prst="roundRect">
            <a:avLst>
              <a:gd name="adj" fmla="val 8000"/>
            </a:avLst>
          </a:prstGeom>
          <a:solidFill>
            <a:srgbClr val="FFFFFF">
              <a:alpha val="0"/>
            </a:srgbClr>
          </a:solidFill>
          <a:ln w="10160">
            <a:solidFill>
              <a:srgbClr val="BCD3E9"/>
            </a:solidFill>
            <a:prstDash val="solid"/>
          </a:ln>
        </p:spPr>
      </p:sp>
      <p:sp>
        <p:nvSpPr>
          <p:cNvPr id="10" name="Text 8"/>
          <p:cNvSpPr/>
          <p:nvPr/>
        </p:nvSpPr>
        <p:spPr>
          <a:xfrm>
            <a:off x="7479792" y="2011680"/>
            <a:ext cx="2002536" cy="640080"/>
          </a:xfrm>
          <a:prstGeom prst="rect">
            <a:avLst/>
          </a:prstGeom>
          <a:noFill/>
          <a:ln/>
        </p:spPr>
        <p:txBody>
          <a:bodyPr wrap="square" lIns="0" tIns="0" rIns="0" bIns="0" rtlCol="0" anchor="ctr">
            <a:normAutofit/>
          </a:bodyPr>
          <a:lstStyle/>
          <a:p>
            <a:pPr indent="0" marL="0">
              <a:buNone/>
            </a:pPr>
            <a:r>
              <a:rPr lang="en-US" sz="1400" b="1" dirty="0">
                <a:solidFill>
                  <a:srgbClr val="0B2A4A"/>
                </a:solidFill>
              </a:rPr>
              <a:t>Authorship perception</a:t>
            </a:r>
            <a:endParaRPr lang="en-US" sz="1400" dirty="0"/>
          </a:p>
          <a:p>
            <a:pPr indent="0" marL="0">
              <a:buNone/>
            </a:pPr>
            <a:r>
              <a:rPr lang="en-US" sz="1400" b="1" dirty="0">
                <a:solidFill>
                  <a:srgbClr val="0B2A4A"/>
                </a:solidFill>
              </a:rPr>
              <a:t>AI-likelihood + judgment</a:t>
            </a:r>
            <a:endParaRPr lang="en-US" sz="1400" dirty="0"/>
          </a:p>
        </p:txBody>
      </p:sp>
      <p:sp>
        <p:nvSpPr>
          <p:cNvPr id="11" name="Shape 9"/>
          <p:cNvSpPr/>
          <p:nvPr/>
        </p:nvSpPr>
        <p:spPr>
          <a:xfrm>
            <a:off x="10040112" y="1874520"/>
            <a:ext cx="1645920" cy="914400"/>
          </a:xfrm>
          <a:prstGeom prst="roundRect">
            <a:avLst>
              <a:gd name="adj" fmla="val 8000"/>
            </a:avLst>
          </a:prstGeom>
          <a:solidFill>
            <a:srgbClr val="FFFFFF">
              <a:alpha val="0"/>
            </a:srgbClr>
          </a:solidFill>
          <a:ln w="10160">
            <a:solidFill>
              <a:srgbClr val="BCD3E9"/>
            </a:solidFill>
            <a:prstDash val="solid"/>
          </a:ln>
        </p:spPr>
      </p:sp>
      <p:sp>
        <p:nvSpPr>
          <p:cNvPr id="12" name="Text 10"/>
          <p:cNvSpPr/>
          <p:nvPr/>
        </p:nvSpPr>
        <p:spPr>
          <a:xfrm>
            <a:off x="10204704" y="2011680"/>
            <a:ext cx="1316736" cy="640080"/>
          </a:xfrm>
          <a:prstGeom prst="rect">
            <a:avLst/>
          </a:prstGeom>
          <a:noFill/>
          <a:ln/>
        </p:spPr>
        <p:txBody>
          <a:bodyPr wrap="square" lIns="0" tIns="0" rIns="0" bIns="0" rtlCol="0" anchor="ctr">
            <a:normAutofit/>
          </a:bodyPr>
          <a:lstStyle/>
          <a:p>
            <a:pPr indent="0" marL="0">
              <a:buNone/>
            </a:pPr>
            <a:r>
              <a:rPr lang="en-US" sz="1400" b="1" dirty="0">
                <a:solidFill>
                  <a:srgbClr val="0B2A4A"/>
                </a:solidFill>
              </a:rPr>
              <a:t>L2 memory</a:t>
            </a:r>
            <a:endParaRPr lang="en-US" sz="1400" dirty="0"/>
          </a:p>
          <a:p>
            <a:pPr indent="0" marL="0">
              <a:buNone/>
            </a:pPr>
            <a:r>
              <a:rPr lang="en-US" sz="1400" b="1" dirty="0">
                <a:solidFill>
                  <a:srgbClr val="0B2A4A"/>
                </a:solidFill>
              </a:rPr>
              <a:t>recognition + reconstruction</a:t>
            </a:r>
            <a:endParaRPr lang="en-US" sz="1400" dirty="0"/>
          </a:p>
        </p:txBody>
      </p:sp>
      <p:sp>
        <p:nvSpPr>
          <p:cNvPr id="13" name="Shape 11"/>
          <p:cNvSpPr/>
          <p:nvPr/>
        </p:nvSpPr>
        <p:spPr>
          <a:xfrm>
            <a:off x="3246120" y="2331720"/>
            <a:ext cx="411480" cy="0"/>
          </a:xfrm>
          <a:prstGeom prst="line">
            <a:avLst/>
          </a:prstGeom>
          <a:noFill/>
          <a:ln w="19050">
            <a:solidFill>
              <a:srgbClr val="1E64A9"/>
            </a:solidFill>
            <a:prstDash val="solid"/>
            <a:headEnd type="none"/>
            <a:tailEnd type="triangle"/>
          </a:ln>
        </p:spPr>
      </p:sp>
      <p:sp>
        <p:nvSpPr>
          <p:cNvPr id="14" name="Shape 12"/>
          <p:cNvSpPr/>
          <p:nvPr/>
        </p:nvSpPr>
        <p:spPr>
          <a:xfrm>
            <a:off x="6903720" y="2331720"/>
            <a:ext cx="365760" cy="0"/>
          </a:xfrm>
          <a:prstGeom prst="line">
            <a:avLst/>
          </a:prstGeom>
          <a:noFill/>
          <a:ln w="19050">
            <a:solidFill>
              <a:srgbClr val="1E64A9"/>
            </a:solidFill>
            <a:prstDash val="solid"/>
            <a:headEnd type="none"/>
            <a:tailEnd type="triangle"/>
          </a:ln>
        </p:spPr>
      </p:sp>
      <p:sp>
        <p:nvSpPr>
          <p:cNvPr id="15" name="Shape 13"/>
          <p:cNvSpPr/>
          <p:nvPr/>
        </p:nvSpPr>
        <p:spPr>
          <a:xfrm>
            <a:off x="9646920" y="2331720"/>
            <a:ext cx="338328" cy="0"/>
          </a:xfrm>
          <a:prstGeom prst="line">
            <a:avLst/>
          </a:prstGeom>
          <a:noFill/>
          <a:ln w="19050">
            <a:solidFill>
              <a:srgbClr val="1E64A9"/>
            </a:solidFill>
            <a:prstDash val="solid"/>
            <a:headEnd type="none"/>
            <a:tailEnd type="triangle"/>
          </a:ln>
        </p:spPr>
      </p:sp>
      <p:sp>
        <p:nvSpPr>
          <p:cNvPr id="16" name="Text 14"/>
          <p:cNvSpPr/>
          <p:nvPr/>
        </p:nvSpPr>
        <p:spPr>
          <a:xfrm>
            <a:off x="822960" y="3657600"/>
            <a:ext cx="2011680" cy="274320"/>
          </a:xfrm>
          <a:prstGeom prst="rect">
            <a:avLst/>
          </a:prstGeom>
          <a:noFill/>
          <a:ln/>
        </p:spPr>
        <p:txBody>
          <a:bodyPr wrap="square" lIns="0" tIns="0" rIns="0" bIns="0" rtlCol="0" anchor="ctr"/>
          <a:lstStyle/>
          <a:p>
            <a:pPr indent="0" marL="0">
              <a:buNone/>
            </a:pPr>
            <a:r>
              <a:rPr lang="en-US" sz="1700" b="1" dirty="0">
                <a:solidFill>
                  <a:srgbClr val="0B2A4A"/>
                </a:solidFill>
              </a:rPr>
              <a:t>Key assumption</a:t>
            </a:r>
            <a:endParaRPr lang="en-US" sz="1700" dirty="0"/>
          </a:p>
        </p:txBody>
      </p:sp>
      <p:sp>
        <p:nvSpPr>
          <p:cNvPr id="17" name="Text 15"/>
          <p:cNvSpPr/>
          <p:nvPr/>
        </p:nvSpPr>
        <p:spPr>
          <a:xfrm>
            <a:off x="822960" y="4069080"/>
            <a:ext cx="10424160" cy="411480"/>
          </a:xfrm>
          <a:prstGeom prst="rect">
            <a:avLst/>
          </a:prstGeom>
          <a:noFill/>
          <a:ln/>
        </p:spPr>
        <p:txBody>
          <a:bodyPr wrap="square" lIns="0" tIns="0" rIns="0" bIns="0" rtlCol="0" anchor="ctr"/>
          <a:lstStyle/>
          <a:p>
            <a:pPr indent="0" marL="0">
              <a:buNone/>
            </a:pPr>
            <a:r>
              <a:rPr lang="en-US" sz="2000" b="1" dirty="0">
                <a:solidFill>
                  <a:srgbClr val="1E64A9"/>
                </a:solidFill>
              </a:rPr>
              <a:t>Readers may not identify “authorship” directly. They may infer it from patterns of language.</a:t>
            </a:r>
            <a:endParaRPr lang="en-US" sz="2000" dirty="0"/>
          </a:p>
        </p:txBody>
      </p:sp>
      <p:sp>
        <p:nvSpPr>
          <p:cNvPr id="18" name="Text 16"/>
          <p:cNvSpPr/>
          <p:nvPr/>
        </p:nvSpPr>
        <p:spPr>
          <a:xfrm>
            <a:off x="868680" y="4736592"/>
            <a:ext cx="9601200" cy="256032"/>
          </a:xfrm>
          <a:prstGeom prst="rect">
            <a:avLst/>
          </a:prstGeom>
          <a:noFill/>
          <a:ln/>
        </p:spPr>
        <p:txBody>
          <a:bodyPr wrap="square" lIns="0" tIns="0" rIns="0" bIns="0" rtlCol="0" anchor="ctr"/>
          <a:lstStyle/>
          <a:p>
            <a:pPr indent="0" marL="0">
              <a:buNone/>
            </a:pPr>
            <a:r>
              <a:rPr lang="en-US" sz="1300" dirty="0">
                <a:solidFill>
                  <a:srgbClr val="50616F"/>
                </a:solidFill>
              </a:rPr>
              <a:t>This is why the study measures both subjective judgments and memory-based processing outcomes.</a:t>
            </a:r>
            <a:endParaRPr lang="en-US" sz="130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RESEARCH QUESTIONS</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Two questions, three hypotheses</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The project is narrow enough to test, but broad enough to connect with course themes.</a:t>
            </a:r>
            <a:endParaRPr lang="en-US" sz="1020" dirty="0"/>
          </a:p>
        </p:txBody>
      </p:sp>
      <p:sp>
        <p:nvSpPr>
          <p:cNvPr id="5" name="Text 3"/>
          <p:cNvSpPr/>
          <p:nvPr/>
        </p:nvSpPr>
        <p:spPr>
          <a:xfrm>
            <a:off x="658368" y="1417320"/>
            <a:ext cx="384048" cy="228600"/>
          </a:xfrm>
          <a:prstGeom prst="rect">
            <a:avLst/>
          </a:prstGeom>
          <a:noFill/>
          <a:ln/>
        </p:spPr>
        <p:txBody>
          <a:bodyPr wrap="square" lIns="0" tIns="0" rIns="0" bIns="0" rtlCol="0" anchor="ctr"/>
          <a:lstStyle/>
          <a:p>
            <a:pPr indent="0" marL="0">
              <a:buNone/>
            </a:pPr>
            <a:r>
              <a:rPr lang="en-US" sz="1100" b="1" dirty="0">
                <a:solidFill>
                  <a:srgbClr val="1E64A9"/>
                </a:solidFill>
              </a:rPr>
              <a:t>RQ1</a:t>
            </a:r>
            <a:endParaRPr lang="en-US" sz="1100" dirty="0"/>
          </a:p>
        </p:txBody>
      </p:sp>
      <p:sp>
        <p:nvSpPr>
          <p:cNvPr id="6" name="Text 4"/>
          <p:cNvSpPr/>
          <p:nvPr/>
        </p:nvSpPr>
        <p:spPr>
          <a:xfrm>
            <a:off x="1325880" y="1353312"/>
            <a:ext cx="9601200" cy="320040"/>
          </a:xfrm>
          <a:prstGeom prst="rect">
            <a:avLst/>
          </a:prstGeom>
          <a:noFill/>
          <a:ln/>
        </p:spPr>
        <p:txBody>
          <a:bodyPr wrap="square" lIns="0" tIns="0" rIns="0" bIns="0" rtlCol="0" anchor="ctr"/>
          <a:lstStyle/>
          <a:p>
            <a:pPr indent="0" marL="0">
              <a:buNone/>
            </a:pPr>
            <a:r>
              <a:rPr lang="en-US" sz="1800" b="1" dirty="0">
                <a:solidFill>
                  <a:srgbClr val="0B2A4A"/>
                </a:solidFill>
              </a:rPr>
              <a:t>Which linguistic cues make an English text seem AI-generated to bilingual readers?</a:t>
            </a:r>
            <a:endParaRPr lang="en-US" sz="1800" dirty="0"/>
          </a:p>
        </p:txBody>
      </p:sp>
      <p:sp>
        <p:nvSpPr>
          <p:cNvPr id="7" name="Text 5"/>
          <p:cNvSpPr/>
          <p:nvPr/>
        </p:nvSpPr>
        <p:spPr>
          <a:xfrm>
            <a:off x="658368" y="2148840"/>
            <a:ext cx="384048" cy="228600"/>
          </a:xfrm>
          <a:prstGeom prst="rect">
            <a:avLst/>
          </a:prstGeom>
          <a:noFill/>
          <a:ln/>
        </p:spPr>
        <p:txBody>
          <a:bodyPr wrap="square" lIns="0" tIns="0" rIns="0" bIns="0" rtlCol="0" anchor="ctr"/>
          <a:lstStyle/>
          <a:p>
            <a:pPr indent="0" marL="0">
              <a:buNone/>
            </a:pPr>
            <a:r>
              <a:rPr lang="en-US" sz="1100" b="1" dirty="0">
                <a:solidFill>
                  <a:srgbClr val="D9A94E"/>
                </a:solidFill>
              </a:rPr>
              <a:t>RQ2</a:t>
            </a:r>
            <a:endParaRPr lang="en-US" sz="1100" dirty="0"/>
          </a:p>
        </p:txBody>
      </p:sp>
      <p:sp>
        <p:nvSpPr>
          <p:cNvPr id="8" name="Text 6"/>
          <p:cNvSpPr/>
          <p:nvPr/>
        </p:nvSpPr>
        <p:spPr>
          <a:xfrm>
            <a:off x="1325880" y="2084832"/>
            <a:ext cx="9601200" cy="320040"/>
          </a:xfrm>
          <a:prstGeom prst="rect">
            <a:avLst/>
          </a:prstGeom>
          <a:noFill/>
          <a:ln/>
        </p:spPr>
        <p:txBody>
          <a:bodyPr wrap="square" lIns="0" tIns="0" rIns="0" bIns="0" rtlCol="0" anchor="ctr"/>
          <a:lstStyle/>
          <a:p>
            <a:pPr indent="0" marL="0">
              <a:buNone/>
            </a:pPr>
            <a:r>
              <a:rPr lang="en-US" sz="1800" b="1" dirty="0">
                <a:solidFill>
                  <a:srgbClr val="0B2A4A"/>
                </a:solidFill>
              </a:rPr>
              <a:t>Are AI-generated and human-written English texts encoded differently in L2 reading memory?</a:t>
            </a:r>
            <a:endParaRPr lang="en-US" sz="1800" dirty="0"/>
          </a:p>
        </p:txBody>
      </p:sp>
      <p:sp>
        <p:nvSpPr>
          <p:cNvPr id="9" name="Text 7"/>
          <p:cNvSpPr/>
          <p:nvPr/>
        </p:nvSpPr>
        <p:spPr>
          <a:xfrm>
            <a:off x="932688" y="3227832"/>
            <a:ext cx="411480" cy="137160"/>
          </a:xfrm>
          <a:prstGeom prst="rect">
            <a:avLst/>
          </a:prstGeom>
          <a:noFill/>
          <a:ln/>
        </p:spPr>
        <p:txBody>
          <a:bodyPr wrap="square" lIns="0" tIns="0" rIns="0" bIns="0" rtlCol="0" anchor="ctr"/>
          <a:lstStyle/>
          <a:p>
            <a:pPr algn="ctr" indent="0" marL="0">
              <a:buNone/>
            </a:pPr>
            <a:r>
              <a:rPr lang="en-US" sz="850" b="1" dirty="0">
                <a:solidFill>
                  <a:srgbClr val="1E64A9"/>
                </a:solidFill>
              </a:rPr>
              <a:t>H1</a:t>
            </a:r>
            <a:endParaRPr lang="en-US" sz="850" dirty="0"/>
          </a:p>
        </p:txBody>
      </p:sp>
      <p:sp>
        <p:nvSpPr>
          <p:cNvPr id="10" name="Text 8"/>
          <p:cNvSpPr/>
          <p:nvPr/>
        </p:nvSpPr>
        <p:spPr>
          <a:xfrm>
            <a:off x="1572768" y="3182112"/>
            <a:ext cx="9966960" cy="274320"/>
          </a:xfrm>
          <a:prstGeom prst="rect">
            <a:avLst/>
          </a:prstGeom>
          <a:noFill/>
          <a:ln/>
        </p:spPr>
        <p:txBody>
          <a:bodyPr wrap="square" lIns="0" tIns="0" rIns="0" bIns="0" rtlCol="0" anchor="ctr"/>
          <a:lstStyle/>
          <a:p>
            <a:pPr indent="0" marL="0">
              <a:buNone/>
            </a:pPr>
            <a:r>
              <a:rPr lang="en-US" sz="1550" dirty="0">
                <a:solidFill>
                  <a:srgbClr val="0B2A4A"/>
                </a:solidFill>
              </a:rPr>
              <a:t>Fluency + regular structure will increase AI-likeness judgments.</a:t>
            </a:r>
            <a:endParaRPr lang="en-US" sz="1550" dirty="0"/>
          </a:p>
        </p:txBody>
      </p:sp>
      <p:sp>
        <p:nvSpPr>
          <p:cNvPr id="11" name="Text 9"/>
          <p:cNvSpPr/>
          <p:nvPr/>
        </p:nvSpPr>
        <p:spPr>
          <a:xfrm>
            <a:off x="932688" y="3941064"/>
            <a:ext cx="411480" cy="137160"/>
          </a:xfrm>
          <a:prstGeom prst="rect">
            <a:avLst/>
          </a:prstGeom>
          <a:noFill/>
          <a:ln/>
        </p:spPr>
        <p:txBody>
          <a:bodyPr wrap="square" lIns="0" tIns="0" rIns="0" bIns="0" rtlCol="0" anchor="ctr"/>
          <a:lstStyle/>
          <a:p>
            <a:pPr algn="ctr" indent="0" marL="0">
              <a:buNone/>
            </a:pPr>
            <a:r>
              <a:rPr lang="en-US" sz="850" b="1" dirty="0">
                <a:solidFill>
                  <a:srgbClr val="D9A94E"/>
                </a:solidFill>
              </a:rPr>
              <a:t>H2</a:t>
            </a:r>
            <a:endParaRPr lang="en-US" sz="850" dirty="0"/>
          </a:p>
        </p:txBody>
      </p:sp>
      <p:sp>
        <p:nvSpPr>
          <p:cNvPr id="12" name="Text 10"/>
          <p:cNvSpPr/>
          <p:nvPr/>
        </p:nvSpPr>
        <p:spPr>
          <a:xfrm>
            <a:off x="1572768" y="3895344"/>
            <a:ext cx="9966960" cy="274320"/>
          </a:xfrm>
          <a:prstGeom prst="rect">
            <a:avLst/>
          </a:prstGeom>
          <a:noFill/>
          <a:ln/>
        </p:spPr>
        <p:txBody>
          <a:bodyPr wrap="square" lIns="0" tIns="0" rIns="0" bIns="0" rtlCol="0" anchor="ctr"/>
          <a:lstStyle/>
          <a:p>
            <a:pPr indent="0" marL="0">
              <a:buNone/>
            </a:pPr>
            <a:r>
              <a:rPr lang="en-US" sz="1550" dirty="0">
                <a:solidFill>
                  <a:srgbClr val="0B2A4A"/>
                </a:solidFill>
              </a:rPr>
              <a:t>Personal voice + emotional specificity will increase human-likeness judgments.</a:t>
            </a:r>
            <a:endParaRPr lang="en-US" sz="1550" dirty="0"/>
          </a:p>
        </p:txBody>
      </p:sp>
      <p:sp>
        <p:nvSpPr>
          <p:cNvPr id="13" name="Text 11"/>
          <p:cNvSpPr/>
          <p:nvPr/>
        </p:nvSpPr>
        <p:spPr>
          <a:xfrm>
            <a:off x="932688" y="4654296"/>
            <a:ext cx="411480" cy="137160"/>
          </a:xfrm>
          <a:prstGeom prst="rect">
            <a:avLst/>
          </a:prstGeom>
          <a:noFill/>
          <a:ln/>
        </p:spPr>
        <p:txBody>
          <a:bodyPr wrap="square" lIns="0" tIns="0" rIns="0" bIns="0" rtlCol="0" anchor="ctr"/>
          <a:lstStyle/>
          <a:p>
            <a:pPr algn="ctr" indent="0" marL="0">
              <a:buNone/>
            </a:pPr>
            <a:r>
              <a:rPr lang="en-US" sz="850" b="1" dirty="0">
                <a:solidFill>
                  <a:srgbClr val="557A65"/>
                </a:solidFill>
              </a:rPr>
              <a:t>H3</a:t>
            </a:r>
            <a:endParaRPr lang="en-US" sz="850" dirty="0"/>
          </a:p>
        </p:txBody>
      </p:sp>
      <p:sp>
        <p:nvSpPr>
          <p:cNvPr id="14" name="Text 12"/>
          <p:cNvSpPr/>
          <p:nvPr/>
        </p:nvSpPr>
        <p:spPr>
          <a:xfrm>
            <a:off x="1572768" y="4608576"/>
            <a:ext cx="9966960" cy="274320"/>
          </a:xfrm>
          <a:prstGeom prst="rect">
            <a:avLst/>
          </a:prstGeom>
          <a:noFill/>
          <a:ln/>
        </p:spPr>
        <p:txBody>
          <a:bodyPr wrap="square" lIns="0" tIns="0" rIns="0" bIns="0" rtlCol="0" anchor="ctr"/>
          <a:lstStyle/>
          <a:p>
            <a:pPr indent="0" marL="0">
              <a:buNone/>
            </a:pPr>
            <a:r>
              <a:rPr lang="en-US" sz="1550" dirty="0">
                <a:solidFill>
                  <a:srgbClr val="0B2A4A"/>
                </a:solidFill>
              </a:rPr>
              <a:t>AI and human texts may show different memory accuracy and reaction time in L2 reading.</a:t>
            </a:r>
            <a:endParaRPr lang="en-US" sz="155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EXPERIMENTAL OVERVIEW</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A web-based study with three linked tasks</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The tasks are designed to avoid classic, overused paradigms such as Stroop or semantic priming.</a:t>
            </a:r>
            <a:endParaRPr lang="en-US" sz="1020" dirty="0"/>
          </a:p>
        </p:txBody>
      </p:sp>
      <p:sp>
        <p:nvSpPr>
          <p:cNvPr id="5" name="Shape 3"/>
          <p:cNvSpPr/>
          <p:nvPr/>
        </p:nvSpPr>
        <p:spPr>
          <a:xfrm>
            <a:off x="777240" y="1508760"/>
            <a:ext cx="3337560" cy="960120"/>
          </a:xfrm>
          <a:prstGeom prst="roundRect">
            <a:avLst>
              <a:gd name="adj" fmla="val 7619"/>
            </a:avLst>
          </a:prstGeom>
          <a:solidFill>
            <a:srgbClr val="FFFFFF">
              <a:alpha val="0"/>
            </a:srgbClr>
          </a:solidFill>
          <a:ln w="10160">
            <a:solidFill>
              <a:srgbClr val="BCD3E9"/>
            </a:solidFill>
            <a:prstDash val="solid"/>
          </a:ln>
        </p:spPr>
      </p:sp>
      <p:sp>
        <p:nvSpPr>
          <p:cNvPr id="6" name="Text 4"/>
          <p:cNvSpPr/>
          <p:nvPr/>
        </p:nvSpPr>
        <p:spPr>
          <a:xfrm>
            <a:off x="941832" y="1645920"/>
            <a:ext cx="3008376" cy="685800"/>
          </a:xfrm>
          <a:prstGeom prst="rect">
            <a:avLst/>
          </a:prstGeom>
          <a:noFill/>
          <a:ln/>
        </p:spPr>
        <p:txBody>
          <a:bodyPr wrap="square" lIns="0" tIns="0" rIns="0" bIns="0" rtlCol="0" anchor="ctr">
            <a:normAutofit/>
          </a:bodyPr>
          <a:lstStyle/>
          <a:p>
            <a:pPr indent="0" marL="0">
              <a:buNone/>
            </a:pPr>
            <a:r>
              <a:rPr lang="en-US" sz="1400" b="1" dirty="0">
                <a:solidFill>
                  <a:srgbClr val="0B2A4A"/>
                </a:solidFill>
              </a:rPr>
              <a:t>Experiment 1</a:t>
            </a:r>
            <a:endParaRPr lang="en-US" sz="1400" dirty="0"/>
          </a:p>
          <a:p>
            <a:pPr indent="0" marL="0">
              <a:buNone/>
            </a:pPr>
            <a:r>
              <a:rPr lang="en-US" sz="1400" b="1" dirty="0">
                <a:solidFill>
                  <a:srgbClr val="0B2A4A"/>
                </a:solidFill>
              </a:rPr>
              <a:t>Authorship judgment</a:t>
            </a:r>
            <a:endParaRPr lang="en-US" sz="1400" dirty="0"/>
          </a:p>
        </p:txBody>
      </p:sp>
      <p:sp>
        <p:nvSpPr>
          <p:cNvPr id="7" name="Shape 5"/>
          <p:cNvSpPr/>
          <p:nvPr/>
        </p:nvSpPr>
        <p:spPr>
          <a:xfrm>
            <a:off x="4526280" y="1508760"/>
            <a:ext cx="3337560" cy="960120"/>
          </a:xfrm>
          <a:prstGeom prst="roundRect">
            <a:avLst>
              <a:gd name="adj" fmla="val 7619"/>
            </a:avLst>
          </a:prstGeom>
          <a:solidFill>
            <a:srgbClr val="FFFFFF">
              <a:alpha val="0"/>
            </a:srgbClr>
          </a:solidFill>
          <a:ln w="10160">
            <a:solidFill>
              <a:srgbClr val="BCD3E9"/>
            </a:solidFill>
            <a:prstDash val="solid"/>
          </a:ln>
        </p:spPr>
      </p:sp>
      <p:sp>
        <p:nvSpPr>
          <p:cNvPr id="8" name="Text 6"/>
          <p:cNvSpPr/>
          <p:nvPr/>
        </p:nvSpPr>
        <p:spPr>
          <a:xfrm>
            <a:off x="4690872" y="1645920"/>
            <a:ext cx="3008376" cy="685800"/>
          </a:xfrm>
          <a:prstGeom prst="rect">
            <a:avLst/>
          </a:prstGeom>
          <a:noFill/>
          <a:ln/>
        </p:spPr>
        <p:txBody>
          <a:bodyPr wrap="square" lIns="0" tIns="0" rIns="0" bIns="0" rtlCol="0" anchor="ctr">
            <a:normAutofit/>
          </a:bodyPr>
          <a:lstStyle/>
          <a:p>
            <a:pPr indent="0" marL="0">
              <a:buNone/>
            </a:pPr>
            <a:r>
              <a:rPr lang="en-US" sz="1400" b="1" dirty="0">
                <a:solidFill>
                  <a:srgbClr val="0B2A4A"/>
                </a:solidFill>
              </a:rPr>
              <a:t>Experiment 2</a:t>
            </a:r>
            <a:endParaRPr lang="en-US" sz="1400" dirty="0"/>
          </a:p>
          <a:p>
            <a:pPr indent="0" marL="0">
              <a:buNone/>
            </a:pPr>
            <a:r>
              <a:rPr lang="en-US" sz="1400" b="1" dirty="0">
                <a:solidFill>
                  <a:srgbClr val="0B2A4A"/>
                </a:solidFill>
              </a:rPr>
              <a:t>Linguistic cue ratings</a:t>
            </a:r>
            <a:endParaRPr lang="en-US" sz="1400" dirty="0"/>
          </a:p>
        </p:txBody>
      </p:sp>
      <p:sp>
        <p:nvSpPr>
          <p:cNvPr id="9" name="Shape 7"/>
          <p:cNvSpPr/>
          <p:nvPr/>
        </p:nvSpPr>
        <p:spPr>
          <a:xfrm>
            <a:off x="8275320" y="1508760"/>
            <a:ext cx="3337560" cy="960120"/>
          </a:xfrm>
          <a:prstGeom prst="roundRect">
            <a:avLst>
              <a:gd name="adj" fmla="val 7619"/>
            </a:avLst>
          </a:prstGeom>
          <a:solidFill>
            <a:srgbClr val="FFFFFF">
              <a:alpha val="0"/>
            </a:srgbClr>
          </a:solidFill>
          <a:ln w="10160">
            <a:solidFill>
              <a:srgbClr val="BCD3E9"/>
            </a:solidFill>
            <a:prstDash val="solid"/>
          </a:ln>
        </p:spPr>
      </p:sp>
      <p:sp>
        <p:nvSpPr>
          <p:cNvPr id="10" name="Text 8"/>
          <p:cNvSpPr/>
          <p:nvPr/>
        </p:nvSpPr>
        <p:spPr>
          <a:xfrm>
            <a:off x="8439912" y="1645920"/>
            <a:ext cx="3008376" cy="685800"/>
          </a:xfrm>
          <a:prstGeom prst="rect">
            <a:avLst/>
          </a:prstGeom>
          <a:noFill/>
          <a:ln/>
        </p:spPr>
        <p:txBody>
          <a:bodyPr wrap="square" lIns="0" tIns="0" rIns="0" bIns="0" rtlCol="0" anchor="ctr">
            <a:normAutofit/>
          </a:bodyPr>
          <a:lstStyle/>
          <a:p>
            <a:pPr indent="0" marL="0">
              <a:buNone/>
            </a:pPr>
            <a:r>
              <a:rPr lang="en-US" sz="1400" b="1" dirty="0">
                <a:solidFill>
                  <a:srgbClr val="0B2A4A"/>
                </a:solidFill>
              </a:rPr>
              <a:t>Experiment 3</a:t>
            </a:r>
            <a:endParaRPr lang="en-US" sz="1400" dirty="0"/>
          </a:p>
          <a:p>
            <a:pPr indent="0" marL="0">
              <a:buNone/>
            </a:pPr>
            <a:r>
              <a:rPr lang="en-US" sz="1400" b="1" dirty="0">
                <a:solidFill>
                  <a:srgbClr val="0B2A4A"/>
                </a:solidFill>
              </a:rPr>
              <a:t>L2 text memory</a:t>
            </a:r>
            <a:endParaRPr lang="en-US" sz="1400" dirty="0"/>
          </a:p>
        </p:txBody>
      </p:sp>
      <p:sp>
        <p:nvSpPr>
          <p:cNvPr id="11" name="Shape 9"/>
          <p:cNvSpPr/>
          <p:nvPr/>
        </p:nvSpPr>
        <p:spPr>
          <a:xfrm>
            <a:off x="4251960" y="1984248"/>
            <a:ext cx="182880" cy="0"/>
          </a:xfrm>
          <a:prstGeom prst="line">
            <a:avLst/>
          </a:prstGeom>
          <a:noFill/>
          <a:ln w="19050">
            <a:solidFill>
              <a:srgbClr val="1E64A9"/>
            </a:solidFill>
            <a:prstDash val="solid"/>
            <a:headEnd type="none"/>
            <a:tailEnd type="triangle"/>
          </a:ln>
        </p:spPr>
      </p:sp>
      <p:sp>
        <p:nvSpPr>
          <p:cNvPr id="12" name="Shape 10"/>
          <p:cNvSpPr/>
          <p:nvPr/>
        </p:nvSpPr>
        <p:spPr>
          <a:xfrm>
            <a:off x="8001000" y="1984248"/>
            <a:ext cx="182880" cy="0"/>
          </a:xfrm>
          <a:prstGeom prst="line">
            <a:avLst/>
          </a:prstGeom>
          <a:noFill/>
          <a:ln w="19050">
            <a:solidFill>
              <a:srgbClr val="1E64A9"/>
            </a:solidFill>
            <a:prstDash val="solid"/>
            <a:headEnd type="none"/>
            <a:tailEnd type="triangle"/>
          </a:ln>
        </p:spPr>
      </p:sp>
      <p:sp>
        <p:nvSpPr>
          <p:cNvPr id="13" name="Text 11"/>
          <p:cNvSpPr/>
          <p:nvPr/>
        </p:nvSpPr>
        <p:spPr>
          <a:xfrm>
            <a:off x="822960" y="3063240"/>
            <a:ext cx="2011680" cy="274320"/>
          </a:xfrm>
          <a:prstGeom prst="rect">
            <a:avLst/>
          </a:prstGeom>
          <a:noFill/>
          <a:ln/>
        </p:spPr>
        <p:txBody>
          <a:bodyPr wrap="square" lIns="0" tIns="0" rIns="0" bIns="0" rtlCol="0" anchor="ctr"/>
          <a:lstStyle/>
          <a:p>
            <a:pPr indent="0" marL="0">
              <a:buNone/>
            </a:pPr>
            <a:r>
              <a:rPr lang="en-US" sz="1600" b="1" dirty="0">
                <a:solidFill>
                  <a:srgbClr val="0B2A4A"/>
                </a:solidFill>
              </a:rPr>
              <a:t>Participants</a:t>
            </a:r>
            <a:endParaRPr lang="en-US" sz="1600" dirty="0"/>
          </a:p>
        </p:txBody>
      </p:sp>
      <p:sp>
        <p:nvSpPr>
          <p:cNvPr id="14" name="Text 12"/>
          <p:cNvSpPr/>
          <p:nvPr/>
        </p:nvSpPr>
        <p:spPr>
          <a:xfrm>
            <a:off x="914400" y="3520440"/>
            <a:ext cx="4572000" cy="914400"/>
          </a:xfrm>
          <a:prstGeom prst="rect">
            <a:avLst/>
          </a:prstGeom>
          <a:noFill/>
          <a:ln/>
        </p:spPr>
        <p:txBody>
          <a:bodyPr wrap="square" lIns="508" tIns="508" rIns="508" bIns="508" rtlCol="0" anchor="ctr">
            <a:normAutofit/>
          </a:bodyPr>
          <a:lstStyle/>
          <a:p>
            <a:r>
              <a:rPr lang="en-US" sz="1250" dirty="0">
                <a:solidFill>
                  <a:srgbClr val="0B2A4A"/>
                </a:solidFill>
              </a:rPr>
              <a:t>20–50 Chinese–English bilingual high school students</a:t>
            </a:r>
            <a:endParaRPr lang="en-US" sz="1250" dirty="0"/>
          </a:p>
          <a:p>
            <a:pPr indent="0" marL="0">
              <a:buNone/>
            </a:pPr>
            <a:r>
              <a:rPr lang="en-US" sz="1250" dirty="0">
                <a:solidFill>
                  <a:srgbClr val="0B2A4A"/>
                </a:solidFill>
              </a:rPr>
              <a:t>English proficiency and AI-use frequency recorded as controls</a:t>
            </a:r>
            <a:endParaRPr lang="en-US" sz="1250" dirty="0"/>
          </a:p>
        </p:txBody>
      </p:sp>
      <p:sp>
        <p:nvSpPr>
          <p:cNvPr id="15" name="Text 13"/>
          <p:cNvSpPr/>
          <p:nvPr/>
        </p:nvSpPr>
        <p:spPr>
          <a:xfrm>
            <a:off x="6446520" y="3063240"/>
            <a:ext cx="1920240" cy="274320"/>
          </a:xfrm>
          <a:prstGeom prst="rect">
            <a:avLst/>
          </a:prstGeom>
          <a:noFill/>
          <a:ln/>
        </p:spPr>
        <p:txBody>
          <a:bodyPr wrap="square" lIns="0" tIns="0" rIns="0" bIns="0" rtlCol="0" anchor="ctr"/>
          <a:lstStyle/>
          <a:p>
            <a:pPr indent="0" marL="0">
              <a:buNone/>
            </a:pPr>
            <a:r>
              <a:rPr lang="en-US" sz="1600" b="1" dirty="0">
                <a:solidFill>
                  <a:srgbClr val="0B2A4A"/>
                </a:solidFill>
              </a:rPr>
              <a:t>Data collected</a:t>
            </a:r>
            <a:endParaRPr lang="en-US" sz="1600" dirty="0"/>
          </a:p>
        </p:txBody>
      </p:sp>
      <p:sp>
        <p:nvSpPr>
          <p:cNvPr id="16" name="Text 14"/>
          <p:cNvSpPr/>
          <p:nvPr/>
        </p:nvSpPr>
        <p:spPr>
          <a:xfrm>
            <a:off x="6537960" y="3520440"/>
            <a:ext cx="4572000" cy="1143000"/>
          </a:xfrm>
          <a:prstGeom prst="rect">
            <a:avLst/>
          </a:prstGeom>
          <a:noFill/>
          <a:ln/>
        </p:spPr>
        <p:txBody>
          <a:bodyPr wrap="square" lIns="508" tIns="508" rIns="508" bIns="508" rtlCol="0" anchor="ctr">
            <a:normAutofit/>
          </a:bodyPr>
          <a:lstStyle/>
          <a:p>
            <a:r>
              <a:rPr lang="en-US" sz="1250" dirty="0">
                <a:solidFill>
                  <a:srgbClr val="0B2A4A"/>
                </a:solidFill>
              </a:rPr>
              <a:t>judgment accuracy and AI-likelihood</a:t>
            </a:r>
            <a:endParaRPr lang="en-US" sz="1250" dirty="0"/>
          </a:p>
          <a:p>
            <a:pPr indent="0" marL="0">
              <a:buNone/>
            </a:pPr>
            <a:r>
              <a:rPr lang="en-US" sz="1250" dirty="0">
                <a:solidFill>
                  <a:srgbClr val="0B2A4A"/>
                </a:solidFill>
              </a:rPr>
              <a:t>Likert ratings for psycholinguistic cues</a:t>
            </a:r>
            <a:endParaRPr lang="en-US" sz="1250" dirty="0"/>
          </a:p>
          <a:p>
            <a:pPr indent="0" marL="0">
              <a:buNone/>
            </a:pPr>
            <a:r>
              <a:rPr lang="en-US" sz="1250" dirty="0">
                <a:solidFill>
                  <a:srgbClr val="0B2A4A"/>
                </a:solidFill>
              </a:rPr>
              <a:t>reading time, memory accuracy, reaction time</a:t>
            </a:r>
            <a:endParaRPr lang="en-US" sz="125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MATERIALS AND CONTROLS</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Matched English passages</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English is used because the study targets L2 reading in Chinese–English bilingual students.</a:t>
            </a:r>
            <a:endParaRPr lang="en-US" sz="1020" dirty="0"/>
          </a:p>
        </p:txBody>
      </p:sp>
      <p:pic>
        <p:nvPicPr>
          <p:cNvPr id="5" name="Image 0" descr="/mnt/data/a_clean_conceptual_infographic_style_illustration.png">    </p:cNvPr>
          <p:cNvPicPr>
            <a:picLocks noChangeAspect="1"/>
          </p:cNvPicPr>
          <p:nvPr/>
        </p:nvPicPr>
        <p:blipFill>
          <a:blip r:embed="rId1"/>
          <a:stretch>
            <a:fillRect/>
          </a:stretch>
        </p:blipFill>
        <p:spPr>
          <a:xfrm>
            <a:off x="6400800" y="1508760"/>
            <a:ext cx="5166360" cy="3794760"/>
          </a:xfrm>
          <a:prstGeom prst="rect">
            <a:avLst/>
          </a:prstGeom>
        </p:spPr>
      </p:pic>
      <p:sp>
        <p:nvSpPr>
          <p:cNvPr id="6" name="Text 3"/>
          <p:cNvSpPr/>
          <p:nvPr/>
        </p:nvSpPr>
        <p:spPr>
          <a:xfrm>
            <a:off x="713232" y="1463040"/>
            <a:ext cx="2743200" cy="274320"/>
          </a:xfrm>
          <a:prstGeom prst="rect">
            <a:avLst/>
          </a:prstGeom>
          <a:noFill/>
          <a:ln/>
        </p:spPr>
        <p:txBody>
          <a:bodyPr wrap="square" lIns="0" tIns="0" rIns="0" bIns="0" rtlCol="0" anchor="ctr"/>
          <a:lstStyle/>
          <a:p>
            <a:pPr indent="0" marL="0">
              <a:buNone/>
            </a:pPr>
            <a:r>
              <a:rPr lang="en-US" sz="1700" b="1" dirty="0">
                <a:solidFill>
                  <a:srgbClr val="0B2A4A"/>
                </a:solidFill>
              </a:rPr>
              <a:t>Text conditions</a:t>
            </a:r>
            <a:endParaRPr lang="en-US" sz="1700" dirty="0"/>
          </a:p>
        </p:txBody>
      </p:sp>
      <p:sp>
        <p:nvSpPr>
          <p:cNvPr id="7" name="Text 4"/>
          <p:cNvSpPr/>
          <p:nvPr/>
        </p:nvSpPr>
        <p:spPr>
          <a:xfrm>
            <a:off x="868680" y="1901952"/>
            <a:ext cx="3840480" cy="1005840"/>
          </a:xfrm>
          <a:prstGeom prst="rect">
            <a:avLst/>
          </a:prstGeom>
          <a:noFill/>
          <a:ln/>
        </p:spPr>
        <p:txBody>
          <a:bodyPr wrap="square" lIns="508" tIns="508" rIns="508" bIns="508" rtlCol="0" anchor="ctr">
            <a:normAutofit/>
          </a:bodyPr>
          <a:lstStyle/>
          <a:p>
            <a:r>
              <a:rPr lang="en-US" sz="1500" dirty="0">
                <a:solidFill>
                  <a:srgbClr val="0B2A4A"/>
                </a:solidFill>
              </a:rPr>
              <a:t>Human-written</a:t>
            </a:r>
            <a:endParaRPr lang="en-US" sz="1500" dirty="0"/>
          </a:p>
          <a:p>
            <a:pPr indent="0" marL="0">
              <a:buNone/>
            </a:pPr>
            <a:r>
              <a:rPr lang="en-US" sz="1500" dirty="0">
                <a:solidFill>
                  <a:srgbClr val="0B2A4A"/>
                </a:solidFill>
              </a:rPr>
              <a:t>AI-generated</a:t>
            </a:r>
            <a:endParaRPr lang="en-US" sz="1500" dirty="0"/>
          </a:p>
          <a:p>
            <a:pPr indent="0" marL="0">
              <a:buNone/>
            </a:pPr>
            <a:r>
              <a:rPr lang="en-US" sz="1500" dirty="0">
                <a:solidFill>
                  <a:srgbClr val="0B2A4A"/>
                </a:solidFill>
              </a:rPr>
              <a:t>Human–AI hybrid</a:t>
            </a:r>
            <a:endParaRPr lang="en-US" sz="1500" dirty="0"/>
          </a:p>
        </p:txBody>
      </p:sp>
      <p:sp>
        <p:nvSpPr>
          <p:cNvPr id="8" name="Text 5"/>
          <p:cNvSpPr/>
          <p:nvPr/>
        </p:nvSpPr>
        <p:spPr>
          <a:xfrm>
            <a:off x="713232" y="3337560"/>
            <a:ext cx="3474720" cy="274320"/>
          </a:xfrm>
          <a:prstGeom prst="rect">
            <a:avLst/>
          </a:prstGeom>
          <a:noFill/>
          <a:ln/>
        </p:spPr>
        <p:txBody>
          <a:bodyPr wrap="square" lIns="0" tIns="0" rIns="0" bIns="0" rtlCol="0" anchor="ctr"/>
          <a:lstStyle/>
          <a:p>
            <a:pPr indent="0" marL="0">
              <a:buNone/>
            </a:pPr>
            <a:r>
              <a:rPr lang="en-US" sz="1700" b="1" dirty="0">
                <a:solidFill>
                  <a:srgbClr val="0B2A4A"/>
                </a:solidFill>
              </a:rPr>
              <a:t>Controlled across conditions</a:t>
            </a:r>
            <a:endParaRPr lang="en-US" sz="1700" dirty="0"/>
          </a:p>
        </p:txBody>
      </p:sp>
      <p:sp>
        <p:nvSpPr>
          <p:cNvPr id="9" name="Text 6"/>
          <p:cNvSpPr/>
          <p:nvPr/>
        </p:nvSpPr>
        <p:spPr>
          <a:xfrm>
            <a:off x="868680" y="3730752"/>
            <a:ext cx="4572000" cy="1600200"/>
          </a:xfrm>
          <a:prstGeom prst="rect">
            <a:avLst/>
          </a:prstGeom>
          <a:noFill/>
          <a:ln/>
        </p:spPr>
        <p:txBody>
          <a:bodyPr wrap="square" lIns="508" tIns="508" rIns="508" bIns="508" rtlCol="0" anchor="ctr">
            <a:normAutofit/>
          </a:bodyPr>
          <a:lstStyle/>
          <a:p>
            <a:r>
              <a:rPr lang="en-US" sz="1250" dirty="0">
                <a:solidFill>
                  <a:srgbClr val="0B2A4A"/>
                </a:solidFill>
              </a:rPr>
              <a:t>topic and content</a:t>
            </a:r>
            <a:endParaRPr lang="en-US" sz="1250" dirty="0"/>
          </a:p>
          <a:p>
            <a:pPr indent="0" marL="0">
              <a:buNone/>
            </a:pPr>
            <a:r>
              <a:rPr lang="en-US" sz="1250" dirty="0">
                <a:solidFill>
                  <a:srgbClr val="0B2A4A"/>
                </a:solidFill>
              </a:rPr>
              <a:t>length: about 80–120 words</a:t>
            </a:r>
            <a:endParaRPr lang="en-US" sz="1250" dirty="0"/>
          </a:p>
          <a:p>
            <a:pPr indent="0" marL="0">
              <a:buNone/>
            </a:pPr>
            <a:r>
              <a:rPr lang="en-US" sz="1250" dirty="0">
                <a:solidFill>
                  <a:srgbClr val="0B2A4A"/>
                </a:solidFill>
              </a:rPr>
              <a:t>vocabulary difficulty</a:t>
            </a:r>
            <a:endParaRPr lang="en-US" sz="1250" dirty="0"/>
          </a:p>
          <a:p>
            <a:pPr indent="0" marL="0">
              <a:buNone/>
            </a:pPr>
            <a:r>
              <a:rPr lang="en-US" sz="1250" dirty="0">
                <a:solidFill>
                  <a:srgbClr val="0B2A4A"/>
                </a:solidFill>
              </a:rPr>
              <a:t>sentence complexity</a:t>
            </a:r>
            <a:endParaRPr lang="en-US" sz="1250" dirty="0"/>
          </a:p>
          <a:p>
            <a:pPr indent="0" marL="0">
              <a:buNone/>
            </a:pPr>
            <a:r>
              <a:rPr lang="en-US" sz="1250" dirty="0">
                <a:solidFill>
                  <a:srgbClr val="0B2A4A"/>
                </a:solidFill>
              </a:rPr>
              <a:t>presentation format and trial order</a:t>
            </a:r>
            <a:endParaRPr lang="en-US" sz="1250" dirty="0"/>
          </a:p>
        </p:txBody>
      </p:sp>
      <p:sp>
        <p:nvSpPr>
          <p:cNvPr id="10" name="Text 7"/>
          <p:cNvSpPr/>
          <p:nvPr/>
        </p:nvSpPr>
        <p:spPr>
          <a:xfrm>
            <a:off x="822960" y="5687568"/>
            <a:ext cx="5486400" cy="256032"/>
          </a:xfrm>
          <a:prstGeom prst="rect">
            <a:avLst/>
          </a:prstGeom>
          <a:noFill/>
          <a:ln/>
        </p:spPr>
        <p:txBody>
          <a:bodyPr wrap="square" lIns="0" tIns="0" rIns="0" bIns="0" rtlCol="0" anchor="ctr"/>
          <a:lstStyle/>
          <a:p>
            <a:pPr indent="0" marL="0">
              <a:buNone/>
            </a:pPr>
            <a:r>
              <a:rPr lang="en-US" sz="1200" b="1" dirty="0">
                <a:solidFill>
                  <a:srgbClr val="1E64A9"/>
                </a:solidFill>
              </a:rPr>
              <a:t>Material creation rule: use paired topics and standardized prompts, not ad-hoc editing.</a:t>
            </a:r>
            <a:endParaRPr lang="en-US" sz="120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EXPERIMENT 1 + 2</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From judgment to cue explanation</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The first two tasks connect behavioral choices with perceived linguistic features.</a:t>
            </a:r>
            <a:endParaRPr lang="en-US" sz="1020" dirty="0"/>
          </a:p>
        </p:txBody>
      </p:sp>
      <p:sp>
        <p:nvSpPr>
          <p:cNvPr id="5" name="Shape 3"/>
          <p:cNvSpPr/>
          <p:nvPr/>
        </p:nvSpPr>
        <p:spPr>
          <a:xfrm>
            <a:off x="786384" y="1417320"/>
            <a:ext cx="4892040" cy="4206240"/>
          </a:xfrm>
          <a:prstGeom prst="roundRect">
            <a:avLst>
              <a:gd name="adj" fmla="val 1739"/>
            </a:avLst>
          </a:prstGeom>
          <a:solidFill>
            <a:srgbClr val="FFFFFF">
              <a:alpha val="0"/>
            </a:srgbClr>
          </a:solidFill>
          <a:ln w="12700">
            <a:solidFill>
              <a:srgbClr val="BCD3E9"/>
            </a:solidFill>
            <a:prstDash val="solid"/>
          </a:ln>
        </p:spPr>
      </p:sp>
      <p:sp>
        <p:nvSpPr>
          <p:cNvPr id="6" name="Text 4"/>
          <p:cNvSpPr/>
          <p:nvPr/>
        </p:nvSpPr>
        <p:spPr>
          <a:xfrm>
            <a:off x="987552" y="1664208"/>
            <a:ext cx="4389120" cy="274320"/>
          </a:xfrm>
          <a:prstGeom prst="rect">
            <a:avLst/>
          </a:prstGeom>
          <a:noFill/>
          <a:ln/>
        </p:spPr>
        <p:txBody>
          <a:bodyPr wrap="square" lIns="0" tIns="0" rIns="0" bIns="0" rtlCol="0" anchor="ctr"/>
          <a:lstStyle/>
          <a:p>
            <a:pPr indent="0" marL="0">
              <a:buNone/>
            </a:pPr>
            <a:r>
              <a:rPr lang="en-US" sz="1700" b="1" dirty="0">
                <a:solidFill>
                  <a:srgbClr val="0B2A4A"/>
                </a:solidFill>
              </a:rPr>
              <a:t>Experiment 1: Authorship Judgment</a:t>
            </a:r>
            <a:endParaRPr lang="en-US" sz="1700" dirty="0"/>
          </a:p>
        </p:txBody>
      </p:sp>
      <p:sp>
        <p:nvSpPr>
          <p:cNvPr id="7" name="Text 5"/>
          <p:cNvSpPr/>
          <p:nvPr/>
        </p:nvSpPr>
        <p:spPr>
          <a:xfrm>
            <a:off x="1024128" y="2148840"/>
            <a:ext cx="4343400" cy="1600200"/>
          </a:xfrm>
          <a:prstGeom prst="rect">
            <a:avLst/>
          </a:prstGeom>
          <a:noFill/>
          <a:ln/>
        </p:spPr>
        <p:txBody>
          <a:bodyPr wrap="square" lIns="508" tIns="508" rIns="508" bIns="508" rtlCol="0" anchor="ctr">
            <a:normAutofit/>
          </a:bodyPr>
          <a:lstStyle/>
          <a:p>
            <a:r>
              <a:rPr lang="en-US" sz="1250" dirty="0">
                <a:solidFill>
                  <a:srgbClr val="0B2A4A"/>
                </a:solidFill>
              </a:rPr>
              <a:t>Who wrote this text?</a:t>
            </a:r>
            <a:endParaRPr lang="en-US" sz="1250" dirty="0"/>
          </a:p>
          <a:p>
            <a:pPr indent="0" marL="0">
              <a:buNone/>
            </a:pPr>
            <a:r>
              <a:rPr lang="en-US" sz="1250" dirty="0">
                <a:solidFill>
                  <a:srgbClr val="0B2A4A"/>
                </a:solidFill>
              </a:rPr>
              <a:t>Human-written / AI-generated / Human with AI editing / Not sure</a:t>
            </a:r>
            <a:endParaRPr lang="en-US" sz="1250" dirty="0"/>
          </a:p>
          <a:p>
            <a:pPr indent="0" marL="0">
              <a:buNone/>
            </a:pPr>
            <a:r>
              <a:rPr lang="en-US" sz="1250" dirty="0">
                <a:solidFill>
                  <a:srgbClr val="0B2A4A"/>
                </a:solidFill>
              </a:rPr>
              <a:t>Measures: accuracy, misclassification rate, AI-likelihood rating</a:t>
            </a:r>
            <a:endParaRPr lang="en-US" sz="1250" dirty="0"/>
          </a:p>
        </p:txBody>
      </p:sp>
      <p:sp>
        <p:nvSpPr>
          <p:cNvPr id="8" name="Shape 6"/>
          <p:cNvSpPr/>
          <p:nvPr/>
        </p:nvSpPr>
        <p:spPr>
          <a:xfrm>
            <a:off x="6492240" y="1417320"/>
            <a:ext cx="4892040" cy="4206240"/>
          </a:xfrm>
          <a:prstGeom prst="roundRect">
            <a:avLst>
              <a:gd name="adj" fmla="val 1739"/>
            </a:avLst>
          </a:prstGeom>
          <a:solidFill>
            <a:srgbClr val="FFFFFF">
              <a:alpha val="0"/>
            </a:srgbClr>
          </a:solidFill>
          <a:ln w="12700">
            <a:solidFill>
              <a:srgbClr val="E4CE9F"/>
            </a:solidFill>
            <a:prstDash val="solid"/>
          </a:ln>
        </p:spPr>
      </p:sp>
      <p:sp>
        <p:nvSpPr>
          <p:cNvPr id="9" name="Text 7"/>
          <p:cNvSpPr/>
          <p:nvPr/>
        </p:nvSpPr>
        <p:spPr>
          <a:xfrm>
            <a:off x="6693408" y="1664208"/>
            <a:ext cx="4389120" cy="274320"/>
          </a:xfrm>
          <a:prstGeom prst="rect">
            <a:avLst/>
          </a:prstGeom>
          <a:noFill/>
          <a:ln/>
        </p:spPr>
        <p:txBody>
          <a:bodyPr wrap="square" lIns="0" tIns="0" rIns="0" bIns="0" rtlCol="0" anchor="ctr"/>
          <a:lstStyle/>
          <a:p>
            <a:pPr indent="0" marL="0">
              <a:buNone/>
            </a:pPr>
            <a:r>
              <a:rPr lang="en-US" sz="1700" b="1" dirty="0">
                <a:solidFill>
                  <a:srgbClr val="0B2A4A"/>
                </a:solidFill>
              </a:rPr>
              <a:t>Experiment 2: Linguistic Cue Ratings</a:t>
            </a:r>
            <a:endParaRPr lang="en-US" sz="1700" dirty="0"/>
          </a:p>
        </p:txBody>
      </p:sp>
      <p:sp>
        <p:nvSpPr>
          <p:cNvPr id="10" name="Text 8"/>
          <p:cNvSpPr/>
          <p:nvPr/>
        </p:nvSpPr>
        <p:spPr>
          <a:xfrm>
            <a:off x="6720840" y="2148840"/>
            <a:ext cx="4343400" cy="1600200"/>
          </a:xfrm>
          <a:prstGeom prst="rect">
            <a:avLst/>
          </a:prstGeom>
          <a:noFill/>
          <a:ln/>
        </p:spPr>
        <p:txBody>
          <a:bodyPr wrap="square" lIns="508" tIns="508" rIns="508" bIns="508" rtlCol="0" anchor="ctr">
            <a:normAutofit/>
          </a:bodyPr>
          <a:lstStyle/>
          <a:p>
            <a:r>
              <a:rPr lang="en-US" sz="1250" dirty="0">
                <a:solidFill>
                  <a:srgbClr val="0B2A4A"/>
                </a:solidFill>
              </a:rPr>
              <a:t>Rate each text on a 1–5 Likert scale</a:t>
            </a:r>
            <a:endParaRPr lang="en-US" sz="1250" dirty="0"/>
          </a:p>
          <a:p>
            <a:pPr indent="0" marL="0">
              <a:buNone/>
            </a:pPr>
            <a:r>
              <a:rPr lang="en-US" sz="1250" dirty="0">
                <a:solidFill>
                  <a:srgbClr val="0B2A4A"/>
                </a:solidFill>
              </a:rPr>
              <a:t>fluency · structure · clarity · emotion · personal voice · genericness · naturalness</a:t>
            </a:r>
            <a:endParaRPr lang="en-US" sz="1250" dirty="0"/>
          </a:p>
          <a:p>
            <a:pPr indent="0" marL="0">
              <a:buNone/>
            </a:pPr>
            <a:r>
              <a:rPr lang="en-US" sz="1250" dirty="0">
                <a:solidFill>
                  <a:srgbClr val="0B2A4A"/>
                </a:solidFill>
              </a:rPr>
              <a:t>Analysis: which cue predicts AI-likeness?</a:t>
            </a:r>
            <a:endParaRPr lang="en-US" sz="1250" dirty="0"/>
          </a:p>
        </p:txBody>
      </p:sp>
      <p:sp>
        <p:nvSpPr>
          <p:cNvPr id="11" name="Text 9"/>
          <p:cNvSpPr/>
          <p:nvPr/>
        </p:nvSpPr>
        <p:spPr>
          <a:xfrm>
            <a:off x="1005840" y="5001768"/>
            <a:ext cx="9875520" cy="320040"/>
          </a:xfrm>
          <a:prstGeom prst="rect">
            <a:avLst/>
          </a:prstGeom>
          <a:noFill/>
          <a:ln/>
        </p:spPr>
        <p:txBody>
          <a:bodyPr wrap="square" lIns="0" tIns="0" rIns="0" bIns="0" rtlCol="0" anchor="ctr"/>
          <a:lstStyle/>
          <a:p>
            <a:pPr indent="0" marL="0">
              <a:buNone/>
            </a:pPr>
            <a:r>
              <a:rPr lang="en-US" sz="1350" b="1" dirty="0">
                <a:solidFill>
                  <a:srgbClr val="1E64A9"/>
                </a:solidFill>
              </a:rPr>
              <a:t>Design logic: if “polished” human texts are judged as AI, readers may be detecting style rather than true authorship.</a:t>
            </a:r>
            <a:endParaRPr lang="en-US" sz="135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EXPERIMENT 3</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L2 text memory task</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This task tests whether AI vs. human writing affects second-language memory encoding.</a:t>
            </a:r>
            <a:endParaRPr lang="en-US" sz="1020" dirty="0"/>
          </a:p>
        </p:txBody>
      </p:sp>
      <p:sp>
        <p:nvSpPr>
          <p:cNvPr id="5" name="Shape 3"/>
          <p:cNvSpPr/>
          <p:nvPr/>
        </p:nvSpPr>
        <p:spPr>
          <a:xfrm>
            <a:off x="777240" y="1600200"/>
            <a:ext cx="2148840" cy="914400"/>
          </a:xfrm>
          <a:prstGeom prst="roundRect">
            <a:avLst>
              <a:gd name="adj" fmla="val 8000"/>
            </a:avLst>
          </a:prstGeom>
          <a:solidFill>
            <a:srgbClr val="E8F1FB"/>
          </a:solidFill>
          <a:ln w="12700">
            <a:solidFill>
              <a:srgbClr val="D6E2EE"/>
            </a:solidFill>
            <a:prstDash val="solid"/>
          </a:ln>
        </p:spPr>
      </p:sp>
      <p:sp>
        <p:nvSpPr>
          <p:cNvPr id="6" name="Text 4"/>
          <p:cNvSpPr/>
          <p:nvPr/>
        </p:nvSpPr>
        <p:spPr>
          <a:xfrm>
            <a:off x="777240" y="1764792"/>
            <a:ext cx="2148840" cy="228600"/>
          </a:xfrm>
          <a:prstGeom prst="rect">
            <a:avLst/>
          </a:prstGeom>
          <a:noFill/>
          <a:ln/>
        </p:spPr>
        <p:txBody>
          <a:bodyPr wrap="square" lIns="0" tIns="0" rIns="0" bIns="0" rtlCol="0" anchor="ctr"/>
          <a:lstStyle/>
          <a:p>
            <a:pPr algn="ctr" indent="0" marL="0">
              <a:buNone/>
            </a:pPr>
            <a:r>
              <a:rPr lang="en-US" sz="1600" b="1" dirty="0">
                <a:solidFill>
                  <a:srgbClr val="0B2A4A"/>
                </a:solidFill>
              </a:rPr>
              <a:t>Read</a:t>
            </a:r>
            <a:endParaRPr lang="en-US" sz="1600" dirty="0"/>
          </a:p>
        </p:txBody>
      </p:sp>
      <p:sp>
        <p:nvSpPr>
          <p:cNvPr id="7" name="Text 5"/>
          <p:cNvSpPr/>
          <p:nvPr/>
        </p:nvSpPr>
        <p:spPr>
          <a:xfrm>
            <a:off x="868680" y="2075688"/>
            <a:ext cx="1965960" cy="256032"/>
          </a:xfrm>
          <a:prstGeom prst="rect">
            <a:avLst/>
          </a:prstGeom>
          <a:noFill/>
          <a:ln/>
        </p:spPr>
        <p:txBody>
          <a:bodyPr wrap="square" lIns="0" tIns="0" rIns="0" bIns="0" rtlCol="0" anchor="ctr">
            <a:normAutofit/>
          </a:bodyPr>
          <a:lstStyle/>
          <a:p>
            <a:pPr algn="ctr" indent="0" marL="0">
              <a:buNone/>
            </a:pPr>
            <a:r>
              <a:rPr lang="en-US" sz="950" dirty="0">
                <a:solidFill>
                  <a:srgbClr val="50616F"/>
                </a:solidFill>
              </a:rPr>
              <a:t>English passage</a:t>
            </a:r>
            <a:endParaRPr lang="en-US" sz="950" dirty="0"/>
          </a:p>
          <a:p>
            <a:pPr algn="ctr" indent="0" marL="0">
              <a:buNone/>
            </a:pPr>
            <a:r>
              <a:rPr lang="en-US" sz="950" dirty="0">
                <a:solidFill>
                  <a:srgbClr val="50616F"/>
                </a:solidFill>
              </a:rPr>
              <a:t>Human or AI</a:t>
            </a:r>
            <a:endParaRPr lang="en-US" sz="950" dirty="0"/>
          </a:p>
        </p:txBody>
      </p:sp>
      <p:sp>
        <p:nvSpPr>
          <p:cNvPr id="8" name="Shape 6"/>
          <p:cNvSpPr/>
          <p:nvPr/>
        </p:nvSpPr>
        <p:spPr>
          <a:xfrm>
            <a:off x="3017520" y="2057400"/>
            <a:ext cx="457200" cy="0"/>
          </a:xfrm>
          <a:prstGeom prst="line">
            <a:avLst/>
          </a:prstGeom>
          <a:noFill/>
          <a:ln w="19050">
            <a:solidFill>
              <a:srgbClr val="1E64A9"/>
            </a:solidFill>
            <a:prstDash val="solid"/>
            <a:headEnd type="none"/>
            <a:tailEnd type="triangle"/>
          </a:ln>
        </p:spPr>
      </p:sp>
      <p:sp>
        <p:nvSpPr>
          <p:cNvPr id="9" name="Shape 7"/>
          <p:cNvSpPr/>
          <p:nvPr/>
        </p:nvSpPr>
        <p:spPr>
          <a:xfrm>
            <a:off x="3566160" y="1600200"/>
            <a:ext cx="2148840" cy="914400"/>
          </a:xfrm>
          <a:prstGeom prst="roundRect">
            <a:avLst>
              <a:gd name="adj" fmla="val 8000"/>
            </a:avLst>
          </a:prstGeom>
          <a:solidFill>
            <a:srgbClr val="F4F7FA"/>
          </a:solidFill>
          <a:ln w="12700">
            <a:solidFill>
              <a:srgbClr val="D6E2EE"/>
            </a:solidFill>
            <a:prstDash val="solid"/>
          </a:ln>
        </p:spPr>
      </p:sp>
      <p:sp>
        <p:nvSpPr>
          <p:cNvPr id="10" name="Text 8"/>
          <p:cNvSpPr/>
          <p:nvPr/>
        </p:nvSpPr>
        <p:spPr>
          <a:xfrm>
            <a:off x="3566160" y="1764792"/>
            <a:ext cx="2148840" cy="228600"/>
          </a:xfrm>
          <a:prstGeom prst="rect">
            <a:avLst/>
          </a:prstGeom>
          <a:noFill/>
          <a:ln/>
        </p:spPr>
        <p:txBody>
          <a:bodyPr wrap="square" lIns="0" tIns="0" rIns="0" bIns="0" rtlCol="0" anchor="ctr"/>
          <a:lstStyle/>
          <a:p>
            <a:pPr algn="ctr" indent="0" marL="0">
              <a:buNone/>
            </a:pPr>
            <a:r>
              <a:rPr lang="en-US" sz="1600" b="1" dirty="0">
                <a:solidFill>
                  <a:srgbClr val="0B2A4A"/>
                </a:solidFill>
              </a:rPr>
              <a:t>Distract</a:t>
            </a:r>
            <a:endParaRPr lang="en-US" sz="1600" dirty="0"/>
          </a:p>
        </p:txBody>
      </p:sp>
      <p:sp>
        <p:nvSpPr>
          <p:cNvPr id="11" name="Text 9"/>
          <p:cNvSpPr/>
          <p:nvPr/>
        </p:nvSpPr>
        <p:spPr>
          <a:xfrm>
            <a:off x="3657600" y="2075688"/>
            <a:ext cx="1965960" cy="256032"/>
          </a:xfrm>
          <a:prstGeom prst="rect">
            <a:avLst/>
          </a:prstGeom>
          <a:noFill/>
          <a:ln/>
        </p:spPr>
        <p:txBody>
          <a:bodyPr wrap="square" lIns="0" tIns="0" rIns="0" bIns="0" rtlCol="0" anchor="ctr">
            <a:normAutofit/>
          </a:bodyPr>
          <a:lstStyle/>
          <a:p>
            <a:pPr algn="ctr" indent="0" marL="0">
              <a:buNone/>
            </a:pPr>
            <a:r>
              <a:rPr lang="en-US" sz="950" dirty="0">
                <a:solidFill>
                  <a:srgbClr val="50616F"/>
                </a:solidFill>
              </a:rPr>
              <a:t>10-sec odd/even</a:t>
            </a:r>
            <a:endParaRPr lang="en-US" sz="950" dirty="0"/>
          </a:p>
          <a:p>
            <a:pPr algn="ctr" indent="0" marL="0">
              <a:buNone/>
            </a:pPr>
            <a:r>
              <a:rPr lang="en-US" sz="950" dirty="0">
                <a:solidFill>
                  <a:srgbClr val="50616F"/>
                </a:solidFill>
              </a:rPr>
              <a:t>or letter task</a:t>
            </a:r>
            <a:endParaRPr lang="en-US" sz="950" dirty="0"/>
          </a:p>
        </p:txBody>
      </p:sp>
      <p:sp>
        <p:nvSpPr>
          <p:cNvPr id="12" name="Shape 10"/>
          <p:cNvSpPr/>
          <p:nvPr/>
        </p:nvSpPr>
        <p:spPr>
          <a:xfrm>
            <a:off x="5806440" y="2057400"/>
            <a:ext cx="457200" cy="0"/>
          </a:xfrm>
          <a:prstGeom prst="line">
            <a:avLst/>
          </a:prstGeom>
          <a:noFill/>
          <a:ln w="19050">
            <a:solidFill>
              <a:srgbClr val="1E64A9"/>
            </a:solidFill>
            <a:prstDash val="solid"/>
            <a:headEnd type="none"/>
            <a:tailEnd type="triangle"/>
          </a:ln>
        </p:spPr>
      </p:sp>
      <p:sp>
        <p:nvSpPr>
          <p:cNvPr id="13" name="Shape 11"/>
          <p:cNvSpPr/>
          <p:nvPr/>
        </p:nvSpPr>
        <p:spPr>
          <a:xfrm>
            <a:off x="6355080" y="1600200"/>
            <a:ext cx="2148840" cy="914400"/>
          </a:xfrm>
          <a:prstGeom prst="roundRect">
            <a:avLst>
              <a:gd name="adj" fmla="val 8000"/>
            </a:avLst>
          </a:prstGeom>
          <a:solidFill>
            <a:srgbClr val="FFF7E8"/>
          </a:solidFill>
          <a:ln w="12700">
            <a:solidFill>
              <a:srgbClr val="D6E2EE"/>
            </a:solidFill>
            <a:prstDash val="solid"/>
          </a:ln>
        </p:spPr>
      </p:sp>
      <p:sp>
        <p:nvSpPr>
          <p:cNvPr id="14" name="Text 12"/>
          <p:cNvSpPr/>
          <p:nvPr/>
        </p:nvSpPr>
        <p:spPr>
          <a:xfrm>
            <a:off x="6355080" y="1764792"/>
            <a:ext cx="2148840" cy="228600"/>
          </a:xfrm>
          <a:prstGeom prst="rect">
            <a:avLst/>
          </a:prstGeom>
          <a:noFill/>
          <a:ln/>
        </p:spPr>
        <p:txBody>
          <a:bodyPr wrap="square" lIns="0" tIns="0" rIns="0" bIns="0" rtlCol="0" anchor="ctr"/>
          <a:lstStyle/>
          <a:p>
            <a:pPr algn="ctr" indent="0" marL="0">
              <a:buNone/>
            </a:pPr>
            <a:r>
              <a:rPr lang="en-US" sz="1600" b="1" dirty="0">
                <a:solidFill>
                  <a:srgbClr val="0B2A4A"/>
                </a:solidFill>
              </a:rPr>
              <a:t>Recognize</a:t>
            </a:r>
            <a:endParaRPr lang="en-US" sz="1600" dirty="0"/>
          </a:p>
        </p:txBody>
      </p:sp>
      <p:sp>
        <p:nvSpPr>
          <p:cNvPr id="15" name="Text 13"/>
          <p:cNvSpPr/>
          <p:nvPr/>
        </p:nvSpPr>
        <p:spPr>
          <a:xfrm>
            <a:off x="6446520" y="2075688"/>
            <a:ext cx="1965960" cy="256032"/>
          </a:xfrm>
          <a:prstGeom prst="rect">
            <a:avLst/>
          </a:prstGeom>
          <a:noFill/>
          <a:ln/>
        </p:spPr>
        <p:txBody>
          <a:bodyPr wrap="square" lIns="0" tIns="0" rIns="0" bIns="0" rtlCol="0" anchor="ctr">
            <a:normAutofit/>
          </a:bodyPr>
          <a:lstStyle/>
          <a:p>
            <a:pPr algn="ctr" indent="0" marL="0">
              <a:buNone/>
            </a:pPr>
            <a:r>
              <a:rPr lang="en-US" sz="950" dirty="0">
                <a:solidFill>
                  <a:srgbClr val="50616F"/>
                </a:solidFill>
              </a:rPr>
              <a:t>Did this sentence</a:t>
            </a:r>
            <a:endParaRPr lang="en-US" sz="950" dirty="0"/>
          </a:p>
          <a:p>
            <a:pPr algn="ctr" indent="0" marL="0">
              <a:buNone/>
            </a:pPr>
            <a:r>
              <a:rPr lang="en-US" sz="950" dirty="0">
                <a:solidFill>
                  <a:srgbClr val="50616F"/>
                </a:solidFill>
              </a:rPr>
              <a:t>appear earlier?</a:t>
            </a:r>
            <a:endParaRPr lang="en-US" sz="950" dirty="0"/>
          </a:p>
        </p:txBody>
      </p:sp>
      <p:sp>
        <p:nvSpPr>
          <p:cNvPr id="16" name="Shape 14"/>
          <p:cNvSpPr/>
          <p:nvPr/>
        </p:nvSpPr>
        <p:spPr>
          <a:xfrm>
            <a:off x="8595360" y="2057400"/>
            <a:ext cx="457200" cy="0"/>
          </a:xfrm>
          <a:prstGeom prst="line">
            <a:avLst/>
          </a:prstGeom>
          <a:noFill/>
          <a:ln w="19050">
            <a:solidFill>
              <a:srgbClr val="1E64A9"/>
            </a:solidFill>
            <a:prstDash val="solid"/>
            <a:headEnd type="none"/>
            <a:tailEnd type="triangle"/>
          </a:ln>
        </p:spPr>
      </p:sp>
      <p:sp>
        <p:nvSpPr>
          <p:cNvPr id="17" name="Shape 15"/>
          <p:cNvSpPr/>
          <p:nvPr/>
        </p:nvSpPr>
        <p:spPr>
          <a:xfrm>
            <a:off x="9144000" y="1600200"/>
            <a:ext cx="2148840" cy="914400"/>
          </a:xfrm>
          <a:prstGeom prst="roundRect">
            <a:avLst>
              <a:gd name="adj" fmla="val 8000"/>
            </a:avLst>
          </a:prstGeom>
          <a:solidFill>
            <a:srgbClr val="EAF5ED"/>
          </a:solidFill>
          <a:ln w="12700">
            <a:solidFill>
              <a:srgbClr val="D6E2EE"/>
            </a:solidFill>
            <a:prstDash val="solid"/>
          </a:ln>
        </p:spPr>
      </p:sp>
      <p:sp>
        <p:nvSpPr>
          <p:cNvPr id="18" name="Text 16"/>
          <p:cNvSpPr/>
          <p:nvPr/>
        </p:nvSpPr>
        <p:spPr>
          <a:xfrm>
            <a:off x="9144000" y="1764792"/>
            <a:ext cx="2148840" cy="228600"/>
          </a:xfrm>
          <a:prstGeom prst="rect">
            <a:avLst/>
          </a:prstGeom>
          <a:noFill/>
          <a:ln/>
        </p:spPr>
        <p:txBody>
          <a:bodyPr wrap="square" lIns="0" tIns="0" rIns="0" bIns="0" rtlCol="0" anchor="ctr"/>
          <a:lstStyle/>
          <a:p>
            <a:pPr algn="ctr" indent="0" marL="0">
              <a:buNone/>
            </a:pPr>
            <a:r>
              <a:rPr lang="en-US" sz="1600" b="1" dirty="0">
                <a:solidFill>
                  <a:srgbClr val="0B2A4A"/>
                </a:solidFill>
              </a:rPr>
              <a:t>Reconstruct</a:t>
            </a:r>
            <a:endParaRPr lang="en-US" sz="1600" dirty="0"/>
          </a:p>
        </p:txBody>
      </p:sp>
      <p:sp>
        <p:nvSpPr>
          <p:cNvPr id="19" name="Text 17"/>
          <p:cNvSpPr/>
          <p:nvPr/>
        </p:nvSpPr>
        <p:spPr>
          <a:xfrm>
            <a:off x="9235440" y="2075688"/>
            <a:ext cx="1965960" cy="256032"/>
          </a:xfrm>
          <a:prstGeom prst="rect">
            <a:avLst/>
          </a:prstGeom>
          <a:noFill/>
          <a:ln/>
        </p:spPr>
        <p:txBody>
          <a:bodyPr wrap="square" lIns="0" tIns="0" rIns="0" bIns="0" rtlCol="0" anchor="ctr">
            <a:normAutofit/>
          </a:bodyPr>
          <a:lstStyle/>
          <a:p>
            <a:pPr algn="ctr" indent="0" marL="0">
              <a:buNone/>
            </a:pPr>
            <a:r>
              <a:rPr lang="en-US" sz="950" dirty="0">
                <a:solidFill>
                  <a:srgbClr val="50616F"/>
                </a:solidFill>
              </a:rPr>
              <a:t>Rebuild a sentence</a:t>
            </a:r>
            <a:endParaRPr lang="en-US" sz="950" dirty="0"/>
          </a:p>
          <a:p>
            <a:pPr algn="ctr" indent="0" marL="0">
              <a:buNone/>
            </a:pPr>
            <a:r>
              <a:rPr lang="en-US" sz="950" dirty="0">
                <a:solidFill>
                  <a:srgbClr val="50616F"/>
                </a:solidFill>
              </a:rPr>
              <a:t>from scrambled words</a:t>
            </a:r>
            <a:endParaRPr lang="en-US" sz="950" dirty="0"/>
          </a:p>
        </p:txBody>
      </p:sp>
      <p:sp>
        <p:nvSpPr>
          <p:cNvPr id="20" name="Text 18"/>
          <p:cNvSpPr/>
          <p:nvPr/>
        </p:nvSpPr>
        <p:spPr>
          <a:xfrm>
            <a:off x="868680" y="3337560"/>
            <a:ext cx="2743200" cy="274320"/>
          </a:xfrm>
          <a:prstGeom prst="rect">
            <a:avLst/>
          </a:prstGeom>
          <a:noFill/>
          <a:ln/>
        </p:spPr>
        <p:txBody>
          <a:bodyPr wrap="square" lIns="0" tIns="0" rIns="0" bIns="0" rtlCol="0" anchor="ctr"/>
          <a:lstStyle/>
          <a:p>
            <a:pPr indent="0" marL="0">
              <a:buNone/>
            </a:pPr>
            <a:r>
              <a:rPr lang="en-US" sz="1700" b="1" dirty="0">
                <a:solidFill>
                  <a:srgbClr val="0B2A4A"/>
                </a:solidFill>
              </a:rPr>
              <a:t>Dependent variables</a:t>
            </a:r>
            <a:endParaRPr lang="en-US" sz="1700" dirty="0"/>
          </a:p>
        </p:txBody>
      </p:sp>
      <p:sp>
        <p:nvSpPr>
          <p:cNvPr id="21" name="Text 19"/>
          <p:cNvSpPr/>
          <p:nvPr/>
        </p:nvSpPr>
        <p:spPr>
          <a:xfrm>
            <a:off x="960120" y="3703320"/>
            <a:ext cx="4023360" cy="1051560"/>
          </a:xfrm>
          <a:prstGeom prst="rect">
            <a:avLst/>
          </a:prstGeom>
          <a:noFill/>
          <a:ln/>
        </p:spPr>
        <p:txBody>
          <a:bodyPr wrap="square" lIns="508" tIns="508" rIns="508" bIns="508" rtlCol="0" anchor="ctr">
            <a:normAutofit/>
          </a:bodyPr>
          <a:lstStyle/>
          <a:p>
            <a:r>
              <a:rPr lang="en-US" sz="1350" dirty="0">
                <a:solidFill>
                  <a:srgbClr val="0B2A4A"/>
                </a:solidFill>
              </a:rPr>
              <a:t>recognition accuracy</a:t>
            </a:r>
            <a:endParaRPr lang="en-US" sz="1350" dirty="0"/>
          </a:p>
          <a:p>
            <a:pPr indent="0" marL="0">
              <a:buNone/>
            </a:pPr>
            <a:r>
              <a:rPr lang="en-US" sz="1350" dirty="0">
                <a:solidFill>
                  <a:srgbClr val="0B2A4A"/>
                </a:solidFill>
              </a:rPr>
              <a:t>word-order reconstruction accuracy</a:t>
            </a:r>
            <a:endParaRPr lang="en-US" sz="1350" dirty="0"/>
          </a:p>
          <a:p>
            <a:pPr indent="0" marL="0">
              <a:buNone/>
            </a:pPr>
            <a:r>
              <a:rPr lang="en-US" sz="1350" dirty="0">
                <a:solidFill>
                  <a:srgbClr val="0B2A4A"/>
                </a:solidFill>
              </a:rPr>
              <a:t>reaction time</a:t>
            </a:r>
            <a:endParaRPr lang="en-US" sz="1350" dirty="0"/>
          </a:p>
        </p:txBody>
      </p:sp>
      <p:sp>
        <p:nvSpPr>
          <p:cNvPr id="22" name="Text 20"/>
          <p:cNvSpPr/>
          <p:nvPr/>
        </p:nvSpPr>
        <p:spPr>
          <a:xfrm>
            <a:off x="6629400" y="3337560"/>
            <a:ext cx="2743200" cy="274320"/>
          </a:xfrm>
          <a:prstGeom prst="rect">
            <a:avLst/>
          </a:prstGeom>
          <a:noFill/>
          <a:ln/>
        </p:spPr>
        <p:txBody>
          <a:bodyPr wrap="square" lIns="0" tIns="0" rIns="0" bIns="0" rtlCol="0" anchor="ctr"/>
          <a:lstStyle/>
          <a:p>
            <a:pPr indent="0" marL="0">
              <a:buNone/>
            </a:pPr>
            <a:r>
              <a:rPr lang="en-US" sz="1700" b="1" dirty="0">
                <a:solidFill>
                  <a:srgbClr val="0B2A4A"/>
                </a:solidFill>
              </a:rPr>
              <a:t>Why it matters</a:t>
            </a:r>
            <a:endParaRPr lang="en-US" sz="1700" dirty="0"/>
          </a:p>
        </p:txBody>
      </p:sp>
      <p:sp>
        <p:nvSpPr>
          <p:cNvPr id="23" name="Text 21"/>
          <p:cNvSpPr/>
          <p:nvPr/>
        </p:nvSpPr>
        <p:spPr>
          <a:xfrm>
            <a:off x="6629400" y="3694176"/>
            <a:ext cx="4480560" cy="731520"/>
          </a:xfrm>
          <a:prstGeom prst="rect">
            <a:avLst/>
          </a:prstGeom>
          <a:noFill/>
          <a:ln/>
        </p:spPr>
        <p:txBody>
          <a:bodyPr wrap="square" lIns="0" tIns="0" rIns="0" bIns="0" rtlCol="0" anchor="ctr">
            <a:normAutofit/>
          </a:bodyPr>
          <a:lstStyle/>
          <a:p>
            <a:pPr indent="0" marL="0">
              <a:buNone/>
            </a:pPr>
            <a:r>
              <a:rPr lang="en-US" sz="1400" dirty="0">
                <a:solidFill>
                  <a:srgbClr val="0B2A4A"/>
                </a:solidFill>
              </a:rPr>
              <a:t>A text can feel easier to process without being better remembered. The task separates surface fluency from deeper L2 encoding.</a:t>
            </a:r>
            <a:endParaRPr lang="en-US" sz="140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DEMO MOMENT</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Web implementation and data output</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The study can be implemented as a static web experiment on a phone or computer.</a:t>
            </a:r>
            <a:endParaRPr lang="en-US" sz="1020" dirty="0"/>
          </a:p>
        </p:txBody>
      </p:sp>
      <p:pic>
        <p:nvPicPr>
          <p:cNvPr id="5" name="Image 0" descr="/mnt/data/a_high_resolution_wide_angle_modern_infographic.png">    </p:cNvPr>
          <p:cNvPicPr>
            <a:picLocks noChangeAspect="1"/>
          </p:cNvPicPr>
          <p:nvPr/>
        </p:nvPicPr>
        <p:blipFill>
          <a:blip r:embed="rId1"/>
          <a:stretch>
            <a:fillRect/>
          </a:stretch>
        </p:blipFill>
        <p:spPr>
          <a:xfrm>
            <a:off x="822960" y="1325880"/>
            <a:ext cx="4709160" cy="2971800"/>
          </a:xfrm>
          <a:prstGeom prst="rect">
            <a:avLst/>
          </a:prstGeom>
        </p:spPr>
      </p:pic>
      <p:sp>
        <p:nvSpPr>
          <p:cNvPr id="6" name="Text 3"/>
          <p:cNvSpPr/>
          <p:nvPr/>
        </p:nvSpPr>
        <p:spPr>
          <a:xfrm>
            <a:off x="6400800" y="1353312"/>
            <a:ext cx="3291840" cy="274320"/>
          </a:xfrm>
          <a:prstGeom prst="rect">
            <a:avLst/>
          </a:prstGeom>
          <a:noFill/>
          <a:ln/>
        </p:spPr>
        <p:txBody>
          <a:bodyPr wrap="square" lIns="0" tIns="0" rIns="0" bIns="0" rtlCol="0" anchor="ctr"/>
          <a:lstStyle/>
          <a:p>
            <a:pPr indent="0" marL="0">
              <a:buNone/>
            </a:pPr>
            <a:r>
              <a:rPr lang="en-US" sz="2000" b="1" dirty="0">
                <a:solidFill>
                  <a:srgbClr val="0B2A4A"/>
                </a:solidFill>
              </a:rPr>
              <a:t>Demo to show here</a:t>
            </a:r>
            <a:endParaRPr lang="en-US" sz="2000" dirty="0"/>
          </a:p>
        </p:txBody>
      </p:sp>
      <p:sp>
        <p:nvSpPr>
          <p:cNvPr id="7" name="Text 4"/>
          <p:cNvSpPr/>
          <p:nvPr/>
        </p:nvSpPr>
        <p:spPr>
          <a:xfrm>
            <a:off x="6537960" y="1874520"/>
            <a:ext cx="4343400" cy="1691640"/>
          </a:xfrm>
          <a:prstGeom prst="rect">
            <a:avLst/>
          </a:prstGeom>
          <a:noFill/>
          <a:ln/>
        </p:spPr>
        <p:txBody>
          <a:bodyPr wrap="square" lIns="508" tIns="508" rIns="508" bIns="508" rtlCol="0" anchor="ctr">
            <a:normAutofit/>
          </a:bodyPr>
          <a:lstStyle/>
          <a:p>
            <a:r>
              <a:rPr lang="en-US" sz="1400" dirty="0">
                <a:solidFill>
                  <a:srgbClr val="0B2A4A"/>
                </a:solidFill>
              </a:rPr>
              <a:t>background survey</a:t>
            </a:r>
            <a:endParaRPr lang="en-US" sz="1400" dirty="0"/>
          </a:p>
          <a:p>
            <a:pPr indent="0" marL="0">
              <a:buNone/>
            </a:pPr>
            <a:r>
              <a:rPr lang="en-US" sz="1400" dirty="0">
                <a:solidFill>
                  <a:srgbClr val="0B2A4A"/>
                </a:solidFill>
              </a:rPr>
              <a:t>reading phase + timer</a:t>
            </a:r>
            <a:endParaRPr lang="en-US" sz="1400" dirty="0"/>
          </a:p>
          <a:p>
            <a:pPr indent="0" marL="0">
              <a:buNone/>
            </a:pPr>
            <a:r>
              <a:rPr lang="en-US" sz="1400" dirty="0">
                <a:solidFill>
                  <a:srgbClr val="0B2A4A"/>
                </a:solidFill>
              </a:rPr>
              <a:t>authorship judgment + cue ratings</a:t>
            </a:r>
            <a:endParaRPr lang="en-US" sz="1400" dirty="0"/>
          </a:p>
          <a:p>
            <a:pPr indent="0" marL="0">
              <a:buNone/>
            </a:pPr>
            <a:r>
              <a:rPr lang="en-US" sz="1400" dirty="0">
                <a:solidFill>
                  <a:srgbClr val="0B2A4A"/>
                </a:solidFill>
              </a:rPr>
              <a:t>distractor + memory test</a:t>
            </a:r>
            <a:endParaRPr lang="en-US" sz="1400" dirty="0"/>
          </a:p>
          <a:p>
            <a:pPr indent="0" marL="0">
              <a:buNone/>
            </a:pPr>
            <a:r>
              <a:rPr lang="en-US" sz="1400" dirty="0">
                <a:solidFill>
                  <a:srgbClr val="0B2A4A"/>
                </a:solidFill>
              </a:rPr>
              <a:t>CSV export for analysis</a:t>
            </a:r>
            <a:endParaRPr lang="en-US" sz="1400" dirty="0"/>
          </a:p>
        </p:txBody>
      </p:sp>
      <p:sp>
        <p:nvSpPr>
          <p:cNvPr id="8" name="Shape 5"/>
          <p:cNvSpPr/>
          <p:nvPr/>
        </p:nvSpPr>
        <p:spPr>
          <a:xfrm>
            <a:off x="6446520" y="4617720"/>
            <a:ext cx="4480560" cy="640080"/>
          </a:xfrm>
          <a:prstGeom prst="roundRect">
            <a:avLst>
              <a:gd name="adj" fmla="val 11429"/>
            </a:avLst>
          </a:prstGeom>
          <a:solidFill>
            <a:srgbClr val="FFFFFF">
              <a:alpha val="0"/>
            </a:srgbClr>
          </a:solidFill>
          <a:ln w="12700">
            <a:solidFill>
              <a:srgbClr val="BCD3E9"/>
            </a:solidFill>
            <a:prstDash val="solid"/>
          </a:ln>
        </p:spPr>
      </p:sp>
      <p:sp>
        <p:nvSpPr>
          <p:cNvPr id="9" name="Text 6"/>
          <p:cNvSpPr/>
          <p:nvPr/>
        </p:nvSpPr>
        <p:spPr>
          <a:xfrm>
            <a:off x="6565392" y="4828032"/>
            <a:ext cx="4206240" cy="164592"/>
          </a:xfrm>
          <a:prstGeom prst="rect">
            <a:avLst/>
          </a:prstGeom>
          <a:noFill/>
          <a:ln/>
        </p:spPr>
        <p:txBody>
          <a:bodyPr wrap="square" lIns="0" tIns="0" rIns="0" bIns="0" rtlCol="0" anchor="ctr"/>
          <a:lstStyle/>
          <a:p>
            <a:pPr algn="ctr" indent="0" marL="0">
              <a:buNone/>
            </a:pPr>
            <a:r>
              <a:rPr lang="en-US" sz="1150" b="1" dirty="0">
                <a:solidFill>
                  <a:srgbClr val="1E64A9"/>
                </a:solidFill>
              </a:rPr>
              <a:t>Presentation cue: switch to demo for 40–60 seconds</a:t>
            </a:r>
            <a:endParaRPr lang="en-US" sz="115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PLANNED ANALYSIS</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How the data would answer the questions</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The analysis is intentionally simple enough for a classroom research project.</a:t>
            </a:r>
            <a:endParaRPr lang="en-US" sz="1020" dirty="0"/>
          </a:p>
        </p:txBody>
      </p:sp>
      <p:sp>
        <p:nvSpPr>
          <p:cNvPr id="5" name="Text 3"/>
          <p:cNvSpPr/>
          <p:nvPr/>
        </p:nvSpPr>
        <p:spPr>
          <a:xfrm>
            <a:off x="868680" y="1371600"/>
            <a:ext cx="320040" cy="320040"/>
          </a:xfrm>
          <a:prstGeom prst="rect">
            <a:avLst/>
          </a:prstGeom>
          <a:solidFill>
            <a:srgbClr val="1E64A9"/>
          </a:solid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p:nvPr/>
        </p:nvSpPr>
        <p:spPr>
          <a:xfrm>
            <a:off x="1325880" y="1399032"/>
            <a:ext cx="8961120" cy="237744"/>
          </a:xfrm>
          <a:prstGeom prst="rect">
            <a:avLst/>
          </a:prstGeom>
          <a:noFill/>
          <a:ln/>
        </p:spPr>
        <p:txBody>
          <a:bodyPr wrap="square" lIns="0" tIns="0" rIns="0" bIns="0" rtlCol="0" anchor="ctr"/>
          <a:lstStyle/>
          <a:p>
            <a:pPr indent="0" marL="0">
              <a:buNone/>
            </a:pPr>
            <a:r>
              <a:rPr lang="en-US" sz="1600" dirty="0">
                <a:solidFill>
                  <a:srgbClr val="0B2A4A"/>
                </a:solidFill>
              </a:rPr>
              <a:t>Compare judgment accuracy and misclassification by text type.</a:t>
            </a:r>
            <a:endParaRPr lang="en-US" sz="1600" dirty="0"/>
          </a:p>
        </p:txBody>
      </p:sp>
      <p:sp>
        <p:nvSpPr>
          <p:cNvPr id="7" name="Text 5"/>
          <p:cNvSpPr/>
          <p:nvPr/>
        </p:nvSpPr>
        <p:spPr>
          <a:xfrm>
            <a:off x="868680" y="2121408"/>
            <a:ext cx="320040" cy="320040"/>
          </a:xfrm>
          <a:prstGeom prst="rect">
            <a:avLst/>
          </a:prstGeom>
          <a:solidFill>
            <a:srgbClr val="D9A94E"/>
          </a:solid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8" name="Text 6"/>
          <p:cNvSpPr/>
          <p:nvPr/>
        </p:nvSpPr>
        <p:spPr>
          <a:xfrm>
            <a:off x="1325880" y="2148840"/>
            <a:ext cx="8961120" cy="237744"/>
          </a:xfrm>
          <a:prstGeom prst="rect">
            <a:avLst/>
          </a:prstGeom>
          <a:noFill/>
          <a:ln/>
        </p:spPr>
        <p:txBody>
          <a:bodyPr wrap="square" lIns="0" tIns="0" rIns="0" bIns="0" rtlCol="0" anchor="ctr"/>
          <a:lstStyle/>
          <a:p>
            <a:pPr indent="0" marL="0">
              <a:buNone/>
            </a:pPr>
            <a:r>
              <a:rPr lang="en-US" sz="1600" dirty="0">
                <a:solidFill>
                  <a:srgbClr val="0B2A4A"/>
                </a:solidFill>
              </a:rPr>
              <a:t>Correlate cue ratings with AI-likelihood ratings.</a:t>
            </a:r>
            <a:endParaRPr lang="en-US" sz="1600" dirty="0"/>
          </a:p>
        </p:txBody>
      </p:sp>
      <p:sp>
        <p:nvSpPr>
          <p:cNvPr id="9" name="Text 7"/>
          <p:cNvSpPr/>
          <p:nvPr/>
        </p:nvSpPr>
        <p:spPr>
          <a:xfrm>
            <a:off x="868680" y="2871216"/>
            <a:ext cx="320040" cy="320040"/>
          </a:xfrm>
          <a:prstGeom prst="rect">
            <a:avLst/>
          </a:prstGeom>
          <a:solidFill>
            <a:srgbClr val="557A65"/>
          </a:solid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0" name="Text 8"/>
          <p:cNvSpPr/>
          <p:nvPr/>
        </p:nvSpPr>
        <p:spPr>
          <a:xfrm>
            <a:off x="1325880" y="2898648"/>
            <a:ext cx="8961120" cy="237744"/>
          </a:xfrm>
          <a:prstGeom prst="rect">
            <a:avLst/>
          </a:prstGeom>
          <a:noFill/>
          <a:ln/>
        </p:spPr>
        <p:txBody>
          <a:bodyPr wrap="square" lIns="0" tIns="0" rIns="0" bIns="0" rtlCol="0" anchor="ctr"/>
          <a:lstStyle/>
          <a:p>
            <a:pPr indent="0" marL="0">
              <a:buNone/>
            </a:pPr>
            <a:r>
              <a:rPr lang="en-US" sz="1600" dirty="0">
                <a:solidFill>
                  <a:srgbClr val="0B2A4A"/>
                </a:solidFill>
              </a:rPr>
              <a:t>Compare L2 memory accuracy and reaction time for human vs. AI text.</a:t>
            </a:r>
            <a:endParaRPr lang="en-US" sz="1600" dirty="0"/>
          </a:p>
        </p:txBody>
      </p:sp>
      <p:sp>
        <p:nvSpPr>
          <p:cNvPr id="11" name="Text 9"/>
          <p:cNvSpPr/>
          <p:nvPr/>
        </p:nvSpPr>
        <p:spPr>
          <a:xfrm>
            <a:off x="914400" y="3749040"/>
            <a:ext cx="2194560" cy="228600"/>
          </a:xfrm>
          <a:prstGeom prst="rect">
            <a:avLst/>
          </a:prstGeom>
          <a:noFill/>
          <a:ln/>
        </p:spPr>
        <p:txBody>
          <a:bodyPr wrap="square" lIns="0" tIns="0" rIns="0" bIns="0" rtlCol="0" anchor="ctr"/>
          <a:lstStyle/>
          <a:p>
            <a:pPr indent="0" marL="0">
              <a:buNone/>
            </a:pPr>
            <a:r>
              <a:rPr lang="en-US" sz="1400" b="1" dirty="0">
                <a:solidFill>
                  <a:srgbClr val="0B2A4A"/>
                </a:solidFill>
              </a:rPr>
              <a:t>Expected pattern</a:t>
            </a:r>
            <a:endParaRPr lang="en-US" sz="1400" dirty="0"/>
          </a:p>
        </p:txBody>
      </p:sp>
      <p:sp>
        <p:nvSpPr>
          <p:cNvPr id="12" name="Shape 10"/>
          <p:cNvSpPr/>
          <p:nvPr/>
        </p:nvSpPr>
        <p:spPr>
          <a:xfrm>
            <a:off x="914400" y="5257800"/>
            <a:ext cx="3840480" cy="0"/>
          </a:xfrm>
          <a:prstGeom prst="line">
            <a:avLst/>
          </a:prstGeom>
          <a:noFill/>
          <a:ln w="12700">
            <a:solidFill>
              <a:srgbClr val="D5DEE8"/>
            </a:solidFill>
            <a:prstDash val="solid"/>
          </a:ln>
        </p:spPr>
      </p:sp>
      <p:sp>
        <p:nvSpPr>
          <p:cNvPr id="13" name="Shape 11"/>
          <p:cNvSpPr/>
          <p:nvPr/>
        </p:nvSpPr>
        <p:spPr>
          <a:xfrm>
            <a:off x="914400" y="4069080"/>
            <a:ext cx="0" cy="1188720"/>
          </a:xfrm>
          <a:prstGeom prst="line">
            <a:avLst/>
          </a:prstGeom>
          <a:noFill/>
          <a:ln w="12700">
            <a:solidFill>
              <a:srgbClr val="D5DEE8"/>
            </a:solidFill>
            <a:prstDash val="solid"/>
          </a:ln>
        </p:spPr>
      </p:sp>
      <p:sp>
        <p:nvSpPr>
          <p:cNvPr id="14" name="Shape 12"/>
          <p:cNvSpPr/>
          <p:nvPr/>
        </p:nvSpPr>
        <p:spPr>
          <a:xfrm>
            <a:off x="1417320" y="4663440"/>
            <a:ext cx="384048" cy="594360"/>
          </a:xfrm>
          <a:prstGeom prst="rect">
            <a:avLst/>
          </a:prstGeom>
          <a:solidFill>
            <a:srgbClr val="1E64A9"/>
          </a:solidFill>
          <a:ln w="12700">
            <a:solidFill>
              <a:srgbClr val="333333">
                <a:alpha val="0"/>
              </a:srgbClr>
            </a:solidFill>
            <a:prstDash val="solid"/>
          </a:ln>
        </p:spPr>
      </p:sp>
      <p:sp>
        <p:nvSpPr>
          <p:cNvPr id="15" name="Shape 13"/>
          <p:cNvSpPr/>
          <p:nvPr/>
        </p:nvSpPr>
        <p:spPr>
          <a:xfrm>
            <a:off x="2148840" y="4297680"/>
            <a:ext cx="384048" cy="960120"/>
          </a:xfrm>
          <a:prstGeom prst="rect">
            <a:avLst/>
          </a:prstGeom>
          <a:solidFill>
            <a:srgbClr val="D9A94E"/>
          </a:solidFill>
          <a:ln w="12700">
            <a:solidFill>
              <a:srgbClr val="333333">
                <a:alpha val="0"/>
              </a:srgbClr>
            </a:solidFill>
            <a:prstDash val="solid"/>
          </a:ln>
        </p:spPr>
      </p:sp>
      <p:sp>
        <p:nvSpPr>
          <p:cNvPr id="16" name="Shape 14"/>
          <p:cNvSpPr/>
          <p:nvPr/>
        </p:nvSpPr>
        <p:spPr>
          <a:xfrm>
            <a:off x="2880360" y="4498848"/>
            <a:ext cx="384048" cy="758952"/>
          </a:xfrm>
          <a:prstGeom prst="rect">
            <a:avLst/>
          </a:prstGeom>
          <a:solidFill>
            <a:srgbClr val="557A65"/>
          </a:solidFill>
          <a:ln w="12700">
            <a:solidFill>
              <a:srgbClr val="333333">
                <a:alpha val="0"/>
              </a:srgbClr>
            </a:solidFill>
            <a:prstDash val="solid"/>
          </a:ln>
        </p:spPr>
      </p:sp>
      <p:sp>
        <p:nvSpPr>
          <p:cNvPr id="17" name="Text 15"/>
          <p:cNvSpPr/>
          <p:nvPr/>
        </p:nvSpPr>
        <p:spPr>
          <a:xfrm>
            <a:off x="1143000" y="5358384"/>
            <a:ext cx="502920" cy="137160"/>
          </a:xfrm>
          <a:prstGeom prst="rect">
            <a:avLst/>
          </a:prstGeom>
          <a:noFill/>
          <a:ln/>
        </p:spPr>
        <p:txBody>
          <a:bodyPr wrap="square" lIns="0" tIns="0" rIns="0" bIns="0" rtlCol="0" anchor="ctr"/>
          <a:lstStyle/>
          <a:p>
            <a:pPr algn="ctr" indent="0" marL="0">
              <a:buNone/>
            </a:pPr>
            <a:r>
              <a:rPr lang="en-US" sz="700" dirty="0">
                <a:solidFill>
                  <a:srgbClr val="50616F"/>
                </a:solidFill>
              </a:rPr>
              <a:t>Human</a:t>
            </a:r>
            <a:endParaRPr lang="en-US" sz="700" dirty="0"/>
          </a:p>
        </p:txBody>
      </p:sp>
      <p:sp>
        <p:nvSpPr>
          <p:cNvPr id="18" name="Text 16"/>
          <p:cNvSpPr/>
          <p:nvPr/>
        </p:nvSpPr>
        <p:spPr>
          <a:xfrm>
            <a:off x="2011680" y="5358384"/>
            <a:ext cx="274320" cy="137160"/>
          </a:xfrm>
          <a:prstGeom prst="rect">
            <a:avLst/>
          </a:prstGeom>
          <a:noFill/>
          <a:ln/>
        </p:spPr>
        <p:txBody>
          <a:bodyPr wrap="square" lIns="0" tIns="0" rIns="0" bIns="0" rtlCol="0" anchor="ctr"/>
          <a:lstStyle/>
          <a:p>
            <a:pPr algn="ctr" indent="0" marL="0">
              <a:buNone/>
            </a:pPr>
            <a:r>
              <a:rPr lang="en-US" sz="700" dirty="0">
                <a:solidFill>
                  <a:srgbClr val="50616F"/>
                </a:solidFill>
              </a:rPr>
              <a:t>AI</a:t>
            </a:r>
            <a:endParaRPr lang="en-US" sz="700" dirty="0"/>
          </a:p>
        </p:txBody>
      </p:sp>
      <p:sp>
        <p:nvSpPr>
          <p:cNvPr id="19" name="Text 17"/>
          <p:cNvSpPr/>
          <p:nvPr/>
        </p:nvSpPr>
        <p:spPr>
          <a:xfrm>
            <a:off x="2761488" y="5358384"/>
            <a:ext cx="502920" cy="137160"/>
          </a:xfrm>
          <a:prstGeom prst="rect">
            <a:avLst/>
          </a:prstGeom>
          <a:noFill/>
          <a:ln/>
        </p:spPr>
        <p:txBody>
          <a:bodyPr wrap="square" lIns="0" tIns="0" rIns="0" bIns="0" rtlCol="0" anchor="ctr"/>
          <a:lstStyle/>
          <a:p>
            <a:pPr algn="ctr" indent="0" marL="0">
              <a:buNone/>
            </a:pPr>
            <a:r>
              <a:rPr lang="en-US" sz="700" dirty="0">
                <a:solidFill>
                  <a:srgbClr val="50616F"/>
                </a:solidFill>
              </a:rPr>
              <a:t>Hybrid</a:t>
            </a:r>
            <a:endParaRPr lang="en-US" sz="700" dirty="0"/>
          </a:p>
        </p:txBody>
      </p:sp>
      <p:sp>
        <p:nvSpPr>
          <p:cNvPr id="20" name="Text 18"/>
          <p:cNvSpPr/>
          <p:nvPr/>
        </p:nvSpPr>
        <p:spPr>
          <a:xfrm>
            <a:off x="5806440" y="3913632"/>
            <a:ext cx="4754880" cy="292608"/>
          </a:xfrm>
          <a:prstGeom prst="rect">
            <a:avLst/>
          </a:prstGeom>
          <a:noFill/>
          <a:ln/>
        </p:spPr>
        <p:txBody>
          <a:bodyPr wrap="square" lIns="0" tIns="0" rIns="0" bIns="0" rtlCol="0" anchor="ctr"/>
          <a:lstStyle/>
          <a:p>
            <a:pPr indent="0" marL="0">
              <a:buNone/>
            </a:pPr>
            <a:r>
              <a:rPr lang="en-US" sz="1800" b="1" dirty="0">
                <a:solidFill>
                  <a:srgbClr val="1E64A9"/>
                </a:solidFill>
              </a:rPr>
              <a:t>The final interpretation is about mechanism, not just accuracy.</a:t>
            </a:r>
            <a:endParaRPr lang="en-US" sz="1800" dirty="0"/>
          </a:p>
        </p:txBody>
      </p:sp>
      <p:sp>
        <p:nvSpPr>
          <p:cNvPr id="21" name="Text 19"/>
          <p:cNvSpPr/>
          <p:nvPr/>
        </p:nvSpPr>
        <p:spPr>
          <a:xfrm>
            <a:off x="5806440" y="4407408"/>
            <a:ext cx="4800600" cy="566928"/>
          </a:xfrm>
          <a:prstGeom prst="rect">
            <a:avLst/>
          </a:prstGeom>
          <a:noFill/>
          <a:ln/>
        </p:spPr>
        <p:txBody>
          <a:bodyPr wrap="square" lIns="0" tIns="0" rIns="0" bIns="0" rtlCol="0" anchor="ctr">
            <a:normAutofit/>
          </a:bodyPr>
          <a:lstStyle/>
          <a:p>
            <a:pPr indent="0" marL="0">
              <a:buNone/>
            </a:pPr>
            <a:r>
              <a:rPr lang="en-US" sz="1350" dirty="0">
                <a:solidFill>
                  <a:srgbClr val="0B2A4A"/>
                </a:solidFill>
              </a:rPr>
              <a:t>If “AI-likeness” is predicted by fluency and low personal voice, then readers may be detecting style rather than authorship.</a:t>
            </a:r>
            <a:endParaRPr lang="en-US" sz="135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EXPECTED CONTRIBUTION</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What the study could show</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A small classroom study can still make a clear conceptual point.</a:t>
            </a:r>
            <a:endParaRPr lang="en-US" sz="1020" dirty="0"/>
          </a:p>
        </p:txBody>
      </p:sp>
      <p:pic>
        <p:nvPicPr>
          <p:cNvPr id="5" name="Image 0" descr="/mnt/data/a_wide_clean_digital_illustration_concept_art_s.png">    </p:cNvPr>
          <p:cNvPicPr>
            <a:picLocks noChangeAspect="1"/>
          </p:cNvPicPr>
          <p:nvPr/>
        </p:nvPicPr>
        <p:blipFill>
          <a:blip r:embed="rId1"/>
          <a:stretch>
            <a:fillRect/>
          </a:stretch>
        </p:blipFill>
        <p:spPr>
          <a:xfrm>
            <a:off x="685800" y="1463040"/>
            <a:ext cx="4846320" cy="3154680"/>
          </a:xfrm>
          <a:prstGeom prst="rect">
            <a:avLst/>
          </a:prstGeom>
        </p:spPr>
      </p:pic>
      <p:sp>
        <p:nvSpPr>
          <p:cNvPr id="6" name="Text 3"/>
          <p:cNvSpPr/>
          <p:nvPr/>
        </p:nvSpPr>
        <p:spPr>
          <a:xfrm>
            <a:off x="6172200" y="1417320"/>
            <a:ext cx="2926080" cy="274320"/>
          </a:xfrm>
          <a:prstGeom prst="rect">
            <a:avLst/>
          </a:prstGeom>
          <a:noFill/>
          <a:ln/>
        </p:spPr>
        <p:txBody>
          <a:bodyPr wrap="square" lIns="0" tIns="0" rIns="0" bIns="0" rtlCol="0" anchor="ctr"/>
          <a:lstStyle/>
          <a:p>
            <a:pPr indent="0" marL="0">
              <a:buNone/>
            </a:pPr>
            <a:r>
              <a:rPr lang="en-US" sz="1800" b="1" dirty="0">
                <a:solidFill>
                  <a:srgbClr val="0B2A4A"/>
                </a:solidFill>
              </a:rPr>
              <a:t>Possible findings</a:t>
            </a:r>
            <a:endParaRPr lang="en-US" sz="1800" dirty="0"/>
          </a:p>
        </p:txBody>
      </p:sp>
      <p:sp>
        <p:nvSpPr>
          <p:cNvPr id="7" name="Text 4"/>
          <p:cNvSpPr/>
          <p:nvPr/>
        </p:nvSpPr>
        <p:spPr>
          <a:xfrm>
            <a:off x="6327648" y="1874520"/>
            <a:ext cx="4617720" cy="1417320"/>
          </a:xfrm>
          <a:prstGeom prst="rect">
            <a:avLst/>
          </a:prstGeom>
          <a:noFill/>
          <a:ln/>
        </p:spPr>
        <p:txBody>
          <a:bodyPr wrap="square" lIns="508" tIns="508" rIns="508" bIns="508" rtlCol="0" anchor="ctr">
            <a:normAutofit/>
          </a:bodyPr>
          <a:lstStyle/>
          <a:p>
            <a:r>
              <a:rPr lang="en-US" sz="1330" dirty="0">
                <a:solidFill>
                  <a:srgbClr val="0B2A4A"/>
                </a:solidFill>
              </a:rPr>
              <a:t>AI-like impressions may come from fluency, regularity, and genericness.</a:t>
            </a:r>
            <a:endParaRPr lang="en-US" sz="1330" dirty="0"/>
          </a:p>
          <a:p>
            <a:pPr indent="0" marL="0">
              <a:buNone/>
            </a:pPr>
            <a:r>
              <a:rPr lang="en-US" sz="1330" dirty="0">
                <a:solidFill>
                  <a:srgbClr val="0B2A4A"/>
                </a:solidFill>
              </a:rPr>
              <a:t>Human-like impressions may come from emotion, specificity, and personal voice.</a:t>
            </a:r>
            <a:endParaRPr lang="en-US" sz="1330" dirty="0"/>
          </a:p>
          <a:p>
            <a:pPr indent="0" marL="0">
              <a:buNone/>
            </a:pPr>
            <a:r>
              <a:rPr lang="en-US" sz="1330" dirty="0">
                <a:solidFill>
                  <a:srgbClr val="0B2A4A"/>
                </a:solidFill>
              </a:rPr>
              <a:t>AI text may feel easy to process, but not necessarily easier to remember in L2.</a:t>
            </a:r>
            <a:endParaRPr lang="en-US" sz="1330" dirty="0"/>
          </a:p>
        </p:txBody>
      </p:sp>
      <p:sp>
        <p:nvSpPr>
          <p:cNvPr id="8" name="Text 5"/>
          <p:cNvSpPr/>
          <p:nvPr/>
        </p:nvSpPr>
        <p:spPr>
          <a:xfrm>
            <a:off x="6172200" y="3794760"/>
            <a:ext cx="2926080" cy="274320"/>
          </a:xfrm>
          <a:prstGeom prst="rect">
            <a:avLst/>
          </a:prstGeom>
          <a:noFill/>
          <a:ln/>
        </p:spPr>
        <p:txBody>
          <a:bodyPr wrap="square" lIns="0" tIns="0" rIns="0" bIns="0" rtlCol="0" anchor="ctr"/>
          <a:lstStyle/>
          <a:p>
            <a:pPr indent="0" marL="0">
              <a:buNone/>
            </a:pPr>
            <a:r>
              <a:rPr lang="en-US" sz="1800" b="1" dirty="0">
                <a:solidFill>
                  <a:srgbClr val="0B2A4A"/>
                </a:solidFill>
              </a:rPr>
              <a:t>Contribution</a:t>
            </a:r>
            <a:endParaRPr lang="en-US" sz="1800" dirty="0"/>
          </a:p>
        </p:txBody>
      </p:sp>
      <p:sp>
        <p:nvSpPr>
          <p:cNvPr id="9" name="Text 6"/>
          <p:cNvSpPr/>
          <p:nvPr/>
        </p:nvSpPr>
        <p:spPr>
          <a:xfrm>
            <a:off x="6309360" y="4224528"/>
            <a:ext cx="4663440" cy="640080"/>
          </a:xfrm>
          <a:prstGeom prst="rect">
            <a:avLst/>
          </a:prstGeom>
          <a:noFill/>
          <a:ln/>
        </p:spPr>
        <p:txBody>
          <a:bodyPr wrap="square" lIns="0" tIns="0" rIns="0" bIns="0" rtlCol="0" anchor="ctr">
            <a:normAutofit/>
          </a:bodyPr>
          <a:lstStyle/>
          <a:p>
            <a:pPr indent="0" marL="0">
              <a:buNone/>
            </a:pPr>
            <a:r>
              <a:rPr lang="en-US" sz="1450" b="1" dirty="0">
                <a:solidFill>
                  <a:srgbClr val="1E64A9"/>
                </a:solidFill>
              </a:rPr>
              <a:t>The project reframes AI writing as a question about language perception, authorship inference, and second-language memory.</a:t>
            </a:r>
            <a:endParaRPr lang="en-US" sz="145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92608"/>
            <a:ext cx="5943600" cy="201168"/>
          </a:xfrm>
          <a:prstGeom prst="rect">
            <a:avLst/>
          </a:prstGeom>
          <a:noFill/>
          <a:ln/>
        </p:spPr>
        <p:txBody>
          <a:bodyPr wrap="square" lIns="0" tIns="0" rIns="0" bIns="0" rtlCol="0" anchor="ctr"/>
          <a:lstStyle/>
          <a:p>
            <a:pPr indent="0" marL="0">
              <a:buNone/>
            </a:pPr>
            <a:r>
              <a:rPr lang="en-US" sz="750" b="1" dirty="0">
                <a:solidFill>
                  <a:srgbClr val="1E64A9"/>
                </a:solidFill>
              </a:rPr>
              <a:t>REFERENCES AND FEASIBILITY</a:t>
            </a:r>
            <a:endParaRPr lang="en-US" sz="750" dirty="0"/>
          </a:p>
        </p:txBody>
      </p:sp>
      <p:sp>
        <p:nvSpPr>
          <p:cNvPr id="3" name="Text 1"/>
          <p:cNvSpPr/>
          <p:nvPr/>
        </p:nvSpPr>
        <p:spPr>
          <a:xfrm>
            <a:off x="566928" y="548640"/>
            <a:ext cx="10607040" cy="384048"/>
          </a:xfrm>
          <a:prstGeom prst="rect">
            <a:avLst/>
          </a:prstGeom>
          <a:noFill/>
          <a:ln/>
        </p:spPr>
        <p:txBody>
          <a:bodyPr wrap="square" lIns="0" tIns="0" rIns="0" bIns="0" rtlCol="0" anchor="ctr"/>
          <a:lstStyle/>
          <a:p>
            <a:pPr indent="0" marL="0">
              <a:buNone/>
            </a:pPr>
            <a:r>
              <a:rPr lang="en-US" sz="2400" b="1" dirty="0">
                <a:solidFill>
                  <a:srgbClr val="0B2A4A"/>
                </a:solidFill>
                <a:latin typeface="Aptos Display" pitchFamily="34" charset="0"/>
                <a:ea typeface="Aptos Display" pitchFamily="34" charset="-122"/>
                <a:cs typeface="Aptos Display" pitchFamily="34" charset="-120"/>
              </a:rPr>
              <a:t>Feasible next steps</a:t>
            </a:r>
            <a:endParaRPr lang="en-US" sz="2400" dirty="0"/>
          </a:p>
        </p:txBody>
      </p:sp>
      <p:sp>
        <p:nvSpPr>
          <p:cNvPr id="4" name="Text 2"/>
          <p:cNvSpPr/>
          <p:nvPr/>
        </p:nvSpPr>
        <p:spPr>
          <a:xfrm>
            <a:off x="585216" y="1024128"/>
            <a:ext cx="10698480" cy="274320"/>
          </a:xfrm>
          <a:prstGeom prst="rect">
            <a:avLst/>
          </a:prstGeom>
          <a:noFill/>
          <a:ln/>
        </p:spPr>
        <p:txBody>
          <a:bodyPr wrap="square" lIns="0" tIns="0" rIns="0" bIns="0" rtlCol="0" anchor="ctr"/>
          <a:lstStyle/>
          <a:p>
            <a:pPr indent="0" marL="0">
              <a:buNone/>
            </a:pPr>
            <a:r>
              <a:rPr lang="en-US" sz="1020" dirty="0">
                <a:solidFill>
                  <a:srgbClr val="50616F"/>
                </a:solidFill>
              </a:rPr>
              <a:t>The project can be run as a small pilot with a web demo and 20–50 participants.</a:t>
            </a:r>
            <a:endParaRPr lang="en-US" sz="1020" dirty="0"/>
          </a:p>
        </p:txBody>
      </p:sp>
      <p:sp>
        <p:nvSpPr>
          <p:cNvPr id="5" name="Text 3"/>
          <p:cNvSpPr/>
          <p:nvPr/>
        </p:nvSpPr>
        <p:spPr>
          <a:xfrm>
            <a:off x="777240" y="1417320"/>
            <a:ext cx="2194560" cy="274320"/>
          </a:xfrm>
          <a:prstGeom prst="rect">
            <a:avLst/>
          </a:prstGeom>
          <a:noFill/>
          <a:ln/>
        </p:spPr>
        <p:txBody>
          <a:bodyPr wrap="square" lIns="0" tIns="0" rIns="0" bIns="0" rtlCol="0" anchor="ctr"/>
          <a:lstStyle/>
          <a:p>
            <a:pPr indent="0" marL="0">
              <a:buNone/>
            </a:pPr>
            <a:r>
              <a:rPr lang="en-US" sz="1700" b="1" dirty="0">
                <a:solidFill>
                  <a:srgbClr val="0B2A4A"/>
                </a:solidFill>
              </a:rPr>
              <a:t>Next steps</a:t>
            </a:r>
            <a:endParaRPr lang="en-US" sz="1700" dirty="0"/>
          </a:p>
        </p:txBody>
      </p:sp>
      <p:sp>
        <p:nvSpPr>
          <p:cNvPr id="6" name="Text 4"/>
          <p:cNvSpPr/>
          <p:nvPr/>
        </p:nvSpPr>
        <p:spPr>
          <a:xfrm>
            <a:off x="914400" y="1828800"/>
            <a:ext cx="4389120" cy="1554480"/>
          </a:xfrm>
          <a:prstGeom prst="rect">
            <a:avLst/>
          </a:prstGeom>
          <a:noFill/>
          <a:ln/>
        </p:spPr>
        <p:txBody>
          <a:bodyPr wrap="square" lIns="508" tIns="508" rIns="508" bIns="508" rtlCol="0" anchor="ctr">
            <a:normAutofit/>
          </a:bodyPr>
          <a:lstStyle/>
          <a:p>
            <a:r>
              <a:rPr lang="en-US" sz="1250" dirty="0">
                <a:solidFill>
                  <a:srgbClr val="0B2A4A"/>
                </a:solidFill>
              </a:rPr>
              <a:t>finalize matched passages</a:t>
            </a:r>
            <a:endParaRPr lang="en-US" sz="1250" dirty="0"/>
          </a:p>
          <a:p>
            <a:pPr indent="0" marL="0">
              <a:buNone/>
            </a:pPr>
            <a:r>
              <a:rPr lang="en-US" sz="1250" dirty="0">
                <a:solidFill>
                  <a:srgbClr val="0B2A4A"/>
                </a:solidFill>
              </a:rPr>
              <a:t>pilot the web task with 3–5 students</a:t>
            </a:r>
            <a:endParaRPr lang="en-US" sz="1250" dirty="0"/>
          </a:p>
          <a:p>
            <a:pPr indent="0" marL="0">
              <a:buNone/>
            </a:pPr>
            <a:r>
              <a:rPr lang="en-US" sz="1250" dirty="0">
                <a:solidFill>
                  <a:srgbClr val="0B2A4A"/>
                </a:solidFill>
              </a:rPr>
              <a:t>collect 20–50 responses</a:t>
            </a:r>
            <a:endParaRPr lang="en-US" sz="1250" dirty="0"/>
          </a:p>
          <a:p>
            <a:pPr indent="0" marL="0">
              <a:buNone/>
            </a:pPr>
            <a:r>
              <a:rPr lang="en-US" sz="1250" dirty="0">
                <a:solidFill>
                  <a:srgbClr val="0B2A4A"/>
                </a:solidFill>
              </a:rPr>
              <a:t>analyze means, correlations, and accuracy rates</a:t>
            </a:r>
            <a:endParaRPr lang="en-US" sz="1250" dirty="0"/>
          </a:p>
        </p:txBody>
      </p:sp>
      <p:sp>
        <p:nvSpPr>
          <p:cNvPr id="7" name="Text 5"/>
          <p:cNvSpPr/>
          <p:nvPr/>
        </p:nvSpPr>
        <p:spPr>
          <a:xfrm>
            <a:off x="6355080" y="1417320"/>
            <a:ext cx="2194560" cy="274320"/>
          </a:xfrm>
          <a:prstGeom prst="rect">
            <a:avLst/>
          </a:prstGeom>
          <a:noFill/>
          <a:ln/>
        </p:spPr>
        <p:txBody>
          <a:bodyPr wrap="square" lIns="0" tIns="0" rIns="0" bIns="0" rtlCol="0" anchor="ctr"/>
          <a:lstStyle/>
          <a:p>
            <a:pPr indent="0" marL="0">
              <a:buNone/>
            </a:pPr>
            <a:r>
              <a:rPr lang="en-US" sz="1700" b="1" dirty="0">
                <a:solidFill>
                  <a:srgbClr val="0B2A4A"/>
                </a:solidFill>
              </a:rPr>
              <a:t>Limitations</a:t>
            </a:r>
            <a:endParaRPr lang="en-US" sz="1700" dirty="0"/>
          </a:p>
        </p:txBody>
      </p:sp>
      <p:sp>
        <p:nvSpPr>
          <p:cNvPr id="8" name="Text 6"/>
          <p:cNvSpPr/>
          <p:nvPr/>
        </p:nvSpPr>
        <p:spPr>
          <a:xfrm>
            <a:off x="6492240" y="1828800"/>
            <a:ext cx="4572000" cy="1554480"/>
          </a:xfrm>
          <a:prstGeom prst="rect">
            <a:avLst/>
          </a:prstGeom>
          <a:noFill/>
          <a:ln/>
        </p:spPr>
        <p:txBody>
          <a:bodyPr wrap="square" lIns="508" tIns="508" rIns="508" bIns="508" rtlCol="0" anchor="ctr">
            <a:normAutofit/>
          </a:bodyPr>
          <a:lstStyle/>
          <a:p>
            <a:r>
              <a:rPr lang="en-US" sz="1250" dirty="0">
                <a:solidFill>
                  <a:srgbClr val="0B2A4A"/>
                </a:solidFill>
              </a:rPr>
              <a:t>small and similar sample</a:t>
            </a:r>
            <a:endParaRPr lang="en-US" sz="1250" dirty="0"/>
          </a:p>
          <a:p>
            <a:pPr indent="0" marL="0">
              <a:buNone/>
            </a:pPr>
            <a:r>
              <a:rPr lang="en-US" sz="1250" dirty="0">
                <a:solidFill>
                  <a:srgbClr val="0B2A4A"/>
                </a:solidFill>
              </a:rPr>
              <a:t>material-matching difficulty</a:t>
            </a:r>
            <a:endParaRPr lang="en-US" sz="1250" dirty="0"/>
          </a:p>
          <a:p>
            <a:pPr indent="0" marL="0">
              <a:buNone/>
            </a:pPr>
            <a:r>
              <a:rPr lang="en-US" sz="1250" dirty="0">
                <a:solidFill>
                  <a:srgbClr val="0B2A4A"/>
                </a:solidFill>
              </a:rPr>
              <a:t>self-rated proficiency is imperfect</a:t>
            </a:r>
            <a:endParaRPr lang="en-US" sz="1250" dirty="0"/>
          </a:p>
          <a:p>
            <a:pPr indent="0" marL="0">
              <a:buNone/>
            </a:pPr>
            <a:r>
              <a:rPr lang="en-US" sz="1250" dirty="0">
                <a:solidFill>
                  <a:srgbClr val="0B2A4A"/>
                </a:solidFill>
              </a:rPr>
              <a:t>future work: Chinese vs. English text comparison</a:t>
            </a:r>
            <a:endParaRPr lang="en-US" sz="1250" dirty="0"/>
          </a:p>
        </p:txBody>
      </p:sp>
      <p:sp>
        <p:nvSpPr>
          <p:cNvPr id="9" name="Text 7"/>
          <p:cNvSpPr/>
          <p:nvPr/>
        </p:nvSpPr>
        <p:spPr>
          <a:xfrm>
            <a:off x="777240" y="4133088"/>
            <a:ext cx="4023360" cy="228600"/>
          </a:xfrm>
          <a:prstGeom prst="rect">
            <a:avLst/>
          </a:prstGeom>
          <a:noFill/>
          <a:ln/>
        </p:spPr>
        <p:txBody>
          <a:bodyPr wrap="square" lIns="0" tIns="0" rIns="0" bIns="0" rtlCol="0" anchor="ctr"/>
          <a:lstStyle/>
          <a:p>
            <a:pPr indent="0" marL="0">
              <a:buNone/>
            </a:pPr>
            <a:r>
              <a:rPr lang="en-US" sz="1500" b="1" dirty="0">
                <a:solidFill>
                  <a:srgbClr val="0B2A4A"/>
                </a:solidFill>
              </a:rPr>
              <a:t>Selected peer-reviewed sources</a:t>
            </a:r>
            <a:endParaRPr lang="en-US" sz="1500" dirty="0"/>
          </a:p>
        </p:txBody>
      </p:sp>
      <p:sp>
        <p:nvSpPr>
          <p:cNvPr id="10" name="Text 8"/>
          <p:cNvSpPr/>
          <p:nvPr/>
        </p:nvSpPr>
        <p:spPr>
          <a:xfrm>
            <a:off x="914400" y="4526280"/>
            <a:ext cx="10378440" cy="1143000"/>
          </a:xfrm>
          <a:prstGeom prst="rect">
            <a:avLst/>
          </a:prstGeom>
          <a:noFill/>
          <a:ln/>
        </p:spPr>
        <p:txBody>
          <a:bodyPr wrap="square" lIns="508" tIns="508" rIns="508" bIns="508" rtlCol="0" anchor="ctr">
            <a:normAutofit/>
          </a:bodyPr>
          <a:lstStyle/>
          <a:p>
            <a:r>
              <a:rPr lang="en-US" sz="920" dirty="0">
                <a:solidFill>
                  <a:srgbClr val="50616F"/>
                </a:solidFill>
              </a:rPr>
              <a:t>Chein, J. M., et al. (2024). Individual differences in the discernment of human from AI-generated content. Scientific Reports.</a:t>
            </a:r>
            <a:endParaRPr lang="en-US" sz="920" dirty="0"/>
          </a:p>
          <a:p>
            <a:pPr indent="0" marL="0">
              <a:buNone/>
            </a:pPr>
            <a:r>
              <a:rPr lang="en-US" sz="920" dirty="0">
                <a:solidFill>
                  <a:srgbClr val="50616F"/>
                </a:solidFill>
              </a:rPr>
              <a:t>Elkhatat, A. M., Elsaid, K., &amp; Almeer, S. (2023). Evaluating AI content detection tools. International Journal for Educational Integrity.</a:t>
            </a:r>
            <a:endParaRPr lang="en-US" sz="920" dirty="0"/>
          </a:p>
          <a:p>
            <a:pPr indent="0" marL="0">
              <a:buNone/>
            </a:pPr>
            <a:r>
              <a:rPr lang="en-US" sz="920" dirty="0">
                <a:solidFill>
                  <a:srgbClr val="50616F"/>
                </a:solidFill>
              </a:rPr>
              <a:t>Goldstein, A., et al. (2025). Temporal structure of natural language processing in the human brain. Nature Communications.</a:t>
            </a:r>
            <a:endParaRPr lang="en-US" sz="920" dirty="0"/>
          </a:p>
          <a:p>
            <a:pPr indent="0" marL="0">
              <a:buNone/>
            </a:pPr>
            <a:r>
              <a:rPr lang="en-US" sz="920" dirty="0">
                <a:solidFill>
                  <a:srgbClr val="50616F"/>
                </a:solidFill>
              </a:rPr>
              <a:t>Baddeley, A. (2003). Working memory and language: an overview. Journal of Communication Disorders.</a:t>
            </a:r>
            <a:endParaRPr lang="en-US" sz="920" dirty="0"/>
          </a:p>
        </p:txBody>
      </p:sp>
      <p:sp>
        <p:nvSpPr>
          <p:cNvPr id="11" name="Text 9"/>
          <p:cNvSpPr/>
          <p:nvPr/>
        </p:nvSpPr>
        <p:spPr>
          <a:xfrm>
            <a:off x="914400" y="5897880"/>
            <a:ext cx="9966960" cy="237744"/>
          </a:xfrm>
          <a:prstGeom prst="rect">
            <a:avLst/>
          </a:prstGeom>
          <a:noFill/>
          <a:ln/>
        </p:spPr>
        <p:txBody>
          <a:bodyPr wrap="square" lIns="0" tIns="0" rIns="0" bIns="0" rtlCol="0" anchor="ctr"/>
          <a:lstStyle/>
          <a:p>
            <a:pPr indent="0" marL="0">
              <a:buNone/>
            </a:pPr>
            <a:r>
              <a:rPr lang="en-US" sz="1350" b="1" dirty="0">
                <a:solidFill>
                  <a:srgbClr val="1E64A9"/>
                </a:solidFill>
              </a:rPr>
              <a:t>End point: a testable, course-linked research proposal rather than a broad AI debate.</a:t>
            </a:r>
            <a:endParaRPr lang="en-US" sz="1350" dirty="0"/>
          </a:p>
        </p:txBody>
      </p:sp>
      <p:sp>
        <p:nvSpPr>
          <p:cNvPr id="25" name="Slide Number Placeholder 0"/>
          <p:cNvSpPr>
            <a:spLocks noGrp="1"/>
          </p:cNvSpPr>
          <p:nvPr>
            <p:ph type="sldNum" sz="quarter" idx="4294967295"/>
          </p:nvPr>
        </p:nvSpPr>
        <p:spPr>
          <a:xfrm>
            <a:off x="11064240" y="6519672"/>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78096"/>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Psycholinguistic Cues in AI-Authorship Perception and L2 Text Memory</dc:title>
  <dc:subject>Psycholinguistics research proposal presentation</dc:subject>
  <dc:creator>OpenAI</dc:creator>
  <cp:lastModifiedBy>OpenAI</cp:lastModifiedBy>
  <cp:revision>1</cp:revision>
  <dcterms:created xsi:type="dcterms:W3CDTF">2026-07-04T04:58:17Z</dcterms:created>
  <dcterms:modified xsi:type="dcterms:W3CDTF">2026-07-04T04:58:17Z</dcterms:modified>
</cp:coreProperties>
</file>