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6"/>
    <p:restoredTop sz="94610"/>
  </p:normalViewPr>
  <p:slideViewPr>
    <p:cSldViewPr snapToGrid="0" snapToObjects="1">
      <p:cViewPr varScale="1">
        <p:scale>
          <a:sx n="221" d="100"/>
          <a:sy n="2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486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1：大家好，我今天的题目是 Psycholinguistic Cues in AI-Authorship Perception and L2 Text Memory。这个题目关注两个层面：第一，读者如何根据语言线索判断一段英文文本是不是 AI 写的；第二，对于中英双语学生来说，AI 文本和人类文本在英文二语阅读中是否会造成不同的记忆编码效果。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2：这个题不是单纯的 AI detection。我真正要研究的是读者如何在阅读过程中把语言形式转换成作者身份判断。这属于 language perception 和 reading；同时因为被试是中英双语学生，阅读材料是英文，所以第三部分也涉及 second-language processing 和 working memory。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3：我的研究问题有两个。第一，哪些语言线索让英文文本听起来像 AI？第二，在中英双语者的二语阅读中，AI 文本和人类文本是否会造成不同的记忆编码效果。自变量是文本类型，关键中介线索是流畅度、结构、情绪和个人声音，因变量包括作者判断、记忆准确率和反应时。</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4：材料准备是最容易被质疑的一部分，所以我会用配对和标准化流程控制。先准备人类文本，再用相同话题和字数限制生成 AI 版本。人机混合版本也不会随意修改，而是使用固定规则，例如只润色语言不改变内容，或者统一替换固定比例的句子。这样能减少不可控变量。</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5：第一个实验是作者身份判断。被试看一段英文短文本，然后判断它是人类撰写、AI 生成、人类经过 AI 编辑，还是不确定。这个任务测量的是最直接的 authorship perception，包括判断准确率、误判率，以及每类文本被判断为 AI 的比例。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6：第二个实验是语言线索评分。被试用 1 到 5 分评价同一段文本的流畅度、结构规整性、清晰度、情感表达、个人声音、模板感和自然度。这样我可以把“像 AI”这个主观感觉拆成可量化的心理语言线索，并分析哪些线索最能预测 AI 判断。</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7：这里是 demo 的最佳位置。讲完实验一和实验二后，先展示网页，让老师看到这个方案可以落地。展示顺序很简单：先给大家看语言背景问卷，然后点进一个 trial，展示阅读、作者判断和量表评分，最后展示干扰任务和记忆测试。整个 demo 控制在一分钟以内，然后回到下一页正式讲第三个实验。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8：第三个实验是 L2 text memory task。被试看人类文本和 AI 文本，之后先做一个短暂干扰任务，避免直接复述，然后进入记忆测试。记忆测试可以是句子再认，也可以是乱序词重组。因变量是记忆准确率和反应时。这个任务是最能体现心理语言学的部分，因为它测量的是二语阅读中的编码、句子加工和工作记忆。</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9：数据分析会很基础但结构清楚。实验一比较判断准确率和误判率；实验二看语言线索评分和 AI 可能性判断之间的关系；实验三比较 AI 文本和人类文本在记忆准确率和反应时上的差异。最终我要回答的是，读者到底是在识别真实作者，还是在利用语言风格进行推断。</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10：最后总结一下，这个研究小规模但可落地。被试是中英双语高中生，材料是短英文文本，网页可以直接收集判断、评分、反应时和记忆结果。研究贡献是把 AI 检测问题重新转化为心理语言学问题：所谓 AI 感可能不是对作者身份的直接识别，而是读者基于语言线索形成的一种感知。</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333333">
                <a:alpha val="0"/>
              </a:srgbClr>
            </a:solidFill>
            <a:prstDash val="solid"/>
          </a:ln>
        </p:spPr>
      </p:sp>
      <p:pic>
        <p:nvPicPr>
          <p:cNvPr id="3" name="Image 0" descr="/mnt/data/wide_editorial_illustration_conceptual_graphic.png"/>
          <p:cNvPicPr>
            <a:picLocks noChangeAspect="1"/>
          </p:cNvPicPr>
          <p:nvPr/>
        </p:nvPicPr>
        <p:blipFill>
          <a:blip r:embed="rId3"/>
          <a:stretch>
            <a:fillRect/>
          </a:stretch>
        </p:blipFill>
        <p:spPr>
          <a:xfrm>
            <a:off x="6309360" y="502920"/>
            <a:ext cx="5440680" cy="5897880"/>
          </a:xfrm>
          <a:prstGeom prst="rect">
            <a:avLst/>
          </a:prstGeom>
        </p:spPr>
      </p:pic>
      <p:sp>
        <p:nvSpPr>
          <p:cNvPr id="4" name="Shape 1"/>
          <p:cNvSpPr/>
          <p:nvPr/>
        </p:nvSpPr>
        <p:spPr>
          <a:xfrm>
            <a:off x="0" y="0"/>
            <a:ext cx="6080760" cy="6858000"/>
          </a:xfrm>
          <a:prstGeom prst="rect">
            <a:avLst/>
          </a:prstGeom>
          <a:solidFill>
            <a:srgbClr val="F8FBFF"/>
          </a:solidFill>
          <a:ln w="12700">
            <a:solidFill>
              <a:srgbClr val="333333">
                <a:alpha val="0"/>
              </a:srgbClr>
            </a:solidFill>
            <a:prstDash val="solid"/>
          </a:ln>
        </p:spPr>
      </p:sp>
      <p:sp>
        <p:nvSpPr>
          <p:cNvPr id="5" name="Text 2"/>
          <p:cNvSpPr/>
          <p:nvPr/>
        </p:nvSpPr>
        <p:spPr>
          <a:xfrm>
            <a:off x="594360" y="822960"/>
            <a:ext cx="5486400" cy="1600200"/>
          </a:xfrm>
          <a:prstGeom prst="rect">
            <a:avLst/>
          </a:prstGeom>
          <a:noFill/>
          <a:ln/>
        </p:spPr>
        <p:txBody>
          <a:bodyPr wrap="square" lIns="0" tIns="0" rIns="0" bIns="0" rtlCol="0" anchor="ctr">
            <a:normAutofit/>
          </a:bodyPr>
          <a:lstStyle/>
          <a:p>
            <a:pPr marL="0" indent="0">
              <a:buNone/>
            </a:pPr>
            <a:r>
              <a:rPr lang="en-US" sz="3200" b="1" dirty="0">
                <a:solidFill>
                  <a:srgbClr val="173B66"/>
                </a:solidFill>
                <a:latin typeface="Aptos Display" pitchFamily="34" charset="0"/>
                <a:ea typeface="Aptos Display" pitchFamily="34" charset="-122"/>
                <a:cs typeface="Aptos Display" pitchFamily="34" charset="-120"/>
              </a:rPr>
              <a:t>Psycholinguistic Cues in</a:t>
            </a:r>
            <a:endParaRPr lang="en-US" sz="3200" dirty="0"/>
          </a:p>
          <a:p>
            <a:pPr marL="0" indent="0">
              <a:buNone/>
            </a:pPr>
            <a:r>
              <a:rPr lang="en-US" sz="3200" b="1" dirty="0">
                <a:solidFill>
                  <a:srgbClr val="173B66"/>
                </a:solidFill>
                <a:latin typeface="Aptos Display" pitchFamily="34" charset="0"/>
                <a:ea typeface="Aptos Display" pitchFamily="34" charset="-122"/>
                <a:cs typeface="Aptos Display" pitchFamily="34" charset="-120"/>
              </a:rPr>
              <a:t>AI‑Authorship Perception</a:t>
            </a:r>
            <a:endParaRPr lang="en-US" sz="3200" dirty="0"/>
          </a:p>
          <a:p>
            <a:pPr marL="0" indent="0">
              <a:buNone/>
            </a:pPr>
            <a:r>
              <a:rPr lang="en-US" sz="3200" b="1" dirty="0">
                <a:solidFill>
                  <a:srgbClr val="173B66"/>
                </a:solidFill>
                <a:latin typeface="Aptos Display" pitchFamily="34" charset="0"/>
                <a:ea typeface="Aptos Display" pitchFamily="34" charset="-122"/>
                <a:cs typeface="Aptos Display" pitchFamily="34" charset="-120"/>
              </a:rPr>
              <a:t>and L2 Text Memory</a:t>
            </a:r>
            <a:endParaRPr lang="en-US" sz="3200" dirty="0"/>
          </a:p>
        </p:txBody>
      </p:sp>
      <p:sp>
        <p:nvSpPr>
          <p:cNvPr id="6" name="Text 3"/>
          <p:cNvSpPr/>
          <p:nvPr/>
        </p:nvSpPr>
        <p:spPr>
          <a:xfrm>
            <a:off x="621792" y="2651760"/>
            <a:ext cx="4937760" cy="530352"/>
          </a:xfrm>
          <a:prstGeom prst="rect">
            <a:avLst/>
          </a:prstGeom>
          <a:noFill/>
          <a:ln/>
        </p:spPr>
        <p:txBody>
          <a:bodyPr wrap="square" lIns="254" tIns="254" rIns="254" bIns="254" rtlCol="0" anchor="ctr">
            <a:normAutofit/>
          </a:bodyPr>
          <a:lstStyle/>
          <a:p>
            <a:pPr marL="0" indent="0">
              <a:buNone/>
            </a:pPr>
            <a:r>
              <a:rPr lang="en-US" sz="1450" dirty="0">
                <a:solidFill>
                  <a:srgbClr val="5B677A"/>
                </a:solidFill>
              </a:rPr>
              <a:t>语言线索如何影响 AI 作者身份判断，以及 AI / 人类文本在英文二语阅读中的记忆差异</a:t>
            </a:r>
            <a:endParaRPr lang="en-US" sz="1450" dirty="0"/>
          </a:p>
        </p:txBody>
      </p:sp>
      <p:sp>
        <p:nvSpPr>
          <p:cNvPr id="7" name="Shape 4"/>
          <p:cNvSpPr/>
          <p:nvPr/>
        </p:nvSpPr>
        <p:spPr>
          <a:xfrm>
            <a:off x="621792" y="3429000"/>
            <a:ext cx="3749040" cy="301752"/>
          </a:xfrm>
          <a:prstGeom prst="roundRect">
            <a:avLst>
              <a:gd name="adj" fmla="val 24242"/>
            </a:avLst>
          </a:prstGeom>
          <a:solidFill>
            <a:srgbClr val="2B6CB0"/>
          </a:solidFill>
          <a:ln w="12700">
            <a:solidFill>
              <a:srgbClr val="333333">
                <a:alpha val="0"/>
              </a:srgbClr>
            </a:solidFill>
            <a:prstDash val="solid"/>
          </a:ln>
        </p:spPr>
      </p:sp>
      <p:sp>
        <p:nvSpPr>
          <p:cNvPr id="8" name="Text 5"/>
          <p:cNvSpPr/>
          <p:nvPr/>
        </p:nvSpPr>
        <p:spPr>
          <a:xfrm>
            <a:off x="713232" y="3493008"/>
            <a:ext cx="3566160" cy="137160"/>
          </a:xfrm>
          <a:prstGeom prst="rect">
            <a:avLst/>
          </a:prstGeom>
          <a:noFill/>
          <a:ln/>
        </p:spPr>
        <p:txBody>
          <a:bodyPr wrap="square" lIns="0" tIns="0" rIns="0" bIns="0" rtlCol="0" anchor="ctr"/>
          <a:lstStyle/>
          <a:p>
            <a:pPr marL="0" indent="0" algn="ctr">
              <a:buNone/>
            </a:pPr>
            <a:r>
              <a:rPr lang="en-US" sz="850" b="1" dirty="0">
                <a:solidFill>
                  <a:srgbClr val="FFFFFF"/>
                </a:solidFill>
              </a:rPr>
              <a:t>psycholinguistics · L2 reading · working memory</a:t>
            </a:r>
            <a:endParaRPr lang="en-US" sz="850" dirty="0"/>
          </a:p>
        </p:txBody>
      </p:sp>
      <p:sp>
        <p:nvSpPr>
          <p:cNvPr id="9" name="Text 6"/>
          <p:cNvSpPr/>
          <p:nvPr/>
        </p:nvSpPr>
        <p:spPr>
          <a:xfrm>
            <a:off x="621792" y="5989320"/>
            <a:ext cx="3291840" cy="274320"/>
          </a:xfrm>
          <a:prstGeom prst="rect">
            <a:avLst/>
          </a:prstGeom>
          <a:noFill/>
          <a:ln/>
        </p:spPr>
        <p:txBody>
          <a:bodyPr wrap="square" lIns="0" tIns="0" rIns="0" bIns="0" rtlCol="0" anchor="ctr"/>
          <a:lstStyle/>
          <a:p>
            <a:pPr marL="0" indent="0">
              <a:buNone/>
            </a:pPr>
            <a:r>
              <a:rPr lang="en-US" sz="1100" dirty="0">
                <a:solidFill>
                  <a:srgbClr val="5B677A"/>
                </a:solidFill>
              </a:rPr>
              <a:t>Research Proposal Presentation</a:t>
            </a:r>
            <a:endParaRPr lang="en-US" sz="1100" dirty="0"/>
          </a:p>
        </p:txBody>
      </p:sp>
      <p:sp>
        <p:nvSpPr>
          <p:cNvPr id="10" name="Text 7"/>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Why this is a psycholinguistic question</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研究对象不是 AI 工具，而是读者的语言加工与作者身份推断</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pic>
        <p:nvPicPr>
          <p:cNvPr id="6" name="Image 0" descr="/mnt/data/a_wide_clean_digital_illustration_concept_art_s.png"/>
          <p:cNvPicPr>
            <a:picLocks noChangeAspect="1"/>
          </p:cNvPicPr>
          <p:nvPr/>
        </p:nvPicPr>
        <p:blipFill>
          <a:blip r:embed="rId3"/>
          <a:srcRect l="20520" r="20520"/>
          <a:stretch/>
        </p:blipFill>
        <p:spPr>
          <a:xfrm>
            <a:off x="502920" y="1417320"/>
            <a:ext cx="5029200" cy="4800600"/>
          </a:xfrm>
          <a:prstGeom prst="rect">
            <a:avLst/>
          </a:prstGeom>
        </p:spPr>
      </p:pic>
      <p:sp>
        <p:nvSpPr>
          <p:cNvPr id="7" name="Shape 4"/>
          <p:cNvSpPr/>
          <p:nvPr/>
        </p:nvSpPr>
        <p:spPr>
          <a:xfrm>
            <a:off x="5897880" y="1417320"/>
            <a:ext cx="5440680" cy="4572000"/>
          </a:xfrm>
          <a:prstGeom prst="rect">
            <a:avLst/>
          </a:prstGeom>
          <a:solidFill>
            <a:srgbClr val="FFFFFF"/>
          </a:solidFill>
          <a:ln w="12700">
            <a:solidFill>
              <a:srgbClr val="CFE0F2">
                <a:alpha val="50000"/>
              </a:srgbClr>
            </a:solidFill>
            <a:prstDash val="solid"/>
          </a:ln>
        </p:spPr>
      </p:sp>
      <p:sp>
        <p:nvSpPr>
          <p:cNvPr id="8" name="Text 5"/>
          <p:cNvSpPr/>
          <p:nvPr/>
        </p:nvSpPr>
        <p:spPr>
          <a:xfrm>
            <a:off x="6172200" y="1691640"/>
            <a:ext cx="2194560" cy="292608"/>
          </a:xfrm>
          <a:prstGeom prst="rect">
            <a:avLst/>
          </a:prstGeom>
          <a:noFill/>
          <a:ln/>
        </p:spPr>
        <p:txBody>
          <a:bodyPr wrap="square" lIns="0" tIns="0" rIns="0" bIns="0" rtlCol="0" anchor="ctr"/>
          <a:lstStyle/>
          <a:p>
            <a:pPr marL="0" indent="0">
              <a:buNone/>
            </a:pPr>
            <a:r>
              <a:rPr lang="en-US" sz="1700" b="1" dirty="0">
                <a:solidFill>
                  <a:srgbClr val="173B66"/>
                </a:solidFill>
              </a:rPr>
              <a:t>Core framing</a:t>
            </a:r>
            <a:endParaRPr lang="en-US" sz="1700" dirty="0"/>
          </a:p>
        </p:txBody>
      </p:sp>
      <p:sp>
        <p:nvSpPr>
          <p:cNvPr id="9" name="Text 6"/>
          <p:cNvSpPr/>
          <p:nvPr/>
        </p:nvSpPr>
        <p:spPr>
          <a:xfrm>
            <a:off x="6217920" y="2240280"/>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10" name="Text 7"/>
          <p:cNvSpPr/>
          <p:nvPr/>
        </p:nvSpPr>
        <p:spPr>
          <a:xfrm>
            <a:off x="6473952" y="2240280"/>
            <a:ext cx="4526280" cy="411480"/>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Reading is not only decoding words; readers also infer voice, intention, and source.</a:t>
            </a:r>
            <a:endParaRPr lang="en-US" sz="1300" dirty="0"/>
          </a:p>
        </p:txBody>
      </p:sp>
      <p:sp>
        <p:nvSpPr>
          <p:cNvPr id="11" name="Text 8"/>
          <p:cNvSpPr/>
          <p:nvPr/>
        </p:nvSpPr>
        <p:spPr>
          <a:xfrm>
            <a:off x="6217920" y="2907792"/>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12" name="Text 9"/>
          <p:cNvSpPr/>
          <p:nvPr/>
        </p:nvSpPr>
        <p:spPr>
          <a:xfrm>
            <a:off x="6473952" y="2907792"/>
            <a:ext cx="4526280" cy="475488"/>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“AI‑like” may be a perception created by fluency, regular structure, low emotion, and weak personal voice.</a:t>
            </a:r>
            <a:endParaRPr lang="en-US" sz="1300" dirty="0"/>
          </a:p>
        </p:txBody>
      </p:sp>
      <p:sp>
        <p:nvSpPr>
          <p:cNvPr id="13" name="Text 10"/>
          <p:cNvSpPr/>
          <p:nvPr/>
        </p:nvSpPr>
        <p:spPr>
          <a:xfrm>
            <a:off x="6217920" y="3639312"/>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14" name="Text 11"/>
          <p:cNvSpPr/>
          <p:nvPr/>
        </p:nvSpPr>
        <p:spPr>
          <a:xfrm>
            <a:off x="6473952" y="3639312"/>
            <a:ext cx="4526280" cy="411480"/>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In L2 reading, these cues may also affect encoding, working memory, and later recall.</a:t>
            </a:r>
            <a:endParaRPr lang="en-US" sz="1300" dirty="0"/>
          </a:p>
        </p:txBody>
      </p:sp>
      <p:sp>
        <p:nvSpPr>
          <p:cNvPr id="15" name="Shape 12"/>
          <p:cNvSpPr/>
          <p:nvPr/>
        </p:nvSpPr>
        <p:spPr>
          <a:xfrm>
            <a:off x="6172200" y="4370832"/>
            <a:ext cx="4572000" cy="0"/>
          </a:xfrm>
          <a:prstGeom prst="line">
            <a:avLst/>
          </a:prstGeom>
          <a:noFill/>
          <a:ln w="12700">
            <a:solidFill>
              <a:srgbClr val="CFE0F2"/>
            </a:solidFill>
            <a:prstDash val="solid"/>
          </a:ln>
        </p:spPr>
      </p:sp>
      <p:sp>
        <p:nvSpPr>
          <p:cNvPr id="16" name="Text 13"/>
          <p:cNvSpPr/>
          <p:nvPr/>
        </p:nvSpPr>
        <p:spPr>
          <a:xfrm>
            <a:off x="6172200" y="4645152"/>
            <a:ext cx="2286000" cy="256032"/>
          </a:xfrm>
          <a:prstGeom prst="rect">
            <a:avLst/>
          </a:prstGeom>
          <a:noFill/>
          <a:ln/>
        </p:spPr>
        <p:txBody>
          <a:bodyPr wrap="square" lIns="0" tIns="0" rIns="0" bIns="0" rtlCol="0" anchor="ctr"/>
          <a:lstStyle/>
          <a:p>
            <a:pPr marL="0" indent="0">
              <a:buNone/>
            </a:pPr>
            <a:r>
              <a:rPr lang="en-US" sz="1350" b="1" dirty="0">
                <a:solidFill>
                  <a:srgbClr val="2B6CB0"/>
                </a:solidFill>
              </a:rPr>
              <a:t>心理语言学连接点</a:t>
            </a:r>
            <a:endParaRPr lang="en-US" sz="1350" dirty="0"/>
          </a:p>
        </p:txBody>
      </p:sp>
      <p:sp>
        <p:nvSpPr>
          <p:cNvPr id="17" name="Text 14"/>
          <p:cNvSpPr/>
          <p:nvPr/>
        </p:nvSpPr>
        <p:spPr>
          <a:xfrm>
            <a:off x="6172200" y="5010912"/>
            <a:ext cx="4709160" cy="411480"/>
          </a:xfrm>
          <a:prstGeom prst="rect">
            <a:avLst/>
          </a:prstGeom>
          <a:noFill/>
          <a:ln/>
        </p:spPr>
        <p:txBody>
          <a:bodyPr wrap="square" lIns="254" tIns="254" rIns="254" bIns="254" rtlCol="0" anchor="ctr">
            <a:normAutofit/>
          </a:bodyPr>
          <a:lstStyle/>
          <a:p>
            <a:pPr marL="0" indent="0">
              <a:buNone/>
            </a:pPr>
            <a:r>
              <a:rPr lang="en-US" sz="1250" dirty="0">
                <a:solidFill>
                  <a:srgbClr val="1E293B"/>
                </a:solidFill>
              </a:rPr>
              <a:t>language perception · reading comprehension · pragmatics · second‑language memory</a:t>
            </a:r>
            <a:endParaRPr lang="en-US" sz="1250" dirty="0"/>
          </a:p>
        </p:txBody>
      </p:sp>
      <p:sp>
        <p:nvSpPr>
          <p:cNvPr id="18" name="Text 15"/>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Research questions and variables</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从“能不能识别 AI”推进到“依赖什么语言线索，以及是否影响二语记忆”</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Text 4"/>
          <p:cNvSpPr/>
          <p:nvPr/>
        </p:nvSpPr>
        <p:spPr>
          <a:xfrm>
            <a:off x="777240" y="1417320"/>
            <a:ext cx="640080" cy="256032"/>
          </a:xfrm>
          <a:prstGeom prst="rect">
            <a:avLst/>
          </a:prstGeom>
          <a:noFill/>
          <a:ln/>
        </p:spPr>
        <p:txBody>
          <a:bodyPr wrap="square" lIns="0" tIns="0" rIns="0" bIns="0" rtlCol="0" anchor="ctr"/>
          <a:lstStyle/>
          <a:p>
            <a:pPr marL="0" indent="0">
              <a:buNone/>
            </a:pPr>
            <a:r>
              <a:rPr lang="en-US" sz="1400" b="1" dirty="0">
                <a:solidFill>
                  <a:srgbClr val="2B6CB0"/>
                </a:solidFill>
              </a:rPr>
              <a:t>RQ1</a:t>
            </a:r>
            <a:endParaRPr lang="en-US" sz="1400" dirty="0"/>
          </a:p>
        </p:txBody>
      </p:sp>
      <p:sp>
        <p:nvSpPr>
          <p:cNvPr id="7" name="Text 5"/>
          <p:cNvSpPr/>
          <p:nvPr/>
        </p:nvSpPr>
        <p:spPr>
          <a:xfrm>
            <a:off x="1463040" y="1353312"/>
            <a:ext cx="8961120" cy="411480"/>
          </a:xfrm>
          <a:prstGeom prst="rect">
            <a:avLst/>
          </a:prstGeom>
          <a:noFill/>
          <a:ln/>
        </p:spPr>
        <p:txBody>
          <a:bodyPr wrap="square" lIns="0" tIns="0" rIns="0" bIns="0" rtlCol="0" anchor="ctr">
            <a:normAutofit/>
          </a:bodyPr>
          <a:lstStyle/>
          <a:p>
            <a:pPr marL="0" indent="0">
              <a:buNone/>
            </a:pPr>
            <a:r>
              <a:rPr lang="en-US" sz="2000" b="1" dirty="0">
                <a:solidFill>
                  <a:srgbClr val="173B66"/>
                </a:solidFill>
              </a:rPr>
              <a:t>Which linguistic cues make an English text sound AI‑generated to bilingual readers?</a:t>
            </a:r>
            <a:endParaRPr lang="en-US" sz="2000" dirty="0"/>
          </a:p>
        </p:txBody>
      </p:sp>
      <p:sp>
        <p:nvSpPr>
          <p:cNvPr id="8" name="Text 6"/>
          <p:cNvSpPr/>
          <p:nvPr/>
        </p:nvSpPr>
        <p:spPr>
          <a:xfrm>
            <a:off x="777240" y="2240280"/>
            <a:ext cx="640080" cy="256032"/>
          </a:xfrm>
          <a:prstGeom prst="rect">
            <a:avLst/>
          </a:prstGeom>
          <a:noFill/>
          <a:ln/>
        </p:spPr>
        <p:txBody>
          <a:bodyPr wrap="square" lIns="0" tIns="0" rIns="0" bIns="0" rtlCol="0" anchor="ctr"/>
          <a:lstStyle/>
          <a:p>
            <a:pPr marL="0" indent="0">
              <a:buNone/>
            </a:pPr>
            <a:r>
              <a:rPr lang="en-US" sz="1400" b="1" dirty="0">
                <a:solidFill>
                  <a:srgbClr val="2B6CB0"/>
                </a:solidFill>
              </a:rPr>
              <a:t>RQ2</a:t>
            </a:r>
            <a:endParaRPr lang="en-US" sz="1400" dirty="0"/>
          </a:p>
        </p:txBody>
      </p:sp>
      <p:sp>
        <p:nvSpPr>
          <p:cNvPr id="9" name="Text 7"/>
          <p:cNvSpPr/>
          <p:nvPr/>
        </p:nvSpPr>
        <p:spPr>
          <a:xfrm>
            <a:off x="1463040" y="2176272"/>
            <a:ext cx="8961120" cy="411480"/>
          </a:xfrm>
          <a:prstGeom prst="rect">
            <a:avLst/>
          </a:prstGeom>
          <a:noFill/>
          <a:ln/>
        </p:spPr>
        <p:txBody>
          <a:bodyPr wrap="square" lIns="0" tIns="0" rIns="0" bIns="0" rtlCol="0" anchor="ctr">
            <a:normAutofit/>
          </a:bodyPr>
          <a:lstStyle/>
          <a:p>
            <a:pPr marL="0" indent="0">
              <a:buNone/>
            </a:pPr>
            <a:r>
              <a:rPr lang="en-US" sz="2000" b="1" dirty="0">
                <a:solidFill>
                  <a:srgbClr val="173B66"/>
                </a:solidFill>
              </a:rPr>
              <a:t>Do AI‑generated and human‑written texts differ in L2 memory encoding?</a:t>
            </a:r>
            <a:endParaRPr lang="en-US" sz="2000" dirty="0"/>
          </a:p>
        </p:txBody>
      </p:sp>
      <p:sp>
        <p:nvSpPr>
          <p:cNvPr id="10" name="Shape 8"/>
          <p:cNvSpPr/>
          <p:nvPr/>
        </p:nvSpPr>
        <p:spPr>
          <a:xfrm>
            <a:off x="868680" y="3657600"/>
            <a:ext cx="2651760" cy="914400"/>
          </a:xfrm>
          <a:prstGeom prst="roundRect">
            <a:avLst>
              <a:gd name="adj" fmla="val 8000"/>
            </a:avLst>
          </a:prstGeom>
          <a:solidFill>
            <a:srgbClr val="EAF4FF"/>
          </a:solidFill>
          <a:ln w="12700">
            <a:solidFill>
              <a:srgbClr val="CFE0F2"/>
            </a:solidFill>
            <a:prstDash val="solid"/>
          </a:ln>
        </p:spPr>
      </p:sp>
      <p:sp>
        <p:nvSpPr>
          <p:cNvPr id="11" name="Text 9"/>
          <p:cNvSpPr/>
          <p:nvPr/>
        </p:nvSpPr>
        <p:spPr>
          <a:xfrm>
            <a:off x="1005840" y="3803904"/>
            <a:ext cx="2377440" cy="201168"/>
          </a:xfrm>
          <a:prstGeom prst="rect">
            <a:avLst/>
          </a:prstGeom>
          <a:noFill/>
          <a:ln/>
        </p:spPr>
        <p:txBody>
          <a:bodyPr wrap="square" lIns="0" tIns="0" rIns="0" bIns="0" rtlCol="0" anchor="ctr"/>
          <a:lstStyle/>
          <a:p>
            <a:pPr marL="0" indent="0">
              <a:buNone/>
            </a:pPr>
            <a:r>
              <a:rPr lang="en-US" sz="1200" b="1" dirty="0">
                <a:solidFill>
                  <a:srgbClr val="2B6CB0"/>
                </a:solidFill>
              </a:rPr>
              <a:t>Independent variable</a:t>
            </a:r>
            <a:endParaRPr lang="en-US" sz="1200" dirty="0"/>
          </a:p>
        </p:txBody>
      </p:sp>
      <p:sp>
        <p:nvSpPr>
          <p:cNvPr id="12" name="Text 10"/>
          <p:cNvSpPr/>
          <p:nvPr/>
        </p:nvSpPr>
        <p:spPr>
          <a:xfrm>
            <a:off x="1005840" y="4069080"/>
            <a:ext cx="2377440" cy="320040"/>
          </a:xfrm>
          <a:prstGeom prst="rect">
            <a:avLst/>
          </a:prstGeom>
          <a:noFill/>
          <a:ln/>
        </p:spPr>
        <p:txBody>
          <a:bodyPr wrap="square" lIns="0" tIns="0" rIns="0" bIns="0" rtlCol="0" anchor="ctr">
            <a:normAutofit/>
          </a:bodyPr>
          <a:lstStyle/>
          <a:p>
            <a:pPr marL="0" indent="0">
              <a:buNone/>
            </a:pPr>
            <a:r>
              <a:rPr lang="en-US" sz="1400" dirty="0">
                <a:solidFill>
                  <a:srgbClr val="173B66"/>
                </a:solidFill>
              </a:rPr>
              <a:t>Text type</a:t>
            </a:r>
            <a:endParaRPr lang="en-US" sz="1400" dirty="0"/>
          </a:p>
          <a:p>
            <a:pPr marL="0" indent="0">
              <a:buNone/>
            </a:pPr>
            <a:r>
              <a:rPr lang="en-US" sz="1400" dirty="0">
                <a:solidFill>
                  <a:srgbClr val="173B66"/>
                </a:solidFill>
              </a:rPr>
              <a:t>Human / AI / Hybrid</a:t>
            </a:r>
            <a:endParaRPr lang="en-US" sz="1400" dirty="0"/>
          </a:p>
        </p:txBody>
      </p:sp>
      <p:sp>
        <p:nvSpPr>
          <p:cNvPr id="13" name="Shape 11"/>
          <p:cNvSpPr/>
          <p:nvPr/>
        </p:nvSpPr>
        <p:spPr>
          <a:xfrm>
            <a:off x="3703320" y="3858768"/>
            <a:ext cx="822960" cy="411480"/>
          </a:xfrm>
          <a:prstGeom prst="rightArrow">
            <a:avLst/>
          </a:prstGeom>
          <a:solidFill>
            <a:srgbClr val="2B6CB0">
              <a:alpha val="90000"/>
            </a:srgbClr>
          </a:solidFill>
          <a:ln w="12700">
            <a:solidFill>
              <a:srgbClr val="333333">
                <a:alpha val="0"/>
              </a:srgbClr>
            </a:solidFill>
            <a:prstDash val="solid"/>
          </a:ln>
        </p:spPr>
      </p:sp>
      <p:sp>
        <p:nvSpPr>
          <p:cNvPr id="14" name="Shape 12"/>
          <p:cNvSpPr/>
          <p:nvPr/>
        </p:nvSpPr>
        <p:spPr>
          <a:xfrm>
            <a:off x="4709160" y="3657600"/>
            <a:ext cx="2743200" cy="914400"/>
          </a:xfrm>
          <a:prstGeom prst="roundRect">
            <a:avLst>
              <a:gd name="adj" fmla="val 8000"/>
            </a:avLst>
          </a:prstGeom>
          <a:solidFill>
            <a:srgbClr val="FFFFFF"/>
          </a:solidFill>
          <a:ln w="12700">
            <a:solidFill>
              <a:srgbClr val="CFE0F2"/>
            </a:solidFill>
            <a:prstDash val="solid"/>
          </a:ln>
        </p:spPr>
      </p:sp>
      <p:sp>
        <p:nvSpPr>
          <p:cNvPr id="15" name="Text 13"/>
          <p:cNvSpPr/>
          <p:nvPr/>
        </p:nvSpPr>
        <p:spPr>
          <a:xfrm>
            <a:off x="4846320" y="3803904"/>
            <a:ext cx="2377440" cy="201168"/>
          </a:xfrm>
          <a:prstGeom prst="rect">
            <a:avLst/>
          </a:prstGeom>
          <a:noFill/>
          <a:ln/>
        </p:spPr>
        <p:txBody>
          <a:bodyPr wrap="square" lIns="0" tIns="0" rIns="0" bIns="0" rtlCol="0" anchor="ctr"/>
          <a:lstStyle/>
          <a:p>
            <a:pPr marL="0" indent="0">
              <a:buNone/>
            </a:pPr>
            <a:r>
              <a:rPr lang="en-US" sz="1200" b="1" dirty="0">
                <a:solidFill>
                  <a:srgbClr val="C07634"/>
                </a:solidFill>
              </a:rPr>
              <a:t>Mediating cues</a:t>
            </a:r>
            <a:endParaRPr lang="en-US" sz="1200" dirty="0"/>
          </a:p>
        </p:txBody>
      </p:sp>
      <p:sp>
        <p:nvSpPr>
          <p:cNvPr id="16" name="Text 14"/>
          <p:cNvSpPr/>
          <p:nvPr/>
        </p:nvSpPr>
        <p:spPr>
          <a:xfrm>
            <a:off x="4846320" y="4096512"/>
            <a:ext cx="2286000" cy="274320"/>
          </a:xfrm>
          <a:prstGeom prst="rect">
            <a:avLst/>
          </a:prstGeom>
          <a:noFill/>
          <a:ln/>
        </p:spPr>
        <p:txBody>
          <a:bodyPr wrap="square" lIns="0" tIns="0" rIns="0" bIns="0" rtlCol="0" anchor="ctr">
            <a:normAutofit/>
          </a:bodyPr>
          <a:lstStyle/>
          <a:p>
            <a:pPr marL="0" indent="0">
              <a:buNone/>
            </a:pPr>
            <a:r>
              <a:rPr lang="en-US" sz="1350" dirty="0">
                <a:solidFill>
                  <a:srgbClr val="1E293B"/>
                </a:solidFill>
              </a:rPr>
              <a:t>fluency · structure · emotion · voice</a:t>
            </a:r>
            <a:endParaRPr lang="en-US" sz="1350" dirty="0"/>
          </a:p>
        </p:txBody>
      </p:sp>
      <p:sp>
        <p:nvSpPr>
          <p:cNvPr id="17" name="Shape 15"/>
          <p:cNvSpPr/>
          <p:nvPr/>
        </p:nvSpPr>
        <p:spPr>
          <a:xfrm>
            <a:off x="7635240" y="3858768"/>
            <a:ext cx="822960" cy="411480"/>
          </a:xfrm>
          <a:prstGeom prst="rightArrow">
            <a:avLst/>
          </a:prstGeom>
          <a:solidFill>
            <a:srgbClr val="2B6CB0">
              <a:alpha val="90000"/>
            </a:srgbClr>
          </a:solidFill>
          <a:ln w="12700">
            <a:solidFill>
              <a:srgbClr val="333333">
                <a:alpha val="0"/>
              </a:srgbClr>
            </a:solidFill>
            <a:prstDash val="solid"/>
          </a:ln>
        </p:spPr>
      </p:sp>
      <p:sp>
        <p:nvSpPr>
          <p:cNvPr id="18" name="Shape 16"/>
          <p:cNvSpPr/>
          <p:nvPr/>
        </p:nvSpPr>
        <p:spPr>
          <a:xfrm>
            <a:off x="8641080" y="3657600"/>
            <a:ext cx="2697480" cy="914400"/>
          </a:xfrm>
          <a:prstGeom prst="roundRect">
            <a:avLst>
              <a:gd name="adj" fmla="val 8000"/>
            </a:avLst>
          </a:prstGeom>
          <a:solidFill>
            <a:srgbClr val="FFF9EF"/>
          </a:solidFill>
          <a:ln w="12700">
            <a:solidFill>
              <a:srgbClr val="F2D2AA"/>
            </a:solidFill>
            <a:prstDash val="solid"/>
          </a:ln>
        </p:spPr>
      </p:sp>
      <p:sp>
        <p:nvSpPr>
          <p:cNvPr id="19" name="Text 17"/>
          <p:cNvSpPr/>
          <p:nvPr/>
        </p:nvSpPr>
        <p:spPr>
          <a:xfrm>
            <a:off x="8778240" y="3803904"/>
            <a:ext cx="2377440" cy="201168"/>
          </a:xfrm>
          <a:prstGeom prst="rect">
            <a:avLst/>
          </a:prstGeom>
          <a:noFill/>
          <a:ln/>
        </p:spPr>
        <p:txBody>
          <a:bodyPr wrap="square" lIns="0" tIns="0" rIns="0" bIns="0" rtlCol="0" anchor="ctr"/>
          <a:lstStyle/>
          <a:p>
            <a:pPr marL="0" indent="0">
              <a:buNone/>
            </a:pPr>
            <a:r>
              <a:rPr lang="en-US" sz="1200" b="1" dirty="0">
                <a:solidFill>
                  <a:srgbClr val="C07634"/>
                </a:solidFill>
              </a:rPr>
              <a:t>Dependent variables</a:t>
            </a:r>
            <a:endParaRPr lang="en-US" sz="1200" dirty="0"/>
          </a:p>
        </p:txBody>
      </p:sp>
      <p:sp>
        <p:nvSpPr>
          <p:cNvPr id="20" name="Text 18"/>
          <p:cNvSpPr/>
          <p:nvPr/>
        </p:nvSpPr>
        <p:spPr>
          <a:xfrm>
            <a:off x="8778240" y="4087368"/>
            <a:ext cx="2240280" cy="292608"/>
          </a:xfrm>
          <a:prstGeom prst="rect">
            <a:avLst/>
          </a:prstGeom>
          <a:noFill/>
          <a:ln/>
        </p:spPr>
        <p:txBody>
          <a:bodyPr wrap="square" lIns="0" tIns="0" rIns="0" bIns="0" rtlCol="0" anchor="ctr">
            <a:normAutofit/>
          </a:bodyPr>
          <a:lstStyle/>
          <a:p>
            <a:pPr marL="0" indent="0">
              <a:buNone/>
            </a:pPr>
            <a:r>
              <a:rPr lang="en-US" sz="1350" dirty="0">
                <a:solidFill>
                  <a:srgbClr val="1E293B"/>
                </a:solidFill>
              </a:rPr>
              <a:t>judgment accuracy · memory accuracy · RT</a:t>
            </a:r>
            <a:endParaRPr lang="en-US" sz="1350" dirty="0"/>
          </a:p>
        </p:txBody>
      </p:sp>
      <p:sp>
        <p:nvSpPr>
          <p:cNvPr id="21" name="Text 19"/>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Stimulus materials: paired and controlled texts</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控制材料是整个实验可信度的关键</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Text 4"/>
          <p:cNvSpPr/>
          <p:nvPr/>
        </p:nvSpPr>
        <p:spPr>
          <a:xfrm>
            <a:off x="685800" y="1417320"/>
            <a:ext cx="3840480" cy="329184"/>
          </a:xfrm>
          <a:prstGeom prst="rect">
            <a:avLst/>
          </a:prstGeom>
          <a:noFill/>
          <a:ln/>
        </p:spPr>
        <p:txBody>
          <a:bodyPr wrap="square" lIns="0" tIns="0" rIns="0" bIns="0" rtlCol="0" anchor="ctr"/>
          <a:lstStyle/>
          <a:p>
            <a:pPr marL="0" indent="0">
              <a:buNone/>
            </a:pPr>
            <a:r>
              <a:rPr lang="en-US" sz="1900" b="1" dirty="0">
                <a:solidFill>
                  <a:srgbClr val="173B66"/>
                </a:solidFill>
              </a:rPr>
              <a:t>One content base → matched versions</a:t>
            </a:r>
            <a:endParaRPr lang="en-US" sz="1900" dirty="0"/>
          </a:p>
        </p:txBody>
      </p:sp>
      <p:sp>
        <p:nvSpPr>
          <p:cNvPr id="7" name="Shape 5"/>
          <p:cNvSpPr/>
          <p:nvPr/>
        </p:nvSpPr>
        <p:spPr>
          <a:xfrm>
            <a:off x="777240" y="1984248"/>
            <a:ext cx="475488" cy="475488"/>
          </a:xfrm>
          <a:prstGeom prst="ellipse">
            <a:avLst/>
          </a:prstGeom>
          <a:solidFill>
            <a:srgbClr val="2B6CB0"/>
          </a:solidFill>
          <a:ln w="12700">
            <a:solidFill>
              <a:srgbClr val="333333">
                <a:alpha val="0"/>
              </a:srgbClr>
            </a:solidFill>
            <a:prstDash val="solid"/>
          </a:ln>
        </p:spPr>
      </p:sp>
      <p:sp>
        <p:nvSpPr>
          <p:cNvPr id="8" name="Text 6"/>
          <p:cNvSpPr/>
          <p:nvPr/>
        </p:nvSpPr>
        <p:spPr>
          <a:xfrm>
            <a:off x="777240" y="2084832"/>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9" name="Text 7"/>
          <p:cNvSpPr/>
          <p:nvPr/>
        </p:nvSpPr>
        <p:spPr>
          <a:xfrm>
            <a:off x="1417320" y="1965960"/>
            <a:ext cx="3931920" cy="256032"/>
          </a:xfrm>
          <a:prstGeom prst="rect">
            <a:avLst/>
          </a:prstGeom>
          <a:noFill/>
          <a:ln/>
        </p:spPr>
        <p:txBody>
          <a:bodyPr wrap="square" lIns="0" tIns="0" rIns="0" bIns="0" rtlCol="0" anchor="ctr"/>
          <a:lstStyle/>
          <a:p>
            <a:pPr marL="0" indent="0">
              <a:buNone/>
            </a:pPr>
            <a:r>
              <a:rPr lang="en-US" sz="1500" b="1" dirty="0">
                <a:solidFill>
                  <a:srgbClr val="173B66"/>
                </a:solidFill>
              </a:rPr>
              <a:t>Human baseline</a:t>
            </a:r>
            <a:endParaRPr lang="en-US" sz="1500" dirty="0"/>
          </a:p>
        </p:txBody>
      </p:sp>
      <p:sp>
        <p:nvSpPr>
          <p:cNvPr id="10" name="Text 8"/>
          <p:cNvSpPr/>
          <p:nvPr/>
        </p:nvSpPr>
        <p:spPr>
          <a:xfrm>
            <a:off x="1417320" y="2304288"/>
            <a:ext cx="3931920" cy="420624"/>
          </a:xfrm>
          <a:prstGeom prst="rect">
            <a:avLst/>
          </a:prstGeom>
          <a:noFill/>
          <a:ln/>
        </p:spPr>
        <p:txBody>
          <a:bodyPr wrap="square" lIns="254" tIns="254" rIns="254" bIns="254" rtlCol="0" anchor="ctr">
            <a:normAutofit/>
          </a:bodyPr>
          <a:lstStyle/>
          <a:p>
            <a:pPr marL="0" indent="0">
              <a:buNone/>
            </a:pPr>
            <a:r>
              <a:rPr lang="en-US" sz="1080" dirty="0">
                <a:solidFill>
                  <a:srgbClr val="5B677A"/>
                </a:solidFill>
              </a:rPr>
              <a:t>Write / collect short student-style English paragraphs on neutral topics.</a:t>
            </a:r>
            <a:endParaRPr lang="en-US" sz="1080" dirty="0"/>
          </a:p>
        </p:txBody>
      </p:sp>
      <p:sp>
        <p:nvSpPr>
          <p:cNvPr id="11" name="Shape 9"/>
          <p:cNvSpPr/>
          <p:nvPr/>
        </p:nvSpPr>
        <p:spPr>
          <a:xfrm>
            <a:off x="777240" y="2990088"/>
            <a:ext cx="475488" cy="475488"/>
          </a:xfrm>
          <a:prstGeom prst="ellipse">
            <a:avLst/>
          </a:prstGeom>
          <a:solidFill>
            <a:srgbClr val="2B6CB0"/>
          </a:solidFill>
          <a:ln w="12700">
            <a:solidFill>
              <a:srgbClr val="333333">
                <a:alpha val="0"/>
              </a:srgbClr>
            </a:solidFill>
            <a:prstDash val="solid"/>
          </a:ln>
        </p:spPr>
      </p:sp>
      <p:sp>
        <p:nvSpPr>
          <p:cNvPr id="12" name="Text 10"/>
          <p:cNvSpPr/>
          <p:nvPr/>
        </p:nvSpPr>
        <p:spPr>
          <a:xfrm>
            <a:off x="777240" y="3090672"/>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1417320" y="2971800"/>
            <a:ext cx="3931920" cy="256032"/>
          </a:xfrm>
          <a:prstGeom prst="rect">
            <a:avLst/>
          </a:prstGeom>
          <a:noFill/>
          <a:ln/>
        </p:spPr>
        <p:txBody>
          <a:bodyPr wrap="square" lIns="0" tIns="0" rIns="0" bIns="0" rtlCol="0" anchor="ctr"/>
          <a:lstStyle/>
          <a:p>
            <a:pPr marL="0" indent="0">
              <a:buNone/>
            </a:pPr>
            <a:r>
              <a:rPr lang="en-US" sz="1500" b="1" dirty="0">
                <a:solidFill>
                  <a:srgbClr val="173B66"/>
                </a:solidFill>
              </a:rPr>
              <a:t>AI-generated version</a:t>
            </a:r>
            <a:endParaRPr lang="en-US" sz="1500" dirty="0"/>
          </a:p>
        </p:txBody>
      </p:sp>
      <p:sp>
        <p:nvSpPr>
          <p:cNvPr id="14" name="Text 12"/>
          <p:cNvSpPr/>
          <p:nvPr/>
        </p:nvSpPr>
        <p:spPr>
          <a:xfrm>
            <a:off x="1417320" y="3310128"/>
            <a:ext cx="3931920" cy="420624"/>
          </a:xfrm>
          <a:prstGeom prst="rect">
            <a:avLst/>
          </a:prstGeom>
          <a:noFill/>
          <a:ln/>
        </p:spPr>
        <p:txBody>
          <a:bodyPr wrap="square" lIns="254" tIns="254" rIns="254" bIns="254" rtlCol="0" anchor="ctr">
            <a:normAutofit/>
          </a:bodyPr>
          <a:lstStyle/>
          <a:p>
            <a:pPr marL="0" indent="0">
              <a:buNone/>
            </a:pPr>
            <a:r>
              <a:rPr lang="en-US" sz="1080" dirty="0">
                <a:solidFill>
                  <a:srgbClr val="5B677A"/>
                </a:solidFill>
              </a:rPr>
              <a:t>Use the same topic, length limit, and vocabulary level in a fixed prompt.</a:t>
            </a:r>
            <a:endParaRPr lang="en-US" sz="1080" dirty="0"/>
          </a:p>
        </p:txBody>
      </p:sp>
      <p:sp>
        <p:nvSpPr>
          <p:cNvPr id="15" name="Shape 13"/>
          <p:cNvSpPr/>
          <p:nvPr/>
        </p:nvSpPr>
        <p:spPr>
          <a:xfrm>
            <a:off x="777240" y="3995928"/>
            <a:ext cx="475488" cy="475488"/>
          </a:xfrm>
          <a:prstGeom prst="ellipse">
            <a:avLst/>
          </a:prstGeom>
          <a:solidFill>
            <a:srgbClr val="2B6CB0"/>
          </a:solidFill>
          <a:ln w="12700">
            <a:solidFill>
              <a:srgbClr val="333333">
                <a:alpha val="0"/>
              </a:srgbClr>
            </a:solidFill>
            <a:prstDash val="solid"/>
          </a:ln>
        </p:spPr>
      </p:sp>
      <p:sp>
        <p:nvSpPr>
          <p:cNvPr id="16" name="Text 14"/>
          <p:cNvSpPr/>
          <p:nvPr/>
        </p:nvSpPr>
        <p:spPr>
          <a:xfrm>
            <a:off x="777240" y="4096512"/>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7" name="Text 15"/>
          <p:cNvSpPr/>
          <p:nvPr/>
        </p:nvSpPr>
        <p:spPr>
          <a:xfrm>
            <a:off x="1417320" y="3977640"/>
            <a:ext cx="4297680" cy="256032"/>
          </a:xfrm>
          <a:prstGeom prst="rect">
            <a:avLst/>
          </a:prstGeom>
          <a:noFill/>
          <a:ln/>
        </p:spPr>
        <p:txBody>
          <a:bodyPr wrap="square" lIns="0" tIns="0" rIns="0" bIns="0" rtlCol="0" anchor="ctr"/>
          <a:lstStyle/>
          <a:p>
            <a:pPr marL="0" indent="0">
              <a:buNone/>
            </a:pPr>
            <a:r>
              <a:rPr lang="en-US" sz="1500" b="1" dirty="0">
                <a:solidFill>
                  <a:srgbClr val="173B66"/>
                </a:solidFill>
              </a:rPr>
              <a:t>Human–AI hybrid</a:t>
            </a:r>
            <a:endParaRPr lang="en-US" sz="1500" dirty="0"/>
          </a:p>
        </p:txBody>
      </p:sp>
      <p:sp>
        <p:nvSpPr>
          <p:cNvPr id="18" name="Text 16"/>
          <p:cNvSpPr/>
          <p:nvPr/>
        </p:nvSpPr>
        <p:spPr>
          <a:xfrm>
            <a:off x="1417320" y="4315968"/>
            <a:ext cx="4297680" cy="420624"/>
          </a:xfrm>
          <a:prstGeom prst="rect">
            <a:avLst/>
          </a:prstGeom>
          <a:noFill/>
          <a:ln/>
        </p:spPr>
        <p:txBody>
          <a:bodyPr wrap="square" lIns="254" tIns="254" rIns="254" bIns="254" rtlCol="0" anchor="ctr">
            <a:normAutofit/>
          </a:bodyPr>
          <a:lstStyle/>
          <a:p>
            <a:pPr marL="0" indent="0">
              <a:buNone/>
            </a:pPr>
            <a:r>
              <a:rPr lang="en-US" sz="1080" dirty="0">
                <a:solidFill>
                  <a:srgbClr val="5B677A"/>
                </a:solidFill>
              </a:rPr>
              <a:t>Apply a standardized rule: polish language without changing content, or replace a fixed proportion of sentences.</a:t>
            </a:r>
            <a:endParaRPr lang="en-US" sz="1080" dirty="0"/>
          </a:p>
        </p:txBody>
      </p:sp>
      <p:pic>
        <p:nvPicPr>
          <p:cNvPr id="19" name="Image 0" descr="/mnt/data/a_clean_conceptual_infographic_style_illustration.png"/>
          <p:cNvPicPr>
            <a:picLocks noChangeAspect="1"/>
          </p:cNvPicPr>
          <p:nvPr/>
        </p:nvPicPr>
        <p:blipFill>
          <a:blip r:embed="rId3"/>
          <a:srcRect l="11510" r="11510"/>
          <a:stretch/>
        </p:blipFill>
        <p:spPr>
          <a:xfrm>
            <a:off x="5989320" y="1417320"/>
            <a:ext cx="5440680" cy="3977640"/>
          </a:xfrm>
          <a:prstGeom prst="rect">
            <a:avLst/>
          </a:prstGeom>
        </p:spPr>
      </p:pic>
      <p:sp>
        <p:nvSpPr>
          <p:cNvPr id="20" name="Shape 17"/>
          <p:cNvSpPr/>
          <p:nvPr/>
        </p:nvSpPr>
        <p:spPr>
          <a:xfrm>
            <a:off x="5989320" y="5468112"/>
            <a:ext cx="5440680" cy="530352"/>
          </a:xfrm>
          <a:prstGeom prst="rect">
            <a:avLst/>
          </a:prstGeom>
          <a:solidFill>
            <a:srgbClr val="EAF4FF"/>
          </a:solidFill>
          <a:ln w="12700">
            <a:solidFill>
              <a:srgbClr val="333333">
                <a:alpha val="0"/>
              </a:srgbClr>
            </a:solidFill>
            <a:prstDash val="solid"/>
          </a:ln>
        </p:spPr>
      </p:sp>
      <p:sp>
        <p:nvSpPr>
          <p:cNvPr id="21" name="Text 18"/>
          <p:cNvSpPr/>
          <p:nvPr/>
        </p:nvSpPr>
        <p:spPr>
          <a:xfrm>
            <a:off x="6217920" y="5632704"/>
            <a:ext cx="4937760" cy="146304"/>
          </a:xfrm>
          <a:prstGeom prst="rect">
            <a:avLst/>
          </a:prstGeom>
          <a:noFill/>
          <a:ln/>
        </p:spPr>
        <p:txBody>
          <a:bodyPr wrap="square" lIns="0" tIns="0" rIns="0" bIns="0" rtlCol="0" anchor="ctr"/>
          <a:lstStyle/>
          <a:p>
            <a:pPr marL="0" indent="0" algn="ctr">
              <a:buNone/>
            </a:pPr>
            <a:r>
              <a:rPr lang="en-US" sz="1100" b="1" dirty="0">
                <a:solidFill>
                  <a:srgbClr val="173B66"/>
                </a:solidFill>
              </a:rPr>
              <a:t>Matched for topic, length, and approximate vocabulary difficulty to reduce confounds.</a:t>
            </a:r>
            <a:endParaRPr lang="en-US" sz="1100" dirty="0"/>
          </a:p>
        </p:txBody>
      </p:sp>
      <p:sp>
        <p:nvSpPr>
          <p:cNvPr id="22" name="Text 19"/>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Experiment 1: AI‑authorship judgment</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测量读者对文本来源的直觉分类</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Text 4"/>
          <p:cNvSpPr/>
          <p:nvPr/>
        </p:nvSpPr>
        <p:spPr>
          <a:xfrm>
            <a:off x="777240" y="1417320"/>
            <a:ext cx="1097280" cy="274320"/>
          </a:xfrm>
          <a:prstGeom prst="rect">
            <a:avLst/>
          </a:prstGeom>
          <a:noFill/>
          <a:ln/>
        </p:spPr>
        <p:txBody>
          <a:bodyPr wrap="square" lIns="0" tIns="0" rIns="0" bIns="0" rtlCol="0" anchor="ctr"/>
          <a:lstStyle/>
          <a:p>
            <a:pPr marL="0" indent="0">
              <a:buNone/>
            </a:pPr>
            <a:r>
              <a:rPr lang="en-US" sz="1600" b="1" dirty="0">
                <a:solidFill>
                  <a:srgbClr val="2B6CB0"/>
                </a:solidFill>
              </a:rPr>
              <a:t>Task</a:t>
            </a:r>
            <a:endParaRPr lang="en-US" sz="1600" dirty="0"/>
          </a:p>
        </p:txBody>
      </p:sp>
      <p:sp>
        <p:nvSpPr>
          <p:cNvPr id="7" name="Text 5"/>
          <p:cNvSpPr/>
          <p:nvPr/>
        </p:nvSpPr>
        <p:spPr>
          <a:xfrm>
            <a:off x="2240280" y="1371600"/>
            <a:ext cx="7315200" cy="384048"/>
          </a:xfrm>
          <a:prstGeom prst="rect">
            <a:avLst/>
          </a:prstGeom>
          <a:noFill/>
          <a:ln/>
        </p:spPr>
        <p:txBody>
          <a:bodyPr wrap="square" lIns="0" tIns="0" rIns="0" bIns="0" rtlCol="0" anchor="ctr"/>
          <a:lstStyle/>
          <a:p>
            <a:pPr marL="0" indent="0">
              <a:buNone/>
            </a:pPr>
            <a:r>
              <a:rPr lang="en-US" sz="2100" b="1" dirty="0">
                <a:solidFill>
                  <a:srgbClr val="173B66"/>
                </a:solidFill>
              </a:rPr>
              <a:t>Read one English passage → choose the perceived source</a:t>
            </a:r>
            <a:endParaRPr lang="en-US" sz="2100" dirty="0"/>
          </a:p>
        </p:txBody>
      </p:sp>
      <p:sp>
        <p:nvSpPr>
          <p:cNvPr id="8" name="Shape 6"/>
          <p:cNvSpPr/>
          <p:nvPr/>
        </p:nvSpPr>
        <p:spPr>
          <a:xfrm>
            <a:off x="868680" y="2240280"/>
            <a:ext cx="2194560" cy="786384"/>
          </a:xfrm>
          <a:prstGeom prst="roundRect">
            <a:avLst>
              <a:gd name="adj" fmla="val 9302"/>
            </a:avLst>
          </a:prstGeom>
          <a:solidFill>
            <a:srgbClr val="EAF4FF"/>
          </a:solidFill>
          <a:ln w="12700">
            <a:solidFill>
              <a:srgbClr val="CFE0F2"/>
            </a:solidFill>
            <a:prstDash val="solid"/>
          </a:ln>
        </p:spPr>
      </p:sp>
      <p:sp>
        <p:nvSpPr>
          <p:cNvPr id="9" name="Text 7"/>
          <p:cNvSpPr/>
          <p:nvPr/>
        </p:nvSpPr>
        <p:spPr>
          <a:xfrm>
            <a:off x="978408" y="2496312"/>
            <a:ext cx="1965960" cy="164592"/>
          </a:xfrm>
          <a:prstGeom prst="rect">
            <a:avLst/>
          </a:prstGeom>
          <a:noFill/>
          <a:ln/>
        </p:spPr>
        <p:txBody>
          <a:bodyPr wrap="square" lIns="0" tIns="0" rIns="0" bIns="0" rtlCol="0" anchor="ctr"/>
          <a:lstStyle/>
          <a:p>
            <a:pPr marL="0" indent="0" algn="ctr">
              <a:buNone/>
            </a:pPr>
            <a:r>
              <a:rPr lang="en-US" sz="1300" b="1" dirty="0">
                <a:solidFill>
                  <a:srgbClr val="1E293B"/>
                </a:solidFill>
              </a:rPr>
              <a:t>Human-written</a:t>
            </a:r>
            <a:endParaRPr lang="en-US" sz="1300" dirty="0"/>
          </a:p>
        </p:txBody>
      </p:sp>
      <p:sp>
        <p:nvSpPr>
          <p:cNvPr id="10" name="Shape 8"/>
          <p:cNvSpPr/>
          <p:nvPr/>
        </p:nvSpPr>
        <p:spPr>
          <a:xfrm>
            <a:off x="3520440" y="2240280"/>
            <a:ext cx="2194560" cy="786384"/>
          </a:xfrm>
          <a:prstGeom prst="roundRect">
            <a:avLst>
              <a:gd name="adj" fmla="val 9302"/>
            </a:avLst>
          </a:prstGeom>
          <a:solidFill>
            <a:srgbClr val="EEF2FF"/>
          </a:solidFill>
          <a:ln w="12700">
            <a:solidFill>
              <a:srgbClr val="CFE0F2"/>
            </a:solidFill>
            <a:prstDash val="solid"/>
          </a:ln>
        </p:spPr>
      </p:sp>
      <p:sp>
        <p:nvSpPr>
          <p:cNvPr id="11" name="Text 9"/>
          <p:cNvSpPr/>
          <p:nvPr/>
        </p:nvSpPr>
        <p:spPr>
          <a:xfrm>
            <a:off x="3630168" y="2496312"/>
            <a:ext cx="1965960" cy="164592"/>
          </a:xfrm>
          <a:prstGeom prst="rect">
            <a:avLst/>
          </a:prstGeom>
          <a:noFill/>
          <a:ln/>
        </p:spPr>
        <p:txBody>
          <a:bodyPr wrap="square" lIns="0" tIns="0" rIns="0" bIns="0" rtlCol="0" anchor="ctr"/>
          <a:lstStyle/>
          <a:p>
            <a:pPr marL="0" indent="0" algn="ctr">
              <a:buNone/>
            </a:pPr>
            <a:r>
              <a:rPr lang="en-US" sz="1300" b="1" dirty="0">
                <a:solidFill>
                  <a:srgbClr val="1E293B"/>
                </a:solidFill>
              </a:rPr>
              <a:t>AI-generated</a:t>
            </a:r>
            <a:endParaRPr lang="en-US" sz="1300" dirty="0"/>
          </a:p>
        </p:txBody>
      </p:sp>
      <p:sp>
        <p:nvSpPr>
          <p:cNvPr id="12" name="Shape 10"/>
          <p:cNvSpPr/>
          <p:nvPr/>
        </p:nvSpPr>
        <p:spPr>
          <a:xfrm>
            <a:off x="6172200" y="2240280"/>
            <a:ext cx="2194560" cy="786384"/>
          </a:xfrm>
          <a:prstGeom prst="roundRect">
            <a:avLst>
              <a:gd name="adj" fmla="val 9302"/>
            </a:avLst>
          </a:prstGeom>
          <a:solidFill>
            <a:srgbClr val="FFF9EF"/>
          </a:solidFill>
          <a:ln w="12700">
            <a:solidFill>
              <a:srgbClr val="CFE0F2"/>
            </a:solidFill>
            <a:prstDash val="solid"/>
          </a:ln>
        </p:spPr>
      </p:sp>
      <p:sp>
        <p:nvSpPr>
          <p:cNvPr id="13" name="Text 11"/>
          <p:cNvSpPr/>
          <p:nvPr/>
        </p:nvSpPr>
        <p:spPr>
          <a:xfrm>
            <a:off x="6281928" y="2496312"/>
            <a:ext cx="1965960" cy="164592"/>
          </a:xfrm>
          <a:prstGeom prst="rect">
            <a:avLst/>
          </a:prstGeom>
          <a:noFill/>
          <a:ln/>
        </p:spPr>
        <p:txBody>
          <a:bodyPr wrap="square" lIns="0" tIns="0" rIns="0" bIns="0" rtlCol="0" anchor="ctr"/>
          <a:lstStyle/>
          <a:p>
            <a:pPr marL="0" indent="0" algn="ctr">
              <a:buNone/>
            </a:pPr>
            <a:r>
              <a:rPr lang="en-US" sz="1300" b="1" dirty="0">
                <a:solidFill>
                  <a:srgbClr val="1E293B"/>
                </a:solidFill>
              </a:rPr>
              <a:t>Human with AI editing</a:t>
            </a:r>
            <a:endParaRPr lang="en-US" sz="1300" dirty="0"/>
          </a:p>
        </p:txBody>
      </p:sp>
      <p:sp>
        <p:nvSpPr>
          <p:cNvPr id="14" name="Shape 12"/>
          <p:cNvSpPr/>
          <p:nvPr/>
        </p:nvSpPr>
        <p:spPr>
          <a:xfrm>
            <a:off x="9098280" y="2240280"/>
            <a:ext cx="2194560" cy="786384"/>
          </a:xfrm>
          <a:prstGeom prst="roundRect">
            <a:avLst>
              <a:gd name="adj" fmla="val 9302"/>
            </a:avLst>
          </a:prstGeom>
          <a:solidFill>
            <a:srgbClr val="F5F7FA"/>
          </a:solidFill>
          <a:ln w="12700">
            <a:solidFill>
              <a:srgbClr val="CFE0F2"/>
            </a:solidFill>
            <a:prstDash val="solid"/>
          </a:ln>
        </p:spPr>
      </p:sp>
      <p:sp>
        <p:nvSpPr>
          <p:cNvPr id="15" name="Text 13"/>
          <p:cNvSpPr/>
          <p:nvPr/>
        </p:nvSpPr>
        <p:spPr>
          <a:xfrm>
            <a:off x="9208008" y="2496312"/>
            <a:ext cx="1965960" cy="164592"/>
          </a:xfrm>
          <a:prstGeom prst="rect">
            <a:avLst/>
          </a:prstGeom>
          <a:noFill/>
          <a:ln/>
        </p:spPr>
        <p:txBody>
          <a:bodyPr wrap="square" lIns="0" tIns="0" rIns="0" bIns="0" rtlCol="0" anchor="ctr"/>
          <a:lstStyle/>
          <a:p>
            <a:pPr marL="0" indent="0" algn="ctr">
              <a:buNone/>
            </a:pPr>
            <a:r>
              <a:rPr lang="en-US" sz="1300" b="1" dirty="0">
                <a:solidFill>
                  <a:srgbClr val="1E293B"/>
                </a:solidFill>
              </a:rPr>
              <a:t>Not sure</a:t>
            </a:r>
            <a:endParaRPr lang="en-US" sz="1300" dirty="0"/>
          </a:p>
        </p:txBody>
      </p:sp>
      <p:sp>
        <p:nvSpPr>
          <p:cNvPr id="16" name="Shape 14"/>
          <p:cNvSpPr/>
          <p:nvPr/>
        </p:nvSpPr>
        <p:spPr>
          <a:xfrm>
            <a:off x="868680" y="3794760"/>
            <a:ext cx="10241280" cy="0"/>
          </a:xfrm>
          <a:prstGeom prst="line">
            <a:avLst/>
          </a:prstGeom>
          <a:noFill/>
          <a:ln w="12700">
            <a:solidFill>
              <a:srgbClr val="CFE0F2"/>
            </a:solidFill>
            <a:prstDash val="solid"/>
          </a:ln>
        </p:spPr>
      </p:sp>
      <p:sp>
        <p:nvSpPr>
          <p:cNvPr id="17" name="Text 15"/>
          <p:cNvSpPr/>
          <p:nvPr/>
        </p:nvSpPr>
        <p:spPr>
          <a:xfrm>
            <a:off x="868680" y="4160520"/>
            <a:ext cx="1920240" cy="274320"/>
          </a:xfrm>
          <a:prstGeom prst="rect">
            <a:avLst/>
          </a:prstGeom>
          <a:noFill/>
          <a:ln/>
        </p:spPr>
        <p:txBody>
          <a:bodyPr wrap="square" lIns="0" tIns="0" rIns="0" bIns="0" rtlCol="0" anchor="ctr"/>
          <a:lstStyle/>
          <a:p>
            <a:pPr marL="0" indent="0">
              <a:buNone/>
            </a:pPr>
            <a:r>
              <a:rPr lang="en-US" sz="1700" b="1" dirty="0">
                <a:solidFill>
                  <a:srgbClr val="173B66"/>
                </a:solidFill>
              </a:rPr>
              <a:t>Main measures</a:t>
            </a:r>
            <a:endParaRPr lang="en-US" sz="1700" dirty="0"/>
          </a:p>
        </p:txBody>
      </p:sp>
      <p:sp>
        <p:nvSpPr>
          <p:cNvPr id="18" name="Text 16"/>
          <p:cNvSpPr/>
          <p:nvPr/>
        </p:nvSpPr>
        <p:spPr>
          <a:xfrm>
            <a:off x="960120" y="4617720"/>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19" name="Text 17"/>
          <p:cNvSpPr/>
          <p:nvPr/>
        </p:nvSpPr>
        <p:spPr>
          <a:xfrm>
            <a:off x="1216152" y="4617720"/>
            <a:ext cx="2743200" cy="329184"/>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Judgment accuracy</a:t>
            </a:r>
            <a:endParaRPr lang="en-US" sz="1300" dirty="0"/>
          </a:p>
        </p:txBody>
      </p:sp>
      <p:sp>
        <p:nvSpPr>
          <p:cNvPr id="20" name="Text 18"/>
          <p:cNvSpPr/>
          <p:nvPr/>
        </p:nvSpPr>
        <p:spPr>
          <a:xfrm>
            <a:off x="3977640" y="4617720"/>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21" name="Text 19"/>
          <p:cNvSpPr/>
          <p:nvPr/>
        </p:nvSpPr>
        <p:spPr>
          <a:xfrm>
            <a:off x="4233672" y="4617720"/>
            <a:ext cx="3200400" cy="329184"/>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Misclassification rate by text type</a:t>
            </a:r>
            <a:endParaRPr lang="en-US" sz="1300" dirty="0"/>
          </a:p>
        </p:txBody>
      </p:sp>
      <p:sp>
        <p:nvSpPr>
          <p:cNvPr id="22" name="Text 20"/>
          <p:cNvSpPr/>
          <p:nvPr/>
        </p:nvSpPr>
        <p:spPr>
          <a:xfrm>
            <a:off x="7589520" y="4617720"/>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23" name="Text 21"/>
          <p:cNvSpPr/>
          <p:nvPr/>
        </p:nvSpPr>
        <p:spPr>
          <a:xfrm>
            <a:off x="7845552" y="4617720"/>
            <a:ext cx="2743200" cy="329184"/>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AI-likelihood rating: 1–5</a:t>
            </a:r>
            <a:endParaRPr lang="en-US" sz="1300" dirty="0"/>
          </a:p>
        </p:txBody>
      </p:sp>
      <p:sp>
        <p:nvSpPr>
          <p:cNvPr id="24" name="Text 22"/>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Experiment 2: Linguistic cue rating</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把模糊的“AI 感”拆成可量化的心理语言线索</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Text 4"/>
          <p:cNvSpPr/>
          <p:nvPr/>
        </p:nvSpPr>
        <p:spPr>
          <a:xfrm>
            <a:off x="731520" y="1353312"/>
            <a:ext cx="6858000" cy="274320"/>
          </a:xfrm>
          <a:prstGeom prst="rect">
            <a:avLst/>
          </a:prstGeom>
          <a:noFill/>
          <a:ln/>
        </p:spPr>
        <p:txBody>
          <a:bodyPr wrap="square" lIns="0" tIns="0" rIns="0" bIns="0" rtlCol="0" anchor="ctr"/>
          <a:lstStyle/>
          <a:p>
            <a:pPr marL="0" indent="0">
              <a:buNone/>
            </a:pPr>
            <a:r>
              <a:rPr lang="en-US" sz="1300" dirty="0">
                <a:solidFill>
                  <a:srgbClr val="5B677A"/>
                </a:solidFill>
              </a:rPr>
              <a:t>Likert scale: 1 = strongly disagree, 5 = strongly agree</a:t>
            </a:r>
            <a:endParaRPr lang="en-US" sz="1300" dirty="0"/>
          </a:p>
        </p:txBody>
      </p:sp>
      <p:sp>
        <p:nvSpPr>
          <p:cNvPr id="7" name="Shape 5"/>
          <p:cNvSpPr/>
          <p:nvPr/>
        </p:nvSpPr>
        <p:spPr>
          <a:xfrm>
            <a:off x="822960" y="2029968"/>
            <a:ext cx="320040" cy="0"/>
          </a:xfrm>
          <a:prstGeom prst="line">
            <a:avLst/>
          </a:prstGeom>
          <a:noFill/>
          <a:ln w="38100">
            <a:solidFill>
              <a:srgbClr val="2B6CB0"/>
            </a:solidFill>
            <a:prstDash val="solid"/>
          </a:ln>
        </p:spPr>
      </p:sp>
      <p:sp>
        <p:nvSpPr>
          <p:cNvPr id="8" name="Text 6"/>
          <p:cNvSpPr/>
          <p:nvPr/>
        </p:nvSpPr>
        <p:spPr>
          <a:xfrm>
            <a:off x="1280160" y="1828800"/>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Fluency — 文本是否流畅</a:t>
            </a:r>
            <a:endParaRPr lang="en-US" sz="1320" dirty="0"/>
          </a:p>
        </p:txBody>
      </p:sp>
      <p:sp>
        <p:nvSpPr>
          <p:cNvPr id="9" name="Shape 7"/>
          <p:cNvSpPr/>
          <p:nvPr/>
        </p:nvSpPr>
        <p:spPr>
          <a:xfrm>
            <a:off x="6217920" y="2029968"/>
            <a:ext cx="320040" cy="0"/>
          </a:xfrm>
          <a:prstGeom prst="line">
            <a:avLst/>
          </a:prstGeom>
          <a:noFill/>
          <a:ln w="38100">
            <a:solidFill>
              <a:srgbClr val="2B6CB0"/>
            </a:solidFill>
            <a:prstDash val="solid"/>
          </a:ln>
        </p:spPr>
      </p:sp>
      <p:sp>
        <p:nvSpPr>
          <p:cNvPr id="10" name="Text 8"/>
          <p:cNvSpPr/>
          <p:nvPr/>
        </p:nvSpPr>
        <p:spPr>
          <a:xfrm>
            <a:off x="6675120" y="1828800"/>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Structural regularity — 结构是否规整</a:t>
            </a:r>
            <a:endParaRPr lang="en-US" sz="1320" dirty="0"/>
          </a:p>
        </p:txBody>
      </p:sp>
      <p:sp>
        <p:nvSpPr>
          <p:cNvPr id="11" name="Shape 9"/>
          <p:cNvSpPr/>
          <p:nvPr/>
        </p:nvSpPr>
        <p:spPr>
          <a:xfrm>
            <a:off x="822960" y="2743200"/>
            <a:ext cx="320040" cy="0"/>
          </a:xfrm>
          <a:prstGeom prst="line">
            <a:avLst/>
          </a:prstGeom>
          <a:noFill/>
          <a:ln w="38100">
            <a:solidFill>
              <a:srgbClr val="2B6CB0"/>
            </a:solidFill>
            <a:prstDash val="solid"/>
          </a:ln>
        </p:spPr>
      </p:sp>
      <p:sp>
        <p:nvSpPr>
          <p:cNvPr id="12" name="Text 10"/>
          <p:cNvSpPr/>
          <p:nvPr/>
        </p:nvSpPr>
        <p:spPr>
          <a:xfrm>
            <a:off x="1280160" y="2542032"/>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Clarity — 表达是否清晰</a:t>
            </a:r>
            <a:endParaRPr lang="en-US" sz="1320" dirty="0"/>
          </a:p>
        </p:txBody>
      </p:sp>
      <p:sp>
        <p:nvSpPr>
          <p:cNvPr id="13" name="Shape 11"/>
          <p:cNvSpPr/>
          <p:nvPr/>
        </p:nvSpPr>
        <p:spPr>
          <a:xfrm>
            <a:off x="6217920" y="2743200"/>
            <a:ext cx="320040" cy="0"/>
          </a:xfrm>
          <a:prstGeom prst="line">
            <a:avLst/>
          </a:prstGeom>
          <a:noFill/>
          <a:ln w="38100">
            <a:solidFill>
              <a:srgbClr val="2B6CB0"/>
            </a:solidFill>
            <a:prstDash val="solid"/>
          </a:ln>
        </p:spPr>
      </p:sp>
      <p:sp>
        <p:nvSpPr>
          <p:cNvPr id="14" name="Text 12"/>
          <p:cNvSpPr/>
          <p:nvPr/>
        </p:nvSpPr>
        <p:spPr>
          <a:xfrm>
            <a:off x="6675120" y="2542032"/>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Emotional expression — 情感是否具体</a:t>
            </a:r>
            <a:endParaRPr lang="en-US" sz="1320" dirty="0"/>
          </a:p>
        </p:txBody>
      </p:sp>
      <p:sp>
        <p:nvSpPr>
          <p:cNvPr id="15" name="Shape 13"/>
          <p:cNvSpPr/>
          <p:nvPr/>
        </p:nvSpPr>
        <p:spPr>
          <a:xfrm>
            <a:off x="822960" y="3456432"/>
            <a:ext cx="320040" cy="0"/>
          </a:xfrm>
          <a:prstGeom prst="line">
            <a:avLst/>
          </a:prstGeom>
          <a:noFill/>
          <a:ln w="38100">
            <a:solidFill>
              <a:srgbClr val="2B6CB0"/>
            </a:solidFill>
            <a:prstDash val="solid"/>
          </a:ln>
        </p:spPr>
      </p:sp>
      <p:sp>
        <p:nvSpPr>
          <p:cNvPr id="16" name="Text 14"/>
          <p:cNvSpPr/>
          <p:nvPr/>
        </p:nvSpPr>
        <p:spPr>
          <a:xfrm>
            <a:off x="1280160" y="3255264"/>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Personal voice — 是否有个人声音</a:t>
            </a:r>
            <a:endParaRPr lang="en-US" sz="1320" dirty="0"/>
          </a:p>
        </p:txBody>
      </p:sp>
      <p:sp>
        <p:nvSpPr>
          <p:cNvPr id="17" name="Shape 15"/>
          <p:cNvSpPr/>
          <p:nvPr/>
        </p:nvSpPr>
        <p:spPr>
          <a:xfrm>
            <a:off x="6217920" y="3456432"/>
            <a:ext cx="320040" cy="0"/>
          </a:xfrm>
          <a:prstGeom prst="line">
            <a:avLst/>
          </a:prstGeom>
          <a:noFill/>
          <a:ln w="38100">
            <a:solidFill>
              <a:srgbClr val="2B6CB0"/>
            </a:solidFill>
            <a:prstDash val="solid"/>
          </a:ln>
        </p:spPr>
      </p:sp>
      <p:sp>
        <p:nvSpPr>
          <p:cNvPr id="18" name="Text 16"/>
          <p:cNvSpPr/>
          <p:nvPr/>
        </p:nvSpPr>
        <p:spPr>
          <a:xfrm>
            <a:off x="6675120" y="3255264"/>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Genericness — 是否模板化</a:t>
            </a:r>
            <a:endParaRPr lang="en-US" sz="1320" dirty="0"/>
          </a:p>
        </p:txBody>
      </p:sp>
      <p:sp>
        <p:nvSpPr>
          <p:cNvPr id="19" name="Shape 17"/>
          <p:cNvSpPr/>
          <p:nvPr/>
        </p:nvSpPr>
        <p:spPr>
          <a:xfrm>
            <a:off x="822960" y="4169664"/>
            <a:ext cx="320040" cy="0"/>
          </a:xfrm>
          <a:prstGeom prst="line">
            <a:avLst/>
          </a:prstGeom>
          <a:noFill/>
          <a:ln w="38100">
            <a:solidFill>
              <a:srgbClr val="2B6CB0"/>
            </a:solidFill>
            <a:prstDash val="solid"/>
          </a:ln>
        </p:spPr>
      </p:sp>
      <p:sp>
        <p:nvSpPr>
          <p:cNvPr id="20" name="Text 18"/>
          <p:cNvSpPr/>
          <p:nvPr/>
        </p:nvSpPr>
        <p:spPr>
          <a:xfrm>
            <a:off x="1280160" y="3968496"/>
            <a:ext cx="4206240" cy="228600"/>
          </a:xfrm>
          <a:prstGeom prst="rect">
            <a:avLst/>
          </a:prstGeom>
          <a:noFill/>
          <a:ln/>
        </p:spPr>
        <p:txBody>
          <a:bodyPr wrap="square" lIns="0" tIns="0" rIns="0" bIns="0" rtlCol="0" anchor="ctr">
            <a:normAutofit/>
          </a:bodyPr>
          <a:lstStyle/>
          <a:p>
            <a:pPr marL="0" indent="0">
              <a:buNone/>
            </a:pPr>
            <a:r>
              <a:rPr lang="en-US" sz="1320" b="1" dirty="0">
                <a:solidFill>
                  <a:srgbClr val="173B66"/>
                </a:solidFill>
              </a:rPr>
              <a:t>Naturalness — 是否自然</a:t>
            </a:r>
            <a:endParaRPr lang="en-US" sz="1320" dirty="0"/>
          </a:p>
        </p:txBody>
      </p:sp>
      <p:sp>
        <p:nvSpPr>
          <p:cNvPr id="21" name="Shape 19"/>
          <p:cNvSpPr/>
          <p:nvPr/>
        </p:nvSpPr>
        <p:spPr>
          <a:xfrm>
            <a:off x="731520" y="5074920"/>
            <a:ext cx="10698480" cy="713232"/>
          </a:xfrm>
          <a:prstGeom prst="rect">
            <a:avLst/>
          </a:prstGeom>
          <a:solidFill>
            <a:srgbClr val="EAF4FF"/>
          </a:solidFill>
          <a:ln w="12700">
            <a:solidFill>
              <a:srgbClr val="333333">
                <a:alpha val="0"/>
              </a:srgbClr>
            </a:solidFill>
            <a:prstDash val="solid"/>
          </a:ln>
        </p:spPr>
      </p:sp>
      <p:sp>
        <p:nvSpPr>
          <p:cNvPr id="22" name="Text 20"/>
          <p:cNvSpPr/>
          <p:nvPr/>
        </p:nvSpPr>
        <p:spPr>
          <a:xfrm>
            <a:off x="1005840" y="5285232"/>
            <a:ext cx="10149840" cy="201168"/>
          </a:xfrm>
          <a:prstGeom prst="rect">
            <a:avLst/>
          </a:prstGeom>
          <a:noFill/>
          <a:ln/>
        </p:spPr>
        <p:txBody>
          <a:bodyPr wrap="square" lIns="0" tIns="0" rIns="0" bIns="0" rtlCol="0" anchor="ctr"/>
          <a:lstStyle/>
          <a:p>
            <a:pPr marL="0" indent="0" algn="ctr">
              <a:buNone/>
            </a:pPr>
            <a:r>
              <a:rPr lang="en-US" sz="1350" b="1" dirty="0">
                <a:solidFill>
                  <a:srgbClr val="173B66"/>
                </a:solidFill>
              </a:rPr>
              <a:t>Analysis goal: correlate cue ratings with AI-likelihood judgments to identify what actually drives “AI-like” perception.</a:t>
            </a:r>
            <a:endParaRPr lang="en-US" sz="1350" dirty="0"/>
          </a:p>
        </p:txBody>
      </p:sp>
      <p:sp>
        <p:nvSpPr>
          <p:cNvPr id="23" name="Text 21"/>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155275"/>
            <a:ext cx="12191695" cy="6858000"/>
          </a:xfrm>
          <a:prstGeom prst="rect">
            <a:avLst/>
          </a:prstGeom>
          <a:solidFill>
            <a:srgbClr val="F8FB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Live demo: where the experiment becomes measurable</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建议在这里切到网页 demo，展示 40–60 秒</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pic>
        <p:nvPicPr>
          <p:cNvPr id="6" name="Image 0" descr="/mnt/data/a_high_resolution_wide_angle_modern_infographic.png"/>
          <p:cNvPicPr>
            <a:picLocks noChangeAspect="1"/>
          </p:cNvPicPr>
          <p:nvPr/>
        </p:nvPicPr>
        <p:blipFill>
          <a:blip r:embed="rId3"/>
          <a:srcRect l="21286" r="21286"/>
          <a:stretch/>
        </p:blipFill>
        <p:spPr>
          <a:xfrm>
            <a:off x="640080" y="1417320"/>
            <a:ext cx="4572000" cy="4480560"/>
          </a:xfrm>
          <a:prstGeom prst="rect">
            <a:avLst/>
          </a:prstGeom>
        </p:spPr>
      </p:pic>
      <p:sp>
        <p:nvSpPr>
          <p:cNvPr id="7" name="Text 4"/>
          <p:cNvSpPr/>
          <p:nvPr/>
        </p:nvSpPr>
        <p:spPr>
          <a:xfrm>
            <a:off x="5623560" y="1417320"/>
            <a:ext cx="2011680" cy="320040"/>
          </a:xfrm>
          <a:prstGeom prst="rect">
            <a:avLst/>
          </a:prstGeom>
          <a:noFill/>
          <a:ln/>
        </p:spPr>
        <p:txBody>
          <a:bodyPr wrap="square" lIns="0" tIns="0" rIns="0" bIns="0" rtlCol="0" anchor="ctr"/>
          <a:lstStyle/>
          <a:p>
            <a:pPr marL="0" indent="0">
              <a:buNone/>
            </a:pPr>
            <a:r>
              <a:rPr lang="en-US" sz="1800" b="1" dirty="0">
                <a:solidFill>
                  <a:srgbClr val="173B66"/>
                </a:solidFill>
              </a:rPr>
              <a:t>Demo script</a:t>
            </a:r>
            <a:endParaRPr lang="en-US" sz="1800" dirty="0"/>
          </a:p>
        </p:txBody>
      </p:sp>
      <p:sp>
        <p:nvSpPr>
          <p:cNvPr id="8" name="Shape 5"/>
          <p:cNvSpPr/>
          <p:nvPr/>
        </p:nvSpPr>
        <p:spPr>
          <a:xfrm>
            <a:off x="5715000" y="1938528"/>
            <a:ext cx="475488" cy="475488"/>
          </a:xfrm>
          <a:prstGeom prst="ellipse">
            <a:avLst/>
          </a:prstGeom>
          <a:solidFill>
            <a:srgbClr val="2B6CB0"/>
          </a:solidFill>
          <a:ln w="12700">
            <a:solidFill>
              <a:srgbClr val="333333">
                <a:alpha val="0"/>
              </a:srgbClr>
            </a:solidFill>
            <a:prstDash val="solid"/>
          </a:ln>
        </p:spPr>
      </p:sp>
      <p:sp>
        <p:nvSpPr>
          <p:cNvPr id="9" name="Text 6"/>
          <p:cNvSpPr/>
          <p:nvPr/>
        </p:nvSpPr>
        <p:spPr>
          <a:xfrm>
            <a:off x="5715000" y="2080260"/>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Text 7"/>
          <p:cNvSpPr/>
          <p:nvPr/>
        </p:nvSpPr>
        <p:spPr>
          <a:xfrm>
            <a:off x="6355080" y="1920240"/>
            <a:ext cx="4663440" cy="256032"/>
          </a:xfrm>
          <a:prstGeom prst="rect">
            <a:avLst/>
          </a:prstGeom>
          <a:noFill/>
          <a:ln/>
        </p:spPr>
        <p:txBody>
          <a:bodyPr wrap="square" lIns="0" tIns="0" rIns="0" bIns="0" rtlCol="0" anchor="ctr"/>
          <a:lstStyle/>
          <a:p>
            <a:pPr marL="0" indent="0">
              <a:buNone/>
            </a:pPr>
            <a:r>
              <a:rPr lang="en-US" sz="1500" b="1" dirty="0">
                <a:solidFill>
                  <a:srgbClr val="173B66"/>
                </a:solidFill>
              </a:rPr>
              <a:t>Background screen</a:t>
            </a:r>
            <a:endParaRPr lang="en-US" sz="1500" dirty="0"/>
          </a:p>
        </p:txBody>
      </p:sp>
      <p:sp>
        <p:nvSpPr>
          <p:cNvPr id="11" name="Text 8"/>
          <p:cNvSpPr/>
          <p:nvPr/>
        </p:nvSpPr>
        <p:spPr>
          <a:xfrm>
            <a:off x="6355080" y="2258568"/>
            <a:ext cx="4663440" cy="420624"/>
          </a:xfrm>
          <a:prstGeom prst="rect">
            <a:avLst/>
          </a:prstGeom>
          <a:noFill/>
          <a:ln/>
        </p:spPr>
        <p:txBody>
          <a:bodyPr wrap="square" lIns="254" tIns="254" rIns="254" bIns="254" rtlCol="0" anchor="ctr">
            <a:normAutofit/>
          </a:bodyPr>
          <a:lstStyle/>
          <a:p>
            <a:pPr marL="0" indent="0">
              <a:buNone/>
            </a:pPr>
            <a:r>
              <a:rPr lang="en-US" sz="1080" dirty="0">
                <a:solidFill>
                  <a:srgbClr val="5B677A"/>
                </a:solidFill>
              </a:rPr>
              <a:t>Show bilingual screening: English level, Chinese level, AI use frequency.</a:t>
            </a:r>
            <a:endParaRPr lang="en-US" sz="1080" dirty="0"/>
          </a:p>
        </p:txBody>
      </p:sp>
      <p:sp>
        <p:nvSpPr>
          <p:cNvPr id="12" name="Shape 9"/>
          <p:cNvSpPr/>
          <p:nvPr/>
        </p:nvSpPr>
        <p:spPr>
          <a:xfrm>
            <a:off x="5715000" y="2916936"/>
            <a:ext cx="475488" cy="475488"/>
          </a:xfrm>
          <a:prstGeom prst="ellipse">
            <a:avLst/>
          </a:prstGeom>
          <a:solidFill>
            <a:srgbClr val="2B6CB0"/>
          </a:solidFill>
          <a:ln w="12700">
            <a:solidFill>
              <a:srgbClr val="333333">
                <a:alpha val="0"/>
              </a:srgbClr>
            </a:solidFill>
            <a:prstDash val="solid"/>
          </a:ln>
        </p:spPr>
      </p:sp>
      <p:sp>
        <p:nvSpPr>
          <p:cNvPr id="13" name="Text 10"/>
          <p:cNvSpPr/>
          <p:nvPr/>
        </p:nvSpPr>
        <p:spPr>
          <a:xfrm>
            <a:off x="5715000" y="3044952"/>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1"/>
          <p:cNvSpPr/>
          <p:nvPr/>
        </p:nvSpPr>
        <p:spPr>
          <a:xfrm>
            <a:off x="6355080" y="2926080"/>
            <a:ext cx="4663440" cy="256032"/>
          </a:xfrm>
          <a:prstGeom prst="rect">
            <a:avLst/>
          </a:prstGeom>
          <a:noFill/>
          <a:ln/>
        </p:spPr>
        <p:txBody>
          <a:bodyPr wrap="square" lIns="0" tIns="0" rIns="0" bIns="0" rtlCol="0" anchor="ctr"/>
          <a:lstStyle/>
          <a:p>
            <a:pPr marL="0" indent="0">
              <a:buNone/>
            </a:pPr>
            <a:r>
              <a:rPr lang="en-US" sz="1500" b="1" dirty="0">
                <a:solidFill>
                  <a:srgbClr val="173B66"/>
                </a:solidFill>
              </a:rPr>
              <a:t>One sample trial</a:t>
            </a:r>
            <a:endParaRPr lang="en-US" sz="1500" dirty="0"/>
          </a:p>
        </p:txBody>
      </p:sp>
      <p:sp>
        <p:nvSpPr>
          <p:cNvPr id="15" name="Text 12"/>
          <p:cNvSpPr/>
          <p:nvPr/>
        </p:nvSpPr>
        <p:spPr>
          <a:xfrm>
            <a:off x="6355080" y="3264408"/>
            <a:ext cx="4663440" cy="420624"/>
          </a:xfrm>
          <a:prstGeom prst="rect">
            <a:avLst/>
          </a:prstGeom>
          <a:noFill/>
          <a:ln/>
        </p:spPr>
        <p:txBody>
          <a:bodyPr wrap="square" lIns="254" tIns="254" rIns="254" bIns="254" rtlCol="0" anchor="ctr">
            <a:normAutofit/>
          </a:bodyPr>
          <a:lstStyle/>
          <a:p>
            <a:pPr marL="0" indent="0">
              <a:buNone/>
            </a:pPr>
            <a:r>
              <a:rPr lang="en-US" sz="1080" dirty="0">
                <a:solidFill>
                  <a:srgbClr val="5B677A"/>
                </a:solidFill>
              </a:rPr>
              <a:t>Show reading page, authorship judgment, and cue rating scale.</a:t>
            </a:r>
            <a:endParaRPr lang="en-US" sz="1080" dirty="0"/>
          </a:p>
        </p:txBody>
      </p:sp>
      <p:sp>
        <p:nvSpPr>
          <p:cNvPr id="16" name="Shape 13"/>
          <p:cNvSpPr/>
          <p:nvPr/>
        </p:nvSpPr>
        <p:spPr>
          <a:xfrm>
            <a:off x="5715000" y="3904488"/>
            <a:ext cx="475488" cy="475488"/>
          </a:xfrm>
          <a:prstGeom prst="ellipse">
            <a:avLst/>
          </a:prstGeom>
          <a:solidFill>
            <a:srgbClr val="2B6CB0"/>
          </a:solidFill>
          <a:ln w="12700">
            <a:solidFill>
              <a:srgbClr val="333333">
                <a:alpha val="0"/>
              </a:srgbClr>
            </a:solidFill>
            <a:prstDash val="solid"/>
          </a:ln>
        </p:spPr>
      </p:sp>
      <p:sp>
        <p:nvSpPr>
          <p:cNvPr id="17" name="Text 14"/>
          <p:cNvSpPr/>
          <p:nvPr/>
        </p:nvSpPr>
        <p:spPr>
          <a:xfrm>
            <a:off x="5715000" y="4050792"/>
            <a:ext cx="475488"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p:nvPr/>
        </p:nvSpPr>
        <p:spPr>
          <a:xfrm>
            <a:off x="6355080" y="3931920"/>
            <a:ext cx="4663440" cy="256032"/>
          </a:xfrm>
          <a:prstGeom prst="rect">
            <a:avLst/>
          </a:prstGeom>
          <a:noFill/>
          <a:ln/>
        </p:spPr>
        <p:txBody>
          <a:bodyPr wrap="square" lIns="0" tIns="0" rIns="0" bIns="0" rtlCol="0" anchor="ctr"/>
          <a:lstStyle/>
          <a:p>
            <a:pPr marL="0" indent="0">
              <a:buNone/>
            </a:pPr>
            <a:r>
              <a:rPr lang="en-US" sz="1500" b="1" dirty="0">
                <a:solidFill>
                  <a:srgbClr val="173B66"/>
                </a:solidFill>
              </a:rPr>
              <a:t>L2 memory section</a:t>
            </a:r>
            <a:endParaRPr lang="en-US" sz="1500" dirty="0"/>
          </a:p>
        </p:txBody>
      </p:sp>
      <p:sp>
        <p:nvSpPr>
          <p:cNvPr id="19" name="Text 16"/>
          <p:cNvSpPr/>
          <p:nvPr/>
        </p:nvSpPr>
        <p:spPr>
          <a:xfrm>
            <a:off x="6355080" y="4270248"/>
            <a:ext cx="4663440" cy="420624"/>
          </a:xfrm>
          <a:prstGeom prst="rect">
            <a:avLst/>
          </a:prstGeom>
          <a:noFill/>
          <a:ln/>
        </p:spPr>
        <p:txBody>
          <a:bodyPr wrap="square" lIns="254" tIns="254" rIns="254" bIns="254" rtlCol="0" anchor="ctr">
            <a:normAutofit/>
          </a:bodyPr>
          <a:lstStyle/>
          <a:p>
            <a:pPr marL="0" indent="0">
              <a:buNone/>
            </a:pPr>
            <a:r>
              <a:rPr lang="en-US" sz="1080" dirty="0">
                <a:solidFill>
                  <a:srgbClr val="5B677A"/>
                </a:solidFill>
              </a:rPr>
              <a:t>Show distractor task + sentence recognition / word-order reconstruction.</a:t>
            </a:r>
            <a:endParaRPr lang="en-US" sz="1080" dirty="0"/>
          </a:p>
        </p:txBody>
      </p:sp>
      <p:sp>
        <p:nvSpPr>
          <p:cNvPr id="20" name="Shape 17"/>
          <p:cNvSpPr/>
          <p:nvPr/>
        </p:nvSpPr>
        <p:spPr>
          <a:xfrm>
            <a:off x="5806440" y="5349240"/>
            <a:ext cx="4846320" cy="502920"/>
          </a:xfrm>
          <a:prstGeom prst="roundRect">
            <a:avLst>
              <a:gd name="adj" fmla="val 14545"/>
            </a:avLst>
          </a:prstGeom>
          <a:solidFill>
            <a:srgbClr val="173B66"/>
          </a:solidFill>
          <a:ln w="12700">
            <a:solidFill>
              <a:srgbClr val="333333">
                <a:alpha val="0"/>
              </a:srgbClr>
            </a:solidFill>
            <a:prstDash val="solid"/>
          </a:ln>
        </p:spPr>
      </p:sp>
      <p:sp>
        <p:nvSpPr>
          <p:cNvPr id="21" name="Text 18"/>
          <p:cNvSpPr/>
          <p:nvPr/>
        </p:nvSpPr>
        <p:spPr>
          <a:xfrm>
            <a:off x="5989320" y="5532120"/>
            <a:ext cx="4480560" cy="128016"/>
          </a:xfrm>
          <a:prstGeom prst="rect">
            <a:avLst/>
          </a:prstGeom>
          <a:noFill/>
          <a:ln/>
        </p:spPr>
        <p:txBody>
          <a:bodyPr wrap="square" lIns="0" tIns="0" rIns="0" bIns="0" rtlCol="0" anchor="ctr"/>
          <a:lstStyle/>
          <a:p>
            <a:pPr marL="0" indent="0" algn="ctr">
              <a:buNone/>
            </a:pPr>
            <a:r>
              <a:rPr lang="en-US" sz="1050" b="1" dirty="0">
                <a:solidFill>
                  <a:srgbClr val="FFFFFF"/>
                </a:solidFill>
              </a:rPr>
              <a:t>After demo: return to Slide 8 to explain Experiment 3 formally</a:t>
            </a:r>
            <a:endParaRPr lang="en-US" sz="1050" dirty="0"/>
          </a:p>
        </p:txBody>
      </p:sp>
      <p:sp>
        <p:nvSpPr>
          <p:cNvPr id="22" name="Text 19"/>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Experiment 3: L2 text memory task</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比较 AI 生成文本与人类文本在英文二语阅读中的编码与记忆差异</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Shape 4"/>
          <p:cNvSpPr/>
          <p:nvPr/>
        </p:nvSpPr>
        <p:spPr>
          <a:xfrm>
            <a:off x="640080" y="1600200"/>
            <a:ext cx="2240280" cy="932688"/>
          </a:xfrm>
          <a:prstGeom prst="roundRect">
            <a:avLst>
              <a:gd name="adj" fmla="val 7843"/>
            </a:avLst>
          </a:prstGeom>
          <a:solidFill>
            <a:srgbClr val="EAF4FF"/>
          </a:solidFill>
          <a:ln w="12700">
            <a:solidFill>
              <a:srgbClr val="CFE0F2"/>
            </a:solidFill>
            <a:prstDash val="solid"/>
          </a:ln>
        </p:spPr>
      </p:sp>
      <p:sp>
        <p:nvSpPr>
          <p:cNvPr id="7" name="Text 5"/>
          <p:cNvSpPr/>
          <p:nvPr/>
        </p:nvSpPr>
        <p:spPr>
          <a:xfrm>
            <a:off x="777240" y="1810512"/>
            <a:ext cx="1965960" cy="182880"/>
          </a:xfrm>
          <a:prstGeom prst="rect">
            <a:avLst/>
          </a:prstGeom>
          <a:noFill/>
          <a:ln/>
        </p:spPr>
        <p:txBody>
          <a:bodyPr wrap="square" lIns="0" tIns="0" rIns="0" bIns="0" rtlCol="0" anchor="ctr"/>
          <a:lstStyle/>
          <a:p>
            <a:pPr marL="0" indent="0" algn="ctr">
              <a:buNone/>
            </a:pPr>
            <a:r>
              <a:rPr lang="en-US" sz="1500" b="1" dirty="0">
                <a:solidFill>
                  <a:srgbClr val="173B66"/>
                </a:solidFill>
              </a:rPr>
              <a:t>Read</a:t>
            </a:r>
            <a:endParaRPr lang="en-US" sz="1500" dirty="0"/>
          </a:p>
        </p:txBody>
      </p:sp>
      <p:sp>
        <p:nvSpPr>
          <p:cNvPr id="8" name="Text 6"/>
          <p:cNvSpPr/>
          <p:nvPr/>
        </p:nvSpPr>
        <p:spPr>
          <a:xfrm>
            <a:off x="804672" y="2084832"/>
            <a:ext cx="1920240" cy="228600"/>
          </a:xfrm>
          <a:prstGeom prst="rect">
            <a:avLst/>
          </a:prstGeom>
          <a:noFill/>
          <a:ln/>
        </p:spPr>
        <p:txBody>
          <a:bodyPr wrap="square" lIns="0" tIns="0" rIns="0" bIns="0" rtlCol="0" anchor="ctr">
            <a:normAutofit/>
          </a:bodyPr>
          <a:lstStyle/>
          <a:p>
            <a:pPr marL="0" indent="0" algn="ctr">
              <a:buNone/>
            </a:pPr>
            <a:r>
              <a:rPr lang="en-US" sz="1060" dirty="0">
                <a:solidFill>
                  <a:srgbClr val="5B677A"/>
                </a:solidFill>
              </a:rPr>
              <a:t>Human / AI English passage</a:t>
            </a:r>
            <a:endParaRPr lang="en-US" sz="1060" dirty="0"/>
          </a:p>
        </p:txBody>
      </p:sp>
      <p:sp>
        <p:nvSpPr>
          <p:cNvPr id="9" name="Shape 7"/>
          <p:cNvSpPr/>
          <p:nvPr/>
        </p:nvSpPr>
        <p:spPr>
          <a:xfrm>
            <a:off x="2971800" y="1901952"/>
            <a:ext cx="384048" cy="310896"/>
          </a:xfrm>
          <a:prstGeom prst="rightArrow">
            <a:avLst/>
          </a:prstGeom>
          <a:solidFill>
            <a:srgbClr val="2B6CB0">
              <a:alpha val="75000"/>
            </a:srgbClr>
          </a:solidFill>
          <a:ln w="12700">
            <a:solidFill>
              <a:srgbClr val="333333">
                <a:alpha val="0"/>
              </a:srgbClr>
            </a:solidFill>
            <a:prstDash val="solid"/>
          </a:ln>
        </p:spPr>
      </p:sp>
      <p:sp>
        <p:nvSpPr>
          <p:cNvPr id="10" name="Shape 8"/>
          <p:cNvSpPr/>
          <p:nvPr/>
        </p:nvSpPr>
        <p:spPr>
          <a:xfrm>
            <a:off x="3474720" y="1600200"/>
            <a:ext cx="2240280" cy="932688"/>
          </a:xfrm>
          <a:prstGeom prst="roundRect">
            <a:avLst>
              <a:gd name="adj" fmla="val 7843"/>
            </a:avLst>
          </a:prstGeom>
          <a:solidFill>
            <a:srgbClr val="FFF9EF"/>
          </a:solidFill>
          <a:ln w="12700">
            <a:solidFill>
              <a:srgbClr val="CFE0F2"/>
            </a:solidFill>
            <a:prstDash val="solid"/>
          </a:ln>
        </p:spPr>
      </p:sp>
      <p:sp>
        <p:nvSpPr>
          <p:cNvPr id="11" name="Text 9"/>
          <p:cNvSpPr/>
          <p:nvPr/>
        </p:nvSpPr>
        <p:spPr>
          <a:xfrm>
            <a:off x="3611880" y="1810512"/>
            <a:ext cx="1965960" cy="182880"/>
          </a:xfrm>
          <a:prstGeom prst="rect">
            <a:avLst/>
          </a:prstGeom>
          <a:noFill/>
          <a:ln/>
        </p:spPr>
        <p:txBody>
          <a:bodyPr wrap="square" lIns="0" tIns="0" rIns="0" bIns="0" rtlCol="0" anchor="ctr"/>
          <a:lstStyle/>
          <a:p>
            <a:pPr marL="0" indent="0" algn="ctr">
              <a:buNone/>
            </a:pPr>
            <a:r>
              <a:rPr lang="en-US" sz="1500" b="1" dirty="0">
                <a:solidFill>
                  <a:srgbClr val="173B66"/>
                </a:solidFill>
              </a:rPr>
              <a:t>Distractor</a:t>
            </a:r>
            <a:endParaRPr lang="en-US" sz="1500" dirty="0"/>
          </a:p>
        </p:txBody>
      </p:sp>
      <p:sp>
        <p:nvSpPr>
          <p:cNvPr id="12" name="Text 10"/>
          <p:cNvSpPr/>
          <p:nvPr/>
        </p:nvSpPr>
        <p:spPr>
          <a:xfrm>
            <a:off x="3639312" y="2084832"/>
            <a:ext cx="1920240" cy="228600"/>
          </a:xfrm>
          <a:prstGeom prst="rect">
            <a:avLst/>
          </a:prstGeom>
          <a:noFill/>
          <a:ln/>
        </p:spPr>
        <p:txBody>
          <a:bodyPr wrap="square" lIns="0" tIns="0" rIns="0" bIns="0" rtlCol="0" anchor="ctr">
            <a:normAutofit/>
          </a:bodyPr>
          <a:lstStyle/>
          <a:p>
            <a:pPr marL="0" indent="0" algn="ctr">
              <a:buNone/>
            </a:pPr>
            <a:r>
              <a:rPr lang="en-US" sz="1060" dirty="0">
                <a:solidFill>
                  <a:srgbClr val="5B677A"/>
                </a:solidFill>
              </a:rPr>
              <a:t>odd-even or vowel task</a:t>
            </a:r>
            <a:endParaRPr lang="en-US" sz="1060" dirty="0"/>
          </a:p>
        </p:txBody>
      </p:sp>
      <p:sp>
        <p:nvSpPr>
          <p:cNvPr id="13" name="Shape 11"/>
          <p:cNvSpPr/>
          <p:nvPr/>
        </p:nvSpPr>
        <p:spPr>
          <a:xfrm>
            <a:off x="5806440" y="1901952"/>
            <a:ext cx="384048" cy="310896"/>
          </a:xfrm>
          <a:prstGeom prst="rightArrow">
            <a:avLst/>
          </a:prstGeom>
          <a:solidFill>
            <a:srgbClr val="2B6CB0">
              <a:alpha val="75000"/>
            </a:srgbClr>
          </a:solidFill>
          <a:ln w="12700">
            <a:solidFill>
              <a:srgbClr val="333333">
                <a:alpha val="0"/>
              </a:srgbClr>
            </a:solidFill>
            <a:prstDash val="solid"/>
          </a:ln>
        </p:spPr>
      </p:sp>
      <p:sp>
        <p:nvSpPr>
          <p:cNvPr id="14" name="Shape 12"/>
          <p:cNvSpPr/>
          <p:nvPr/>
        </p:nvSpPr>
        <p:spPr>
          <a:xfrm>
            <a:off x="6309360" y="1600200"/>
            <a:ext cx="2240280" cy="932688"/>
          </a:xfrm>
          <a:prstGeom prst="roundRect">
            <a:avLst>
              <a:gd name="adj" fmla="val 7843"/>
            </a:avLst>
          </a:prstGeom>
          <a:solidFill>
            <a:srgbClr val="EAF4FF"/>
          </a:solidFill>
          <a:ln w="12700">
            <a:solidFill>
              <a:srgbClr val="CFE0F2"/>
            </a:solidFill>
            <a:prstDash val="solid"/>
          </a:ln>
        </p:spPr>
      </p:sp>
      <p:sp>
        <p:nvSpPr>
          <p:cNvPr id="15" name="Text 13"/>
          <p:cNvSpPr/>
          <p:nvPr/>
        </p:nvSpPr>
        <p:spPr>
          <a:xfrm>
            <a:off x="6446520" y="1810512"/>
            <a:ext cx="1965960" cy="182880"/>
          </a:xfrm>
          <a:prstGeom prst="rect">
            <a:avLst/>
          </a:prstGeom>
          <a:noFill/>
          <a:ln/>
        </p:spPr>
        <p:txBody>
          <a:bodyPr wrap="square" lIns="0" tIns="0" rIns="0" bIns="0" rtlCol="0" anchor="ctr"/>
          <a:lstStyle/>
          <a:p>
            <a:pPr marL="0" indent="0" algn="ctr">
              <a:buNone/>
            </a:pPr>
            <a:r>
              <a:rPr lang="en-US" sz="1500" b="1" dirty="0">
                <a:solidFill>
                  <a:srgbClr val="173B66"/>
                </a:solidFill>
              </a:rPr>
              <a:t>Memory test</a:t>
            </a:r>
            <a:endParaRPr lang="en-US" sz="1500" dirty="0"/>
          </a:p>
        </p:txBody>
      </p:sp>
      <p:sp>
        <p:nvSpPr>
          <p:cNvPr id="16" name="Text 14"/>
          <p:cNvSpPr/>
          <p:nvPr/>
        </p:nvSpPr>
        <p:spPr>
          <a:xfrm>
            <a:off x="6473952" y="2084832"/>
            <a:ext cx="1920240" cy="228600"/>
          </a:xfrm>
          <a:prstGeom prst="rect">
            <a:avLst/>
          </a:prstGeom>
          <a:noFill/>
          <a:ln/>
        </p:spPr>
        <p:txBody>
          <a:bodyPr wrap="square" lIns="0" tIns="0" rIns="0" bIns="0" rtlCol="0" anchor="ctr">
            <a:normAutofit/>
          </a:bodyPr>
          <a:lstStyle/>
          <a:p>
            <a:pPr marL="0" indent="0" algn="ctr">
              <a:buNone/>
            </a:pPr>
            <a:r>
              <a:rPr lang="en-US" sz="1060" dirty="0">
                <a:solidFill>
                  <a:srgbClr val="5B677A"/>
                </a:solidFill>
              </a:rPr>
              <a:t>recognition + word order</a:t>
            </a:r>
            <a:endParaRPr lang="en-US" sz="1060" dirty="0"/>
          </a:p>
        </p:txBody>
      </p:sp>
      <p:sp>
        <p:nvSpPr>
          <p:cNvPr id="17" name="Shape 15"/>
          <p:cNvSpPr/>
          <p:nvPr/>
        </p:nvSpPr>
        <p:spPr>
          <a:xfrm>
            <a:off x="8641080" y="1901952"/>
            <a:ext cx="384048" cy="310896"/>
          </a:xfrm>
          <a:prstGeom prst="rightArrow">
            <a:avLst/>
          </a:prstGeom>
          <a:solidFill>
            <a:srgbClr val="2B6CB0">
              <a:alpha val="75000"/>
            </a:srgbClr>
          </a:solidFill>
          <a:ln w="12700">
            <a:solidFill>
              <a:srgbClr val="333333">
                <a:alpha val="0"/>
              </a:srgbClr>
            </a:solidFill>
            <a:prstDash val="solid"/>
          </a:ln>
        </p:spPr>
      </p:sp>
      <p:sp>
        <p:nvSpPr>
          <p:cNvPr id="18" name="Shape 16"/>
          <p:cNvSpPr/>
          <p:nvPr/>
        </p:nvSpPr>
        <p:spPr>
          <a:xfrm>
            <a:off x="9144000" y="1600200"/>
            <a:ext cx="2240280" cy="932688"/>
          </a:xfrm>
          <a:prstGeom prst="roundRect">
            <a:avLst>
              <a:gd name="adj" fmla="val 7843"/>
            </a:avLst>
          </a:prstGeom>
          <a:solidFill>
            <a:srgbClr val="FFF9EF"/>
          </a:solidFill>
          <a:ln w="12700">
            <a:solidFill>
              <a:srgbClr val="CFE0F2"/>
            </a:solidFill>
            <a:prstDash val="solid"/>
          </a:ln>
        </p:spPr>
      </p:sp>
      <p:sp>
        <p:nvSpPr>
          <p:cNvPr id="19" name="Text 17"/>
          <p:cNvSpPr/>
          <p:nvPr/>
        </p:nvSpPr>
        <p:spPr>
          <a:xfrm>
            <a:off x="9281160" y="1810512"/>
            <a:ext cx="1965960" cy="182880"/>
          </a:xfrm>
          <a:prstGeom prst="rect">
            <a:avLst/>
          </a:prstGeom>
          <a:noFill/>
          <a:ln/>
        </p:spPr>
        <p:txBody>
          <a:bodyPr wrap="square" lIns="0" tIns="0" rIns="0" bIns="0" rtlCol="0" anchor="ctr"/>
          <a:lstStyle/>
          <a:p>
            <a:pPr marL="0" indent="0" algn="ctr">
              <a:buNone/>
            </a:pPr>
            <a:r>
              <a:rPr lang="en-US" sz="1500" b="1" dirty="0">
                <a:solidFill>
                  <a:srgbClr val="173B66"/>
                </a:solidFill>
              </a:rPr>
              <a:t>Record</a:t>
            </a:r>
            <a:endParaRPr lang="en-US" sz="1500" dirty="0"/>
          </a:p>
        </p:txBody>
      </p:sp>
      <p:sp>
        <p:nvSpPr>
          <p:cNvPr id="20" name="Text 18"/>
          <p:cNvSpPr/>
          <p:nvPr/>
        </p:nvSpPr>
        <p:spPr>
          <a:xfrm>
            <a:off x="9308592" y="2084832"/>
            <a:ext cx="1920240" cy="228600"/>
          </a:xfrm>
          <a:prstGeom prst="rect">
            <a:avLst/>
          </a:prstGeom>
          <a:noFill/>
          <a:ln/>
        </p:spPr>
        <p:txBody>
          <a:bodyPr wrap="square" lIns="0" tIns="0" rIns="0" bIns="0" rtlCol="0" anchor="ctr">
            <a:normAutofit/>
          </a:bodyPr>
          <a:lstStyle/>
          <a:p>
            <a:pPr marL="0" indent="0" algn="ctr">
              <a:buNone/>
            </a:pPr>
            <a:r>
              <a:rPr lang="en-US" sz="1060" dirty="0">
                <a:solidFill>
                  <a:srgbClr val="5B677A"/>
                </a:solidFill>
              </a:rPr>
              <a:t>accuracy + reaction time</a:t>
            </a:r>
            <a:endParaRPr lang="en-US" sz="1060" dirty="0"/>
          </a:p>
        </p:txBody>
      </p:sp>
      <p:sp>
        <p:nvSpPr>
          <p:cNvPr id="21" name="Shape 19"/>
          <p:cNvSpPr/>
          <p:nvPr/>
        </p:nvSpPr>
        <p:spPr>
          <a:xfrm>
            <a:off x="640080" y="3063240"/>
            <a:ext cx="10881360" cy="0"/>
          </a:xfrm>
          <a:prstGeom prst="line">
            <a:avLst/>
          </a:prstGeom>
          <a:noFill/>
          <a:ln w="12700">
            <a:solidFill>
              <a:srgbClr val="CFE0F2"/>
            </a:solidFill>
            <a:prstDash val="solid"/>
          </a:ln>
        </p:spPr>
      </p:sp>
      <p:sp>
        <p:nvSpPr>
          <p:cNvPr id="22" name="Text 20"/>
          <p:cNvSpPr/>
          <p:nvPr/>
        </p:nvSpPr>
        <p:spPr>
          <a:xfrm>
            <a:off x="731520" y="3456432"/>
            <a:ext cx="4754880" cy="310896"/>
          </a:xfrm>
          <a:prstGeom prst="rect">
            <a:avLst/>
          </a:prstGeom>
          <a:noFill/>
          <a:ln/>
        </p:spPr>
        <p:txBody>
          <a:bodyPr wrap="square" lIns="0" tIns="0" rIns="0" bIns="0" rtlCol="0" anchor="ctr"/>
          <a:lstStyle/>
          <a:p>
            <a:pPr marL="0" indent="0">
              <a:buNone/>
            </a:pPr>
            <a:r>
              <a:rPr lang="en-US" sz="1800" b="1" dirty="0">
                <a:solidFill>
                  <a:srgbClr val="173B66"/>
                </a:solidFill>
              </a:rPr>
              <a:t>Why this strengthens the psycholinguistic focus</a:t>
            </a:r>
            <a:endParaRPr lang="en-US" sz="1800" dirty="0"/>
          </a:p>
        </p:txBody>
      </p:sp>
      <p:sp>
        <p:nvSpPr>
          <p:cNvPr id="23" name="Text 21"/>
          <p:cNvSpPr/>
          <p:nvPr/>
        </p:nvSpPr>
        <p:spPr>
          <a:xfrm>
            <a:off x="868680" y="3977640"/>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24" name="Text 22"/>
          <p:cNvSpPr/>
          <p:nvPr/>
        </p:nvSpPr>
        <p:spPr>
          <a:xfrm>
            <a:off x="1124712" y="3977640"/>
            <a:ext cx="4937760" cy="384048"/>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Participants process English as an L2, so the task measures second-language reading.</a:t>
            </a:r>
            <a:endParaRPr lang="en-US" sz="1300" dirty="0"/>
          </a:p>
        </p:txBody>
      </p:sp>
      <p:sp>
        <p:nvSpPr>
          <p:cNvPr id="25" name="Text 23"/>
          <p:cNvSpPr/>
          <p:nvPr/>
        </p:nvSpPr>
        <p:spPr>
          <a:xfrm>
            <a:off x="868680" y="4617720"/>
            <a:ext cx="164592" cy="182880"/>
          </a:xfrm>
          <a:prstGeom prst="rect">
            <a:avLst/>
          </a:prstGeom>
          <a:noFill/>
          <a:ln/>
        </p:spPr>
        <p:txBody>
          <a:bodyPr wrap="square" lIns="0" tIns="0" rIns="0" bIns="0" rtlCol="0" anchor="ctr"/>
          <a:lstStyle/>
          <a:p>
            <a:pPr marL="0" indent="0">
              <a:buNone/>
            </a:pPr>
            <a:r>
              <a:rPr lang="en-US" sz="1300" b="1" dirty="0">
                <a:solidFill>
                  <a:srgbClr val="2B6CB0"/>
                </a:solidFill>
              </a:rPr>
              <a:t>•</a:t>
            </a:r>
            <a:endParaRPr lang="en-US" sz="1300" dirty="0"/>
          </a:p>
        </p:txBody>
      </p:sp>
      <p:sp>
        <p:nvSpPr>
          <p:cNvPr id="26" name="Text 24"/>
          <p:cNvSpPr/>
          <p:nvPr/>
        </p:nvSpPr>
        <p:spPr>
          <a:xfrm>
            <a:off x="1124712" y="4617720"/>
            <a:ext cx="4937760" cy="411480"/>
          </a:xfrm>
          <a:prstGeom prst="rect">
            <a:avLst/>
          </a:prstGeom>
          <a:noFill/>
          <a:ln/>
        </p:spPr>
        <p:txBody>
          <a:bodyPr wrap="square" lIns="127" tIns="127" rIns="127" bIns="127" rtlCol="0" anchor="ctr">
            <a:normAutofit/>
          </a:bodyPr>
          <a:lstStyle/>
          <a:p>
            <a:pPr marL="0" indent="0">
              <a:buNone/>
            </a:pPr>
            <a:r>
              <a:rPr lang="en-US" sz="1300" dirty="0">
                <a:solidFill>
                  <a:srgbClr val="1E293B"/>
                </a:solidFill>
              </a:rPr>
              <a:t>Sentence recognition and word-order reconstruction tap memory encoding and working memory.</a:t>
            </a:r>
            <a:endParaRPr lang="en-US" sz="1300" dirty="0"/>
          </a:p>
        </p:txBody>
      </p:sp>
      <p:sp>
        <p:nvSpPr>
          <p:cNvPr id="27" name="Text 25"/>
          <p:cNvSpPr/>
          <p:nvPr/>
        </p:nvSpPr>
        <p:spPr>
          <a:xfrm>
            <a:off x="6492240" y="3474720"/>
            <a:ext cx="1463040" cy="228600"/>
          </a:xfrm>
          <a:prstGeom prst="rect">
            <a:avLst/>
          </a:prstGeom>
          <a:noFill/>
          <a:ln/>
        </p:spPr>
        <p:txBody>
          <a:bodyPr wrap="square" lIns="0" tIns="0" rIns="0" bIns="0" rtlCol="0" anchor="ctr"/>
          <a:lstStyle/>
          <a:p>
            <a:pPr marL="0" indent="0">
              <a:buNone/>
            </a:pPr>
            <a:r>
              <a:rPr lang="en-US" sz="1500" b="1" dirty="0">
                <a:solidFill>
                  <a:srgbClr val="2B6CB0"/>
                </a:solidFill>
              </a:rPr>
              <a:t>Hypothesis</a:t>
            </a:r>
            <a:endParaRPr lang="en-US" sz="1500" dirty="0"/>
          </a:p>
        </p:txBody>
      </p:sp>
      <p:sp>
        <p:nvSpPr>
          <p:cNvPr id="28" name="Text 26"/>
          <p:cNvSpPr/>
          <p:nvPr/>
        </p:nvSpPr>
        <p:spPr>
          <a:xfrm>
            <a:off x="6492240" y="3931920"/>
            <a:ext cx="4572000" cy="914400"/>
          </a:xfrm>
          <a:prstGeom prst="rect">
            <a:avLst/>
          </a:prstGeom>
          <a:noFill/>
          <a:ln/>
        </p:spPr>
        <p:txBody>
          <a:bodyPr wrap="square" lIns="254" tIns="254" rIns="254" bIns="254" rtlCol="0" anchor="ctr">
            <a:normAutofit/>
          </a:bodyPr>
          <a:lstStyle/>
          <a:p>
            <a:pPr marL="0" indent="0">
              <a:buNone/>
            </a:pPr>
            <a:r>
              <a:rPr lang="en-US" sz="1500" dirty="0">
                <a:solidFill>
                  <a:srgbClr val="1E293B"/>
                </a:solidFill>
              </a:rPr>
              <a:t>AI texts may be easier to process because of regular structure, but human texts may be remembered better if they contain more emotional specificity and personal voice.</a:t>
            </a:r>
            <a:endParaRPr lang="en-US" sz="1500" dirty="0"/>
          </a:p>
        </p:txBody>
      </p:sp>
      <p:sp>
        <p:nvSpPr>
          <p:cNvPr id="29" name="Text 27"/>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Expected analysis and interpretation</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用简单统计回答三个层次的问题：判断、线索、记忆</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Text 4"/>
          <p:cNvSpPr/>
          <p:nvPr/>
        </p:nvSpPr>
        <p:spPr>
          <a:xfrm>
            <a:off x="731520" y="1353312"/>
            <a:ext cx="1828800" cy="274320"/>
          </a:xfrm>
          <a:prstGeom prst="rect">
            <a:avLst/>
          </a:prstGeom>
          <a:noFill/>
          <a:ln/>
        </p:spPr>
        <p:txBody>
          <a:bodyPr wrap="square" lIns="0" tIns="0" rIns="0" bIns="0" rtlCol="0" anchor="ctr"/>
          <a:lstStyle/>
          <a:p>
            <a:pPr marL="0" indent="0">
              <a:buNone/>
            </a:pPr>
            <a:r>
              <a:rPr lang="en-US" sz="1700" b="1" dirty="0">
                <a:solidFill>
                  <a:srgbClr val="173B66"/>
                </a:solidFill>
              </a:rPr>
              <a:t>Data structure</a:t>
            </a:r>
            <a:endParaRPr lang="en-US" sz="1700" dirty="0"/>
          </a:p>
        </p:txBody>
      </p:sp>
      <p:sp>
        <p:nvSpPr>
          <p:cNvPr id="7" name="Shape 5"/>
          <p:cNvSpPr/>
          <p:nvPr/>
        </p:nvSpPr>
        <p:spPr>
          <a:xfrm>
            <a:off x="777240" y="1920240"/>
            <a:ext cx="10698480" cy="0"/>
          </a:xfrm>
          <a:prstGeom prst="line">
            <a:avLst/>
          </a:prstGeom>
          <a:noFill/>
          <a:ln w="12700">
            <a:solidFill>
              <a:srgbClr val="CFE0F2"/>
            </a:solidFill>
            <a:prstDash val="solid"/>
          </a:ln>
        </p:spPr>
      </p:sp>
      <p:sp>
        <p:nvSpPr>
          <p:cNvPr id="8" name="Shape 6"/>
          <p:cNvSpPr/>
          <p:nvPr/>
        </p:nvSpPr>
        <p:spPr>
          <a:xfrm>
            <a:off x="777240" y="2194560"/>
            <a:ext cx="3017520" cy="384048"/>
          </a:xfrm>
          <a:prstGeom prst="rect">
            <a:avLst/>
          </a:prstGeom>
          <a:solidFill>
            <a:srgbClr val="173B66"/>
          </a:solidFill>
          <a:ln w="12700">
            <a:solidFill>
              <a:srgbClr val="333333">
                <a:alpha val="0"/>
              </a:srgbClr>
            </a:solidFill>
            <a:prstDash val="solid"/>
          </a:ln>
        </p:spPr>
      </p:sp>
      <p:sp>
        <p:nvSpPr>
          <p:cNvPr id="9" name="Text 7"/>
          <p:cNvSpPr/>
          <p:nvPr/>
        </p:nvSpPr>
        <p:spPr>
          <a:xfrm>
            <a:off x="868680" y="2322576"/>
            <a:ext cx="2834640" cy="91440"/>
          </a:xfrm>
          <a:prstGeom prst="rect">
            <a:avLst/>
          </a:prstGeom>
          <a:noFill/>
          <a:ln/>
        </p:spPr>
        <p:txBody>
          <a:bodyPr wrap="square" lIns="0" tIns="0" rIns="0" bIns="0" rtlCol="0" anchor="ctr"/>
          <a:lstStyle/>
          <a:p>
            <a:pPr marL="0" indent="0" algn="ctr">
              <a:buNone/>
            </a:pPr>
            <a:r>
              <a:rPr lang="en-US" sz="1050" b="1" dirty="0">
                <a:solidFill>
                  <a:srgbClr val="FFFFFF"/>
                </a:solidFill>
              </a:rPr>
              <a:t>Question</a:t>
            </a:r>
            <a:endParaRPr lang="en-US" sz="1050" dirty="0"/>
          </a:p>
        </p:txBody>
      </p:sp>
      <p:sp>
        <p:nvSpPr>
          <p:cNvPr id="10" name="Shape 8"/>
          <p:cNvSpPr/>
          <p:nvPr/>
        </p:nvSpPr>
        <p:spPr>
          <a:xfrm>
            <a:off x="4251960" y="2194560"/>
            <a:ext cx="2743200" cy="384048"/>
          </a:xfrm>
          <a:prstGeom prst="rect">
            <a:avLst/>
          </a:prstGeom>
          <a:solidFill>
            <a:srgbClr val="173B66"/>
          </a:solidFill>
          <a:ln w="12700">
            <a:solidFill>
              <a:srgbClr val="333333">
                <a:alpha val="0"/>
              </a:srgbClr>
            </a:solidFill>
            <a:prstDash val="solid"/>
          </a:ln>
        </p:spPr>
      </p:sp>
      <p:sp>
        <p:nvSpPr>
          <p:cNvPr id="11" name="Text 9"/>
          <p:cNvSpPr/>
          <p:nvPr/>
        </p:nvSpPr>
        <p:spPr>
          <a:xfrm>
            <a:off x="4343400" y="2322576"/>
            <a:ext cx="2560320" cy="91440"/>
          </a:xfrm>
          <a:prstGeom prst="rect">
            <a:avLst/>
          </a:prstGeom>
          <a:noFill/>
          <a:ln/>
        </p:spPr>
        <p:txBody>
          <a:bodyPr wrap="square" lIns="0" tIns="0" rIns="0" bIns="0" rtlCol="0" anchor="ctr"/>
          <a:lstStyle/>
          <a:p>
            <a:pPr marL="0" indent="0" algn="ctr">
              <a:buNone/>
            </a:pPr>
            <a:r>
              <a:rPr lang="en-US" sz="1050" b="1" dirty="0">
                <a:solidFill>
                  <a:srgbClr val="FFFFFF"/>
                </a:solidFill>
              </a:rPr>
              <a:t>Measure</a:t>
            </a:r>
            <a:endParaRPr lang="en-US" sz="1050" dirty="0"/>
          </a:p>
        </p:txBody>
      </p:sp>
      <p:sp>
        <p:nvSpPr>
          <p:cNvPr id="12" name="Shape 10"/>
          <p:cNvSpPr/>
          <p:nvPr/>
        </p:nvSpPr>
        <p:spPr>
          <a:xfrm>
            <a:off x="7680960" y="2194560"/>
            <a:ext cx="3474720" cy="384048"/>
          </a:xfrm>
          <a:prstGeom prst="rect">
            <a:avLst/>
          </a:prstGeom>
          <a:solidFill>
            <a:srgbClr val="173B66"/>
          </a:solidFill>
          <a:ln w="12700">
            <a:solidFill>
              <a:srgbClr val="333333">
                <a:alpha val="0"/>
              </a:srgbClr>
            </a:solidFill>
            <a:prstDash val="solid"/>
          </a:ln>
        </p:spPr>
      </p:sp>
      <p:sp>
        <p:nvSpPr>
          <p:cNvPr id="13" name="Text 11"/>
          <p:cNvSpPr/>
          <p:nvPr/>
        </p:nvSpPr>
        <p:spPr>
          <a:xfrm>
            <a:off x="7772400" y="2322576"/>
            <a:ext cx="3291840" cy="91440"/>
          </a:xfrm>
          <a:prstGeom prst="rect">
            <a:avLst/>
          </a:prstGeom>
          <a:noFill/>
          <a:ln/>
        </p:spPr>
        <p:txBody>
          <a:bodyPr wrap="square" lIns="0" tIns="0" rIns="0" bIns="0" rtlCol="0" anchor="ctr"/>
          <a:lstStyle/>
          <a:p>
            <a:pPr marL="0" indent="0" algn="ctr">
              <a:buNone/>
            </a:pPr>
            <a:r>
              <a:rPr lang="en-US" sz="1050" b="1" dirty="0">
                <a:solidFill>
                  <a:srgbClr val="FFFFFF"/>
                </a:solidFill>
              </a:rPr>
              <a:t>Interpretation</a:t>
            </a:r>
            <a:endParaRPr lang="en-US" sz="1050" dirty="0"/>
          </a:p>
        </p:txBody>
      </p:sp>
      <p:sp>
        <p:nvSpPr>
          <p:cNvPr id="14" name="Shape 12"/>
          <p:cNvSpPr/>
          <p:nvPr/>
        </p:nvSpPr>
        <p:spPr>
          <a:xfrm>
            <a:off x="777240" y="2606040"/>
            <a:ext cx="3017520" cy="594360"/>
          </a:xfrm>
          <a:prstGeom prst="rect">
            <a:avLst/>
          </a:prstGeom>
          <a:solidFill>
            <a:srgbClr val="F8FBFF"/>
          </a:solidFill>
          <a:ln w="12700">
            <a:solidFill>
              <a:srgbClr val="CFE0F2"/>
            </a:solidFill>
            <a:prstDash val="solid"/>
          </a:ln>
        </p:spPr>
      </p:sp>
      <p:sp>
        <p:nvSpPr>
          <p:cNvPr id="15" name="Text 13"/>
          <p:cNvSpPr/>
          <p:nvPr/>
        </p:nvSpPr>
        <p:spPr>
          <a:xfrm>
            <a:off x="886968" y="2779776"/>
            <a:ext cx="278892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Can readers classify source?</a:t>
            </a:r>
            <a:endParaRPr lang="en-US" sz="1120" dirty="0"/>
          </a:p>
        </p:txBody>
      </p:sp>
      <p:sp>
        <p:nvSpPr>
          <p:cNvPr id="16" name="Shape 14"/>
          <p:cNvSpPr/>
          <p:nvPr/>
        </p:nvSpPr>
        <p:spPr>
          <a:xfrm>
            <a:off x="4251960" y="2606040"/>
            <a:ext cx="2743200" cy="594360"/>
          </a:xfrm>
          <a:prstGeom prst="rect">
            <a:avLst/>
          </a:prstGeom>
          <a:solidFill>
            <a:srgbClr val="F8FBFF"/>
          </a:solidFill>
          <a:ln w="12700">
            <a:solidFill>
              <a:srgbClr val="CFE0F2"/>
            </a:solidFill>
            <a:prstDash val="solid"/>
          </a:ln>
        </p:spPr>
      </p:sp>
      <p:sp>
        <p:nvSpPr>
          <p:cNvPr id="17" name="Text 15"/>
          <p:cNvSpPr/>
          <p:nvPr/>
        </p:nvSpPr>
        <p:spPr>
          <a:xfrm>
            <a:off x="4361688" y="2779776"/>
            <a:ext cx="251460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accuracy / misclassification</a:t>
            </a:r>
            <a:endParaRPr lang="en-US" sz="1120" dirty="0"/>
          </a:p>
        </p:txBody>
      </p:sp>
      <p:sp>
        <p:nvSpPr>
          <p:cNvPr id="18" name="Shape 16"/>
          <p:cNvSpPr/>
          <p:nvPr/>
        </p:nvSpPr>
        <p:spPr>
          <a:xfrm>
            <a:off x="7680960" y="2606040"/>
            <a:ext cx="3474720" cy="594360"/>
          </a:xfrm>
          <a:prstGeom prst="rect">
            <a:avLst/>
          </a:prstGeom>
          <a:solidFill>
            <a:srgbClr val="F8FBFF"/>
          </a:solidFill>
          <a:ln w="12700">
            <a:solidFill>
              <a:srgbClr val="CFE0F2"/>
            </a:solidFill>
            <a:prstDash val="solid"/>
          </a:ln>
        </p:spPr>
      </p:sp>
      <p:sp>
        <p:nvSpPr>
          <p:cNvPr id="19" name="Text 17"/>
          <p:cNvSpPr/>
          <p:nvPr/>
        </p:nvSpPr>
        <p:spPr>
          <a:xfrm>
            <a:off x="7790688" y="2779776"/>
            <a:ext cx="324612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authorship perception</a:t>
            </a:r>
            <a:endParaRPr lang="en-US" sz="1120" dirty="0"/>
          </a:p>
        </p:txBody>
      </p:sp>
      <p:sp>
        <p:nvSpPr>
          <p:cNvPr id="20" name="Shape 18"/>
          <p:cNvSpPr/>
          <p:nvPr/>
        </p:nvSpPr>
        <p:spPr>
          <a:xfrm>
            <a:off x="777240" y="3264408"/>
            <a:ext cx="3017520" cy="594360"/>
          </a:xfrm>
          <a:prstGeom prst="rect">
            <a:avLst/>
          </a:prstGeom>
          <a:solidFill>
            <a:srgbClr val="FFFFFF"/>
          </a:solidFill>
          <a:ln w="12700">
            <a:solidFill>
              <a:srgbClr val="CFE0F2"/>
            </a:solidFill>
            <a:prstDash val="solid"/>
          </a:ln>
        </p:spPr>
      </p:sp>
      <p:sp>
        <p:nvSpPr>
          <p:cNvPr id="21" name="Text 19"/>
          <p:cNvSpPr/>
          <p:nvPr/>
        </p:nvSpPr>
        <p:spPr>
          <a:xfrm>
            <a:off x="886968" y="3438144"/>
            <a:ext cx="278892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What cues drive AI-likeness?</a:t>
            </a:r>
            <a:endParaRPr lang="en-US" sz="1120" dirty="0"/>
          </a:p>
        </p:txBody>
      </p:sp>
      <p:sp>
        <p:nvSpPr>
          <p:cNvPr id="22" name="Shape 20"/>
          <p:cNvSpPr/>
          <p:nvPr/>
        </p:nvSpPr>
        <p:spPr>
          <a:xfrm>
            <a:off x="4251960" y="3264408"/>
            <a:ext cx="2743200" cy="594360"/>
          </a:xfrm>
          <a:prstGeom prst="rect">
            <a:avLst/>
          </a:prstGeom>
          <a:solidFill>
            <a:srgbClr val="FFFFFF"/>
          </a:solidFill>
          <a:ln w="12700">
            <a:solidFill>
              <a:srgbClr val="CFE0F2"/>
            </a:solidFill>
            <a:prstDash val="solid"/>
          </a:ln>
        </p:spPr>
      </p:sp>
      <p:sp>
        <p:nvSpPr>
          <p:cNvPr id="23" name="Text 21"/>
          <p:cNvSpPr/>
          <p:nvPr/>
        </p:nvSpPr>
        <p:spPr>
          <a:xfrm>
            <a:off x="4361688" y="3438144"/>
            <a:ext cx="251460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ratings + correlation</a:t>
            </a:r>
            <a:endParaRPr lang="en-US" sz="1120" dirty="0"/>
          </a:p>
        </p:txBody>
      </p:sp>
      <p:sp>
        <p:nvSpPr>
          <p:cNvPr id="24" name="Shape 22"/>
          <p:cNvSpPr/>
          <p:nvPr/>
        </p:nvSpPr>
        <p:spPr>
          <a:xfrm>
            <a:off x="7680960" y="3264408"/>
            <a:ext cx="3474720" cy="594360"/>
          </a:xfrm>
          <a:prstGeom prst="rect">
            <a:avLst/>
          </a:prstGeom>
          <a:solidFill>
            <a:srgbClr val="FFFFFF"/>
          </a:solidFill>
          <a:ln w="12700">
            <a:solidFill>
              <a:srgbClr val="CFE0F2"/>
            </a:solidFill>
            <a:prstDash val="solid"/>
          </a:ln>
        </p:spPr>
      </p:sp>
      <p:sp>
        <p:nvSpPr>
          <p:cNvPr id="25" name="Text 23"/>
          <p:cNvSpPr/>
          <p:nvPr/>
        </p:nvSpPr>
        <p:spPr>
          <a:xfrm>
            <a:off x="7790688" y="3438144"/>
            <a:ext cx="324612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psycholinguistic cue use</a:t>
            </a:r>
            <a:endParaRPr lang="en-US" sz="1120" dirty="0"/>
          </a:p>
        </p:txBody>
      </p:sp>
      <p:sp>
        <p:nvSpPr>
          <p:cNvPr id="26" name="Shape 24"/>
          <p:cNvSpPr/>
          <p:nvPr/>
        </p:nvSpPr>
        <p:spPr>
          <a:xfrm>
            <a:off x="777240" y="3922776"/>
            <a:ext cx="3017520" cy="594360"/>
          </a:xfrm>
          <a:prstGeom prst="rect">
            <a:avLst/>
          </a:prstGeom>
          <a:solidFill>
            <a:srgbClr val="F8FBFF"/>
          </a:solidFill>
          <a:ln w="12700">
            <a:solidFill>
              <a:srgbClr val="CFE0F2"/>
            </a:solidFill>
            <a:prstDash val="solid"/>
          </a:ln>
        </p:spPr>
      </p:sp>
      <p:sp>
        <p:nvSpPr>
          <p:cNvPr id="27" name="Text 25"/>
          <p:cNvSpPr/>
          <p:nvPr/>
        </p:nvSpPr>
        <p:spPr>
          <a:xfrm>
            <a:off x="886968" y="4096512"/>
            <a:ext cx="278892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Which text is remembered better?</a:t>
            </a:r>
            <a:endParaRPr lang="en-US" sz="1120" dirty="0"/>
          </a:p>
        </p:txBody>
      </p:sp>
      <p:sp>
        <p:nvSpPr>
          <p:cNvPr id="28" name="Shape 26"/>
          <p:cNvSpPr/>
          <p:nvPr/>
        </p:nvSpPr>
        <p:spPr>
          <a:xfrm>
            <a:off x="4251960" y="3922776"/>
            <a:ext cx="2743200" cy="594360"/>
          </a:xfrm>
          <a:prstGeom prst="rect">
            <a:avLst/>
          </a:prstGeom>
          <a:solidFill>
            <a:srgbClr val="F8FBFF"/>
          </a:solidFill>
          <a:ln w="12700">
            <a:solidFill>
              <a:srgbClr val="CFE0F2"/>
            </a:solidFill>
            <a:prstDash val="solid"/>
          </a:ln>
        </p:spPr>
      </p:sp>
      <p:sp>
        <p:nvSpPr>
          <p:cNvPr id="29" name="Text 27"/>
          <p:cNvSpPr/>
          <p:nvPr/>
        </p:nvSpPr>
        <p:spPr>
          <a:xfrm>
            <a:off x="4361688" y="4096512"/>
            <a:ext cx="251460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memory accuracy / RT</a:t>
            </a:r>
            <a:endParaRPr lang="en-US" sz="1120" dirty="0"/>
          </a:p>
        </p:txBody>
      </p:sp>
      <p:sp>
        <p:nvSpPr>
          <p:cNvPr id="30" name="Shape 28"/>
          <p:cNvSpPr/>
          <p:nvPr/>
        </p:nvSpPr>
        <p:spPr>
          <a:xfrm>
            <a:off x="7680960" y="3922776"/>
            <a:ext cx="3474720" cy="594360"/>
          </a:xfrm>
          <a:prstGeom prst="rect">
            <a:avLst/>
          </a:prstGeom>
          <a:solidFill>
            <a:srgbClr val="F8FBFF"/>
          </a:solidFill>
          <a:ln w="12700">
            <a:solidFill>
              <a:srgbClr val="CFE0F2"/>
            </a:solidFill>
            <a:prstDash val="solid"/>
          </a:ln>
        </p:spPr>
      </p:sp>
      <p:sp>
        <p:nvSpPr>
          <p:cNvPr id="31" name="Text 29"/>
          <p:cNvSpPr/>
          <p:nvPr/>
        </p:nvSpPr>
        <p:spPr>
          <a:xfrm>
            <a:off x="7790688" y="4096512"/>
            <a:ext cx="3246120" cy="164592"/>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L2 encoding difference</a:t>
            </a:r>
            <a:endParaRPr lang="en-US" sz="1120" dirty="0"/>
          </a:p>
        </p:txBody>
      </p:sp>
      <p:sp>
        <p:nvSpPr>
          <p:cNvPr id="32" name="Text 30"/>
          <p:cNvSpPr/>
          <p:nvPr/>
        </p:nvSpPr>
        <p:spPr>
          <a:xfrm>
            <a:off x="777240" y="4800600"/>
            <a:ext cx="2011680" cy="256032"/>
          </a:xfrm>
          <a:prstGeom prst="rect">
            <a:avLst/>
          </a:prstGeom>
          <a:noFill/>
          <a:ln/>
        </p:spPr>
        <p:txBody>
          <a:bodyPr wrap="square" lIns="0" tIns="0" rIns="0" bIns="0" rtlCol="0" anchor="ctr"/>
          <a:lstStyle/>
          <a:p>
            <a:pPr marL="0" indent="0">
              <a:buNone/>
            </a:pPr>
            <a:r>
              <a:rPr lang="en-US" sz="1600" b="1" dirty="0">
                <a:solidFill>
                  <a:srgbClr val="2B6CB0"/>
                </a:solidFill>
              </a:rPr>
              <a:t>Possible finding</a:t>
            </a:r>
            <a:endParaRPr lang="en-US" sz="1600" dirty="0"/>
          </a:p>
        </p:txBody>
      </p:sp>
      <p:sp>
        <p:nvSpPr>
          <p:cNvPr id="33" name="Text 31"/>
          <p:cNvSpPr/>
          <p:nvPr/>
        </p:nvSpPr>
        <p:spPr>
          <a:xfrm>
            <a:off x="777240" y="5349240"/>
            <a:ext cx="10058400" cy="502920"/>
          </a:xfrm>
          <a:prstGeom prst="rect">
            <a:avLst/>
          </a:prstGeom>
          <a:noFill/>
          <a:ln/>
        </p:spPr>
        <p:txBody>
          <a:bodyPr wrap="square" lIns="0" tIns="0" rIns="0" bIns="0" rtlCol="0" anchor="ctr">
            <a:normAutofit/>
          </a:bodyPr>
          <a:lstStyle/>
          <a:p>
            <a:pPr marL="0" indent="0">
              <a:buNone/>
            </a:pPr>
            <a:r>
              <a:rPr lang="en-US" sz="1550" b="1" dirty="0">
                <a:solidFill>
                  <a:srgbClr val="173B66"/>
                </a:solidFill>
              </a:rPr>
              <a:t>Readers may not directly detect authorship; they may infer it from fluency, regularity, emotion, and voice. Those same cues may also shape L2 memory performance.</a:t>
            </a:r>
            <a:endParaRPr lang="en-US" sz="1550" dirty="0"/>
          </a:p>
        </p:txBody>
      </p:sp>
      <p:sp>
        <p:nvSpPr>
          <p:cNvPr id="34" name="Text 32"/>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333333">
                <a:alpha val="0"/>
              </a:srgbClr>
            </a:solidFill>
            <a:prstDash val="solid"/>
          </a:ln>
        </p:spPr>
      </p:sp>
      <p:sp>
        <p:nvSpPr>
          <p:cNvPr id="3" name="Text 1"/>
          <p:cNvSpPr/>
          <p:nvPr/>
        </p:nvSpPr>
        <p:spPr>
          <a:xfrm>
            <a:off x="502920" y="320040"/>
            <a:ext cx="8046720" cy="502920"/>
          </a:xfrm>
          <a:prstGeom prst="rect">
            <a:avLst/>
          </a:prstGeom>
          <a:noFill/>
          <a:ln/>
        </p:spPr>
        <p:txBody>
          <a:bodyPr wrap="square" lIns="0" tIns="0" rIns="0" bIns="0" rtlCol="0" anchor="ctr"/>
          <a:lstStyle/>
          <a:p>
            <a:pPr marL="0" indent="0">
              <a:buNone/>
            </a:pPr>
            <a:r>
              <a:rPr lang="en-US" sz="2500" b="1" dirty="0">
                <a:solidFill>
                  <a:srgbClr val="173B66"/>
                </a:solidFill>
                <a:latin typeface="Aptos Display" pitchFamily="34" charset="0"/>
                <a:ea typeface="Aptos Display" pitchFamily="34" charset="-122"/>
                <a:cs typeface="Aptos Display" pitchFamily="34" charset="-120"/>
              </a:rPr>
              <a:t>Scope, feasibility, and contribution</a:t>
            </a:r>
            <a:endParaRPr lang="en-US" sz="2500" dirty="0"/>
          </a:p>
        </p:txBody>
      </p:sp>
      <p:sp>
        <p:nvSpPr>
          <p:cNvPr id="4" name="Text 2"/>
          <p:cNvSpPr/>
          <p:nvPr/>
        </p:nvSpPr>
        <p:spPr>
          <a:xfrm>
            <a:off x="521208" y="868680"/>
            <a:ext cx="8686800" cy="292608"/>
          </a:xfrm>
          <a:prstGeom prst="rect">
            <a:avLst/>
          </a:prstGeom>
          <a:noFill/>
          <a:ln/>
        </p:spPr>
        <p:txBody>
          <a:bodyPr wrap="square" lIns="0" tIns="0" rIns="0" bIns="0" rtlCol="0" anchor="ctr"/>
          <a:lstStyle/>
          <a:p>
            <a:pPr marL="0" indent="0">
              <a:buNone/>
            </a:pPr>
            <a:r>
              <a:rPr lang="en-US" sz="1250" dirty="0">
                <a:solidFill>
                  <a:srgbClr val="5B677A"/>
                </a:solidFill>
              </a:rPr>
              <a:t>小规模预实验，但研究逻辑完整且可落地</a:t>
            </a:r>
            <a:endParaRPr lang="en-US" sz="1250" dirty="0"/>
          </a:p>
        </p:txBody>
      </p:sp>
      <p:sp>
        <p:nvSpPr>
          <p:cNvPr id="5" name="Shape 3"/>
          <p:cNvSpPr/>
          <p:nvPr/>
        </p:nvSpPr>
        <p:spPr>
          <a:xfrm>
            <a:off x="502920" y="1115568"/>
            <a:ext cx="11155680" cy="0"/>
          </a:xfrm>
          <a:prstGeom prst="line">
            <a:avLst/>
          </a:prstGeom>
          <a:noFill/>
          <a:ln w="12700">
            <a:solidFill>
              <a:srgbClr val="CFE0F2"/>
            </a:solidFill>
            <a:prstDash val="solid"/>
          </a:ln>
        </p:spPr>
      </p:sp>
      <p:sp>
        <p:nvSpPr>
          <p:cNvPr id="6" name="Shape 4"/>
          <p:cNvSpPr/>
          <p:nvPr/>
        </p:nvSpPr>
        <p:spPr>
          <a:xfrm>
            <a:off x="685800" y="1417320"/>
            <a:ext cx="3291840" cy="3931920"/>
          </a:xfrm>
          <a:prstGeom prst="roundRect">
            <a:avLst>
              <a:gd name="adj" fmla="val 2222"/>
            </a:avLst>
          </a:prstGeom>
          <a:solidFill>
            <a:srgbClr val="FFFFFF"/>
          </a:solidFill>
          <a:ln w="12700">
            <a:solidFill>
              <a:srgbClr val="CFE0F2"/>
            </a:solidFill>
            <a:prstDash val="solid"/>
          </a:ln>
        </p:spPr>
      </p:sp>
      <p:sp>
        <p:nvSpPr>
          <p:cNvPr id="7" name="Text 5"/>
          <p:cNvSpPr/>
          <p:nvPr/>
        </p:nvSpPr>
        <p:spPr>
          <a:xfrm>
            <a:off x="960120" y="1737360"/>
            <a:ext cx="2377440" cy="274320"/>
          </a:xfrm>
          <a:prstGeom prst="rect">
            <a:avLst/>
          </a:prstGeom>
          <a:noFill/>
          <a:ln/>
        </p:spPr>
        <p:txBody>
          <a:bodyPr wrap="square" lIns="0" tIns="0" rIns="0" bIns="0" rtlCol="0" anchor="ctr"/>
          <a:lstStyle/>
          <a:p>
            <a:pPr marL="0" indent="0">
              <a:buNone/>
            </a:pPr>
            <a:r>
              <a:rPr lang="en-US" sz="1800" b="1" dirty="0">
                <a:solidFill>
                  <a:srgbClr val="173B66"/>
                </a:solidFill>
              </a:rPr>
              <a:t>Feasibility</a:t>
            </a:r>
            <a:endParaRPr lang="en-US" sz="1800" dirty="0"/>
          </a:p>
        </p:txBody>
      </p:sp>
      <p:sp>
        <p:nvSpPr>
          <p:cNvPr id="8" name="Text 6"/>
          <p:cNvSpPr/>
          <p:nvPr/>
        </p:nvSpPr>
        <p:spPr>
          <a:xfrm>
            <a:off x="960120" y="224028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9" name="Text 7"/>
          <p:cNvSpPr/>
          <p:nvPr/>
        </p:nvSpPr>
        <p:spPr>
          <a:xfrm>
            <a:off x="1216152" y="2240280"/>
            <a:ext cx="2560320" cy="310896"/>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20–50 bilingual high school students</a:t>
            </a:r>
            <a:endParaRPr lang="en-US" sz="1220" dirty="0"/>
          </a:p>
        </p:txBody>
      </p:sp>
      <p:sp>
        <p:nvSpPr>
          <p:cNvPr id="10" name="Text 8"/>
          <p:cNvSpPr/>
          <p:nvPr/>
        </p:nvSpPr>
        <p:spPr>
          <a:xfrm>
            <a:off x="960120" y="278892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1" name="Text 9"/>
          <p:cNvSpPr/>
          <p:nvPr/>
        </p:nvSpPr>
        <p:spPr>
          <a:xfrm>
            <a:off x="1216152" y="2788920"/>
            <a:ext cx="2560320" cy="310896"/>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8–12 short English passages</a:t>
            </a:r>
            <a:endParaRPr lang="en-US" sz="1220" dirty="0"/>
          </a:p>
        </p:txBody>
      </p:sp>
      <p:sp>
        <p:nvSpPr>
          <p:cNvPr id="12" name="Text 10"/>
          <p:cNvSpPr/>
          <p:nvPr/>
        </p:nvSpPr>
        <p:spPr>
          <a:xfrm>
            <a:off x="960120" y="333756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3" name="Text 11"/>
          <p:cNvSpPr/>
          <p:nvPr/>
        </p:nvSpPr>
        <p:spPr>
          <a:xfrm>
            <a:off x="1216152" y="3337560"/>
            <a:ext cx="2560320" cy="310896"/>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Static web demo + CSV export</a:t>
            </a:r>
            <a:endParaRPr lang="en-US" sz="1220" dirty="0"/>
          </a:p>
        </p:txBody>
      </p:sp>
      <p:sp>
        <p:nvSpPr>
          <p:cNvPr id="14" name="Shape 12"/>
          <p:cNvSpPr/>
          <p:nvPr/>
        </p:nvSpPr>
        <p:spPr>
          <a:xfrm>
            <a:off x="4434840" y="1417320"/>
            <a:ext cx="3291840" cy="3931920"/>
          </a:xfrm>
          <a:prstGeom prst="roundRect">
            <a:avLst>
              <a:gd name="adj" fmla="val 2222"/>
            </a:avLst>
          </a:prstGeom>
          <a:solidFill>
            <a:srgbClr val="FFFFFF"/>
          </a:solidFill>
          <a:ln w="12700">
            <a:solidFill>
              <a:srgbClr val="CFE0F2"/>
            </a:solidFill>
            <a:prstDash val="solid"/>
          </a:ln>
        </p:spPr>
      </p:sp>
      <p:sp>
        <p:nvSpPr>
          <p:cNvPr id="15" name="Text 13"/>
          <p:cNvSpPr/>
          <p:nvPr/>
        </p:nvSpPr>
        <p:spPr>
          <a:xfrm>
            <a:off x="4709160" y="1737360"/>
            <a:ext cx="2377440" cy="274320"/>
          </a:xfrm>
          <a:prstGeom prst="rect">
            <a:avLst/>
          </a:prstGeom>
          <a:noFill/>
          <a:ln/>
        </p:spPr>
        <p:txBody>
          <a:bodyPr wrap="square" lIns="0" tIns="0" rIns="0" bIns="0" rtlCol="0" anchor="ctr"/>
          <a:lstStyle/>
          <a:p>
            <a:pPr marL="0" indent="0">
              <a:buNone/>
            </a:pPr>
            <a:r>
              <a:rPr lang="en-US" sz="1800" b="1" dirty="0">
                <a:solidFill>
                  <a:srgbClr val="173B66"/>
                </a:solidFill>
              </a:rPr>
              <a:t>Controls</a:t>
            </a:r>
            <a:endParaRPr lang="en-US" sz="1800" dirty="0"/>
          </a:p>
        </p:txBody>
      </p:sp>
      <p:sp>
        <p:nvSpPr>
          <p:cNvPr id="16" name="Text 14"/>
          <p:cNvSpPr/>
          <p:nvPr/>
        </p:nvSpPr>
        <p:spPr>
          <a:xfrm>
            <a:off x="4709160" y="224028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7" name="Text 15"/>
          <p:cNvSpPr/>
          <p:nvPr/>
        </p:nvSpPr>
        <p:spPr>
          <a:xfrm>
            <a:off x="4965192" y="2240280"/>
            <a:ext cx="2560320" cy="310896"/>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Bilingual screening questionnaire</a:t>
            </a:r>
            <a:endParaRPr lang="en-US" sz="1220" dirty="0"/>
          </a:p>
        </p:txBody>
      </p:sp>
      <p:sp>
        <p:nvSpPr>
          <p:cNvPr id="18" name="Text 16"/>
          <p:cNvSpPr/>
          <p:nvPr/>
        </p:nvSpPr>
        <p:spPr>
          <a:xfrm>
            <a:off x="4709160" y="278892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9" name="Text 17"/>
          <p:cNvSpPr/>
          <p:nvPr/>
        </p:nvSpPr>
        <p:spPr>
          <a:xfrm>
            <a:off x="4965192" y="2788920"/>
            <a:ext cx="2560320" cy="411480"/>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Matched topic, length, vocabulary level</a:t>
            </a:r>
            <a:endParaRPr lang="en-US" sz="1220" dirty="0"/>
          </a:p>
        </p:txBody>
      </p:sp>
      <p:sp>
        <p:nvSpPr>
          <p:cNvPr id="20" name="Text 18"/>
          <p:cNvSpPr/>
          <p:nvPr/>
        </p:nvSpPr>
        <p:spPr>
          <a:xfrm>
            <a:off x="4709160" y="3456432"/>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1" name="Text 19"/>
          <p:cNvSpPr/>
          <p:nvPr/>
        </p:nvSpPr>
        <p:spPr>
          <a:xfrm>
            <a:off x="4965192" y="3456432"/>
            <a:ext cx="2560320" cy="411480"/>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Standardized AI / hybrid generation rules</a:t>
            </a:r>
            <a:endParaRPr lang="en-US" sz="1220" dirty="0"/>
          </a:p>
        </p:txBody>
      </p:sp>
      <p:sp>
        <p:nvSpPr>
          <p:cNvPr id="22" name="Shape 20"/>
          <p:cNvSpPr/>
          <p:nvPr/>
        </p:nvSpPr>
        <p:spPr>
          <a:xfrm>
            <a:off x="8183880" y="1417320"/>
            <a:ext cx="3291840" cy="3931920"/>
          </a:xfrm>
          <a:prstGeom prst="roundRect">
            <a:avLst>
              <a:gd name="adj" fmla="val 2222"/>
            </a:avLst>
          </a:prstGeom>
          <a:solidFill>
            <a:srgbClr val="FFFFFF"/>
          </a:solidFill>
          <a:ln w="12700">
            <a:solidFill>
              <a:srgbClr val="CFE0F2"/>
            </a:solidFill>
            <a:prstDash val="solid"/>
          </a:ln>
        </p:spPr>
      </p:sp>
      <p:sp>
        <p:nvSpPr>
          <p:cNvPr id="23" name="Text 21"/>
          <p:cNvSpPr/>
          <p:nvPr/>
        </p:nvSpPr>
        <p:spPr>
          <a:xfrm>
            <a:off x="8458200" y="1737360"/>
            <a:ext cx="2377440" cy="274320"/>
          </a:xfrm>
          <a:prstGeom prst="rect">
            <a:avLst/>
          </a:prstGeom>
          <a:noFill/>
          <a:ln/>
        </p:spPr>
        <p:txBody>
          <a:bodyPr wrap="square" lIns="0" tIns="0" rIns="0" bIns="0" rtlCol="0" anchor="ctr"/>
          <a:lstStyle/>
          <a:p>
            <a:pPr marL="0" indent="0">
              <a:buNone/>
            </a:pPr>
            <a:r>
              <a:rPr lang="en-US" sz="1800" b="1" dirty="0">
                <a:solidFill>
                  <a:srgbClr val="173B66"/>
                </a:solidFill>
              </a:rPr>
              <a:t>Contribution</a:t>
            </a:r>
            <a:endParaRPr lang="en-US" sz="1800" dirty="0"/>
          </a:p>
        </p:txBody>
      </p:sp>
      <p:sp>
        <p:nvSpPr>
          <p:cNvPr id="24" name="Text 22"/>
          <p:cNvSpPr/>
          <p:nvPr/>
        </p:nvSpPr>
        <p:spPr>
          <a:xfrm>
            <a:off x="8458200" y="224028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5" name="Text 23"/>
          <p:cNvSpPr/>
          <p:nvPr/>
        </p:nvSpPr>
        <p:spPr>
          <a:xfrm>
            <a:off x="8714232" y="2240280"/>
            <a:ext cx="2560320" cy="411480"/>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AI detection reframed as language perception</a:t>
            </a:r>
            <a:endParaRPr lang="en-US" sz="1220" dirty="0"/>
          </a:p>
        </p:txBody>
      </p:sp>
      <p:sp>
        <p:nvSpPr>
          <p:cNvPr id="26" name="Text 24"/>
          <p:cNvSpPr/>
          <p:nvPr/>
        </p:nvSpPr>
        <p:spPr>
          <a:xfrm>
            <a:off x="8458200" y="2907792"/>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7" name="Text 25"/>
          <p:cNvSpPr/>
          <p:nvPr/>
        </p:nvSpPr>
        <p:spPr>
          <a:xfrm>
            <a:off x="8714232" y="2907792"/>
            <a:ext cx="2560320" cy="411480"/>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Connects AI writing with L2 processing</a:t>
            </a:r>
            <a:endParaRPr lang="en-US" sz="1220" dirty="0"/>
          </a:p>
        </p:txBody>
      </p:sp>
      <p:sp>
        <p:nvSpPr>
          <p:cNvPr id="28" name="Text 26"/>
          <p:cNvSpPr/>
          <p:nvPr/>
        </p:nvSpPr>
        <p:spPr>
          <a:xfrm>
            <a:off x="8458200" y="356616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9" name="Text 27"/>
          <p:cNvSpPr/>
          <p:nvPr/>
        </p:nvSpPr>
        <p:spPr>
          <a:xfrm>
            <a:off x="8714232" y="3566160"/>
            <a:ext cx="2560320" cy="411480"/>
          </a:xfrm>
          <a:prstGeom prst="rect">
            <a:avLst/>
          </a:prstGeom>
          <a:noFill/>
          <a:ln/>
        </p:spPr>
        <p:txBody>
          <a:bodyPr wrap="square" lIns="127" tIns="127" rIns="127" bIns="127" rtlCol="0" anchor="ctr">
            <a:normAutofit/>
          </a:bodyPr>
          <a:lstStyle/>
          <a:p>
            <a:pPr marL="0" indent="0">
              <a:buNone/>
            </a:pPr>
            <a:r>
              <a:rPr lang="en-US" sz="1220" dirty="0">
                <a:solidFill>
                  <a:srgbClr val="1E293B"/>
                </a:solidFill>
              </a:rPr>
              <a:t>Measures judgment, cue use, and memory</a:t>
            </a:r>
            <a:endParaRPr lang="en-US" sz="1220" dirty="0"/>
          </a:p>
        </p:txBody>
      </p:sp>
      <p:sp>
        <p:nvSpPr>
          <p:cNvPr id="30" name="Text 28"/>
          <p:cNvSpPr/>
          <p:nvPr/>
        </p:nvSpPr>
        <p:spPr>
          <a:xfrm>
            <a:off x="1005840" y="5897880"/>
            <a:ext cx="10241280" cy="320040"/>
          </a:xfrm>
          <a:prstGeom prst="rect">
            <a:avLst/>
          </a:prstGeom>
          <a:noFill/>
          <a:ln/>
        </p:spPr>
        <p:txBody>
          <a:bodyPr wrap="square" lIns="0" tIns="0" rIns="0" bIns="0" rtlCol="0" anchor="ctr"/>
          <a:lstStyle/>
          <a:p>
            <a:pPr marL="0" indent="0" algn="ctr">
              <a:buNone/>
            </a:pPr>
            <a:r>
              <a:rPr lang="en-US" sz="1750" b="1" dirty="0">
                <a:solidFill>
                  <a:srgbClr val="173B66"/>
                </a:solidFill>
              </a:rPr>
              <a:t>Conclusion: “AI‑like” may be a psycholinguistic perception, not a direct detection of authorship.</a:t>
            </a:r>
            <a:endParaRPr lang="en-US" sz="1750" dirty="0"/>
          </a:p>
        </p:txBody>
      </p:sp>
      <p:sp>
        <p:nvSpPr>
          <p:cNvPr id="31" name="Text 29"/>
          <p:cNvSpPr/>
          <p:nvPr/>
        </p:nvSpPr>
        <p:spPr>
          <a:xfrm>
            <a:off x="11292840" y="6446520"/>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1033</Words>
  <Application>Microsoft Macintosh PowerPoint</Application>
  <PresentationFormat>Widescreen</PresentationFormat>
  <Paragraphs>170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Psycholinguistic Cues in AI-Authorship Perception and L2 Text Memory</dc:title>
  <dc:subject>Psycholinguistics proposal presentation</dc:subject>
  <dc:creator>OpenAI</dc:creator>
  <cp:lastModifiedBy>Jiaheng Zhang</cp:lastModifiedBy>
  <cp:revision>2</cp:revision>
  <dcterms:created xsi:type="dcterms:W3CDTF">2026-07-03T10:33:37Z</dcterms:created>
  <dcterms:modified xsi:type="dcterms:W3CDTF">2026-07-03T10:42:41Z</dcterms:modified>
</cp:coreProperties>
</file>