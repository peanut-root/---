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46"/>
    <p:restoredTop sz="94610"/>
  </p:normalViewPr>
  <p:slideViewPr>
    <p:cSldViewPr snapToGrid="0" snapToObjects="1">
      <p:cViewPr varScale="1">
        <p:scale>
          <a:sx n="221" d="100"/>
          <a:sy n="2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2669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1：大家好，我今天的题目是 Psycholinguistic Cues in AI-Authorship Perception and L2 Text Memory。这个题目关注两个层面：第一，读者如何根据语言线索判断一段英文文本是不是 AI 写的；第二，对于中英双语学生来说，AI 文本和人类文本在英文二语阅读中是否会造成不同的记忆编码效果。</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2：这个题不是单纯的 AI detection。我真正要研究的是读者如何在阅读过程中把语言形式转换成作者身份判断。这属于 language perception 和 reading；同时因为被试是中英双语学生，阅读材料是英文，所以第三部分也涉及 second-language processing 和 working memory。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3：我的研究问题有两个。第一，哪些语言线索让英文文本听起来像 AI？第二，在中英双语者的二语阅读中，AI 文本和人类文本是否会造成不同的记忆编码效果。自变量是文本类型，关键中介线索是流畅度、结构、情绪和个人声音，因变量包括作者判断、记忆准确率和反应时。</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4：材料准备是最容易被质疑的一部分，所以我会用配对和标准化流程控制。先准备人类文本，再用相同话题和字数限制生成 AI 版本。人机混合版本也不会随意修改，而是使用固定规则，例如只润色语言不改变内容，或者统一替换固定比例的句子。这样能减少不可控变量。</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5：第一个实验是作者身份判断。被试看一段英文短文本，然后判断它是人类撰写、AI 生成、人类经过 AI 编辑，还是不确定。这个任务测量的是最直接的 authorship perception，包括判断准确率、误判率，以及每类文本被判断为 AI 的比例。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6：第二个实验是语言线索评分。被试用 1 到 5 分评价同一段文本的流畅度、结构规整性、清晰度、情感表达、个人声音、模板感和自然度。这样我可以把“像 AI”这个主观感觉拆成可量化的心理语言线索，并分析哪些线索最能预测 AI 判断。</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7：这里是 demo 的最佳位置。讲完实验一和实验二后，先展示网页，让老师看到这个方案可以落地。展示顺序很简单：先给大家看语言背景问卷，然后点进一个 trial，展示阅读、作者判断和量表评分，最后展示干扰任务和记忆测试。整个 demo 控制在一分钟以内，然后回到下一页正式讲第三个实验。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8：第三个实验是 L2 text memory task。被试看人类文本和 AI 文本，之后先做一个短暂干扰任务，避免直接复述，然后进入记忆测试。记忆测试可以是句子再认，也可以是乱序词重组。因变量是记忆准确率和反应时。这个任务是最能体现心理语言学的部分，因为它测量的是二语阅读中的编码、句子加工和工作记忆。</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9：数据分析会很基础但结构清楚。实验一比较判断准确率和误判率；实验二看语言线索评分和 AI 可能性判断之间的关系；实验三比较 AI 文本和人类文本在记忆准确率和反应时上的差异。最终我要回答的是，读者到底是在识别真实作者，还是在利用语言风格进行推断。</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10：最后总结一下，这个研究小规模但可落地。被试是中英双语高中生，材料是短英文文本，网页可以直接收集判断、评分、反应时和记忆结果。研究贡献是把 AI 检测问题重新转化为心理语言学问题：所谓 AI 感可能不是对作者身份的直接识别，而是读者基于语言线索形成的一种感知。</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333333">
                <a:alpha val="0"/>
              </a:srgbClr>
            </a:solidFill>
            <a:prstDash val="solid"/>
          </a:ln>
        </p:spPr>
      </p:sp>
      <p:pic>
        <p:nvPicPr>
          <p:cNvPr id="3" name="Image 0" descr="/mnt/data/wide_editorial_illustration_conceptual_graphic.png"/>
          <p:cNvPicPr>
            <a:picLocks noChangeAspect="1"/>
          </p:cNvPicPr>
          <p:nvPr/>
        </p:nvPicPr>
        <p:blipFill>
          <a:blip r:embed="rId3"/>
          <a:stretch>
            <a:fillRect/>
          </a:stretch>
        </p:blipFill>
        <p:spPr>
          <a:xfrm>
            <a:off x="6309360" y="502920"/>
            <a:ext cx="5440680" cy="5897880"/>
          </a:xfrm>
          <a:prstGeom prst="rect">
            <a:avLst/>
          </a:prstGeom>
        </p:spPr>
      </p:pic>
      <p:sp>
        <p:nvSpPr>
          <p:cNvPr id="4" name="Shape 1"/>
          <p:cNvSpPr/>
          <p:nvPr/>
        </p:nvSpPr>
        <p:spPr>
          <a:xfrm>
            <a:off x="0" y="-885645"/>
            <a:ext cx="6035040" cy="6858000"/>
          </a:xfrm>
          <a:prstGeom prst="rect">
            <a:avLst/>
          </a:prstGeom>
          <a:solidFill>
            <a:srgbClr val="F8FBFF"/>
          </a:solidFill>
          <a:ln w="12700">
            <a:solidFill>
              <a:srgbClr val="333333">
                <a:alpha val="0"/>
              </a:srgbClr>
            </a:solidFill>
            <a:prstDash val="solid"/>
          </a:ln>
        </p:spPr>
      </p:sp>
      <p:sp>
        <p:nvSpPr>
          <p:cNvPr id="5" name="Text 2"/>
          <p:cNvSpPr/>
          <p:nvPr/>
        </p:nvSpPr>
        <p:spPr>
          <a:xfrm>
            <a:off x="594360" y="749808"/>
            <a:ext cx="5486400" cy="1481328"/>
          </a:xfrm>
          <a:prstGeom prst="rect">
            <a:avLst/>
          </a:prstGeom>
          <a:noFill/>
          <a:ln/>
        </p:spPr>
        <p:txBody>
          <a:bodyPr wrap="square" lIns="0" tIns="0" rIns="0" bIns="0" rtlCol="0" anchor="ctr">
            <a:normAutofit/>
          </a:bodyPr>
          <a:lstStyle/>
          <a:p>
            <a:pPr marL="0" indent="0">
              <a:buNone/>
            </a:pPr>
            <a:r>
              <a:rPr lang="en-US" sz="3000" b="1" dirty="0">
                <a:solidFill>
                  <a:srgbClr val="173B66"/>
                </a:solidFill>
                <a:latin typeface="Aptos Display" pitchFamily="34" charset="0"/>
                <a:ea typeface="Aptos Display" pitchFamily="34" charset="-122"/>
                <a:cs typeface="Aptos Display" pitchFamily="34" charset="-120"/>
              </a:rPr>
              <a:t>Psycholinguistic Cues in</a:t>
            </a:r>
            <a:endParaRPr lang="en-US" sz="3000" dirty="0"/>
          </a:p>
          <a:p>
            <a:pPr marL="0" indent="0">
              <a:buNone/>
            </a:pPr>
            <a:r>
              <a:rPr lang="en-US" sz="3000" b="1" dirty="0">
                <a:solidFill>
                  <a:srgbClr val="173B66"/>
                </a:solidFill>
                <a:latin typeface="Aptos Display" pitchFamily="34" charset="0"/>
                <a:ea typeface="Aptos Display" pitchFamily="34" charset="-122"/>
                <a:cs typeface="Aptos Display" pitchFamily="34" charset="-120"/>
              </a:rPr>
              <a:t>AI‑Authorship Perception</a:t>
            </a:r>
            <a:endParaRPr lang="en-US" sz="3000" dirty="0"/>
          </a:p>
          <a:p>
            <a:pPr marL="0" indent="0">
              <a:buNone/>
            </a:pPr>
            <a:r>
              <a:rPr lang="en-US" sz="3000" b="1" dirty="0">
                <a:solidFill>
                  <a:srgbClr val="173B66"/>
                </a:solidFill>
                <a:latin typeface="Aptos Display" pitchFamily="34" charset="0"/>
                <a:ea typeface="Aptos Display" pitchFamily="34" charset="-122"/>
                <a:cs typeface="Aptos Display" pitchFamily="34" charset="-120"/>
              </a:rPr>
              <a:t>and L2 Text Memory</a:t>
            </a:r>
            <a:endParaRPr lang="en-US" sz="3000" dirty="0"/>
          </a:p>
        </p:txBody>
      </p:sp>
      <p:sp>
        <p:nvSpPr>
          <p:cNvPr id="7" name="Text 4"/>
          <p:cNvSpPr/>
          <p:nvPr/>
        </p:nvSpPr>
        <p:spPr>
          <a:xfrm>
            <a:off x="594360" y="2376117"/>
            <a:ext cx="5074920" cy="749808"/>
          </a:xfrm>
          <a:prstGeom prst="rect">
            <a:avLst/>
          </a:prstGeom>
          <a:noFill/>
          <a:ln/>
        </p:spPr>
        <p:txBody>
          <a:bodyPr wrap="square" lIns="0" tIns="0" rIns="0" bIns="0" rtlCol="0" anchor="ctr">
            <a:normAutofit/>
          </a:bodyPr>
          <a:lstStyle/>
          <a:p>
            <a:pPr marL="0" indent="0">
              <a:buNone/>
            </a:pPr>
            <a:r>
              <a:rPr lang="en-US" sz="1140" dirty="0" err="1">
                <a:solidFill>
                  <a:srgbClr val="5B677A"/>
                </a:solidFill>
              </a:rPr>
              <a:t>研究中英双语读者如何通过语言线索判断文本来源，并在英文二语阅读中进行记忆编码</a:t>
            </a:r>
            <a:r>
              <a:rPr lang="en-US" sz="1140" dirty="0">
                <a:solidFill>
                  <a:srgbClr val="5B677A"/>
                </a:solidFill>
              </a:rPr>
              <a:t>。</a:t>
            </a:r>
            <a:endParaRPr lang="en-US" sz="1140" dirty="0"/>
          </a:p>
        </p:txBody>
      </p:sp>
      <p:sp>
        <p:nvSpPr>
          <p:cNvPr id="9" name="Text 6"/>
          <p:cNvSpPr/>
          <p:nvPr/>
        </p:nvSpPr>
        <p:spPr>
          <a:xfrm>
            <a:off x="713232" y="4270248"/>
            <a:ext cx="3566160" cy="137160"/>
          </a:xfrm>
          <a:prstGeom prst="rect">
            <a:avLst/>
          </a:prstGeom>
          <a:noFill/>
          <a:ln/>
        </p:spPr>
        <p:txBody>
          <a:bodyPr wrap="square" lIns="0" tIns="0" rIns="0" bIns="0" rtlCol="0" anchor="ctr">
            <a:normAutofit/>
          </a:bodyPr>
          <a:lstStyle/>
          <a:p>
            <a:pPr marL="0" indent="0" algn="ctr">
              <a:buNone/>
            </a:pPr>
            <a:r>
              <a:rPr lang="en-US" sz="880" b="1" dirty="0">
                <a:solidFill>
                  <a:srgbClr val="FFFFFF"/>
                </a:solidFill>
              </a:rPr>
              <a:t>psycholinguistics · L2 reading · working memory</a:t>
            </a:r>
            <a:endParaRPr lang="en-US" sz="880" dirty="0"/>
          </a:p>
        </p:txBody>
      </p:sp>
      <p:sp>
        <p:nvSpPr>
          <p:cNvPr id="11" name="Text 8"/>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Why this is a psycholinguistic question</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为什么这是心理语言学问题</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pic>
        <p:nvPicPr>
          <p:cNvPr id="6" name="Image 0" descr="/mnt/data/a_wide_clean_digital_illustration_concept_art_s.png"/>
          <p:cNvPicPr>
            <a:picLocks noChangeAspect="1"/>
          </p:cNvPicPr>
          <p:nvPr/>
        </p:nvPicPr>
        <p:blipFill>
          <a:blip r:embed="rId3"/>
          <a:srcRect l="21592" r="21592"/>
          <a:stretch/>
        </p:blipFill>
        <p:spPr>
          <a:xfrm>
            <a:off x="502920" y="1417320"/>
            <a:ext cx="4846320" cy="4800600"/>
          </a:xfrm>
          <a:prstGeom prst="rect">
            <a:avLst/>
          </a:prstGeom>
        </p:spPr>
      </p:pic>
      <p:sp>
        <p:nvSpPr>
          <p:cNvPr id="7" name="Shape 4"/>
          <p:cNvSpPr/>
          <p:nvPr/>
        </p:nvSpPr>
        <p:spPr>
          <a:xfrm>
            <a:off x="5669280" y="1417320"/>
            <a:ext cx="5532120" cy="4617720"/>
          </a:xfrm>
          <a:prstGeom prst="roundRect">
            <a:avLst>
              <a:gd name="adj" fmla="val 1584"/>
            </a:avLst>
          </a:prstGeom>
          <a:solidFill>
            <a:srgbClr val="FFFFFF"/>
          </a:solidFill>
          <a:ln w="12700">
            <a:solidFill>
              <a:srgbClr val="CFE0F2">
                <a:alpha val="60000"/>
              </a:srgbClr>
            </a:solidFill>
            <a:prstDash val="solid"/>
          </a:ln>
        </p:spPr>
      </p:sp>
      <p:sp>
        <p:nvSpPr>
          <p:cNvPr id="8" name="Text 5"/>
          <p:cNvSpPr/>
          <p:nvPr/>
        </p:nvSpPr>
        <p:spPr>
          <a:xfrm>
            <a:off x="5989320" y="1673352"/>
            <a:ext cx="3017520" cy="256032"/>
          </a:xfrm>
          <a:prstGeom prst="rect">
            <a:avLst/>
          </a:prstGeom>
          <a:noFill/>
          <a:ln/>
        </p:spPr>
        <p:txBody>
          <a:bodyPr wrap="square" lIns="0" tIns="0" rIns="0" bIns="0" rtlCol="0" anchor="ctr"/>
          <a:lstStyle/>
          <a:p>
            <a:pPr marL="0" indent="0">
              <a:buNone/>
            </a:pPr>
            <a:r>
              <a:rPr lang="en-US" sz="1650" b="1" dirty="0">
                <a:solidFill>
                  <a:srgbClr val="173B66"/>
                </a:solidFill>
              </a:rPr>
              <a:t>Core framing / 核心定位</a:t>
            </a:r>
            <a:endParaRPr lang="en-US" sz="1650" dirty="0"/>
          </a:p>
        </p:txBody>
      </p:sp>
      <p:sp>
        <p:nvSpPr>
          <p:cNvPr id="9" name="Text 6"/>
          <p:cNvSpPr/>
          <p:nvPr/>
        </p:nvSpPr>
        <p:spPr>
          <a:xfrm>
            <a:off x="6035040" y="214884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0" name="Text 7"/>
          <p:cNvSpPr/>
          <p:nvPr/>
        </p:nvSpPr>
        <p:spPr>
          <a:xfrm>
            <a:off x="6291072" y="2148840"/>
            <a:ext cx="4754880" cy="228600"/>
          </a:xfrm>
          <a:prstGeom prst="rect">
            <a:avLst/>
          </a:prstGeom>
          <a:noFill/>
          <a:ln/>
        </p:spPr>
        <p:txBody>
          <a:bodyPr wrap="square" lIns="0" tIns="0" rIns="0" bIns="0" rtlCol="0" anchor="ctr">
            <a:normAutofit/>
          </a:bodyPr>
          <a:lstStyle/>
          <a:p>
            <a:pPr marL="0" indent="0">
              <a:buNone/>
            </a:pPr>
            <a:r>
              <a:rPr lang="en-US" sz="1220" b="1" dirty="0">
                <a:solidFill>
                  <a:srgbClr val="1E293B"/>
                </a:solidFill>
              </a:rPr>
              <a:t>Reading is not only decoding words.</a:t>
            </a:r>
            <a:endParaRPr lang="en-US" sz="1220" dirty="0"/>
          </a:p>
        </p:txBody>
      </p:sp>
      <p:sp>
        <p:nvSpPr>
          <p:cNvPr id="11" name="Text 8"/>
          <p:cNvSpPr/>
          <p:nvPr/>
        </p:nvSpPr>
        <p:spPr>
          <a:xfrm>
            <a:off x="6291072" y="2386584"/>
            <a:ext cx="4754880" cy="256032"/>
          </a:xfrm>
          <a:prstGeom prst="rect">
            <a:avLst/>
          </a:prstGeom>
          <a:noFill/>
          <a:ln/>
        </p:spPr>
        <p:txBody>
          <a:bodyPr wrap="square" lIns="0" tIns="0" rIns="0" bIns="0" rtlCol="0" anchor="ctr">
            <a:normAutofit/>
          </a:bodyPr>
          <a:lstStyle/>
          <a:p>
            <a:pPr marL="0" indent="0">
              <a:buNone/>
            </a:pPr>
            <a:r>
              <a:rPr lang="en-US" sz="1060" dirty="0">
                <a:solidFill>
                  <a:srgbClr val="5B677A"/>
                </a:solidFill>
              </a:rPr>
              <a:t>阅读不只是解码词句，也包括推断语气、作者和意图。</a:t>
            </a:r>
            <a:endParaRPr lang="en-US" sz="1060" dirty="0"/>
          </a:p>
        </p:txBody>
      </p:sp>
      <p:sp>
        <p:nvSpPr>
          <p:cNvPr id="12" name="Text 9"/>
          <p:cNvSpPr/>
          <p:nvPr/>
        </p:nvSpPr>
        <p:spPr>
          <a:xfrm>
            <a:off x="6035040" y="297180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3" name="Text 10"/>
          <p:cNvSpPr/>
          <p:nvPr/>
        </p:nvSpPr>
        <p:spPr>
          <a:xfrm>
            <a:off x="6291072" y="2971800"/>
            <a:ext cx="4754880" cy="228600"/>
          </a:xfrm>
          <a:prstGeom prst="rect">
            <a:avLst/>
          </a:prstGeom>
          <a:noFill/>
          <a:ln/>
        </p:spPr>
        <p:txBody>
          <a:bodyPr wrap="square" lIns="0" tIns="0" rIns="0" bIns="0" rtlCol="0" anchor="ctr">
            <a:normAutofit/>
          </a:bodyPr>
          <a:lstStyle/>
          <a:p>
            <a:pPr marL="0" indent="0">
              <a:buNone/>
            </a:pPr>
            <a:r>
              <a:rPr lang="en-US" sz="1220" b="1" dirty="0">
                <a:solidFill>
                  <a:srgbClr val="1E293B"/>
                </a:solidFill>
              </a:rPr>
              <a:t>“AI‑like” may be a psycholinguistic perception.</a:t>
            </a:r>
            <a:endParaRPr lang="en-US" sz="1220" dirty="0"/>
          </a:p>
        </p:txBody>
      </p:sp>
      <p:sp>
        <p:nvSpPr>
          <p:cNvPr id="14" name="Text 11"/>
          <p:cNvSpPr/>
          <p:nvPr/>
        </p:nvSpPr>
        <p:spPr>
          <a:xfrm>
            <a:off x="6291072" y="3209544"/>
            <a:ext cx="4754880" cy="256032"/>
          </a:xfrm>
          <a:prstGeom prst="rect">
            <a:avLst/>
          </a:prstGeom>
          <a:noFill/>
          <a:ln/>
        </p:spPr>
        <p:txBody>
          <a:bodyPr wrap="square" lIns="0" tIns="0" rIns="0" bIns="0" rtlCol="0" anchor="ctr">
            <a:normAutofit/>
          </a:bodyPr>
          <a:lstStyle/>
          <a:p>
            <a:pPr marL="0" indent="0">
              <a:buNone/>
            </a:pPr>
            <a:r>
              <a:rPr lang="en-US" sz="1060" dirty="0">
                <a:solidFill>
                  <a:srgbClr val="5B677A"/>
                </a:solidFill>
              </a:rPr>
              <a:t>“AI 感”可能是一种由语言特征触发的心理语言感知。</a:t>
            </a:r>
            <a:endParaRPr lang="en-US" sz="1060" dirty="0"/>
          </a:p>
        </p:txBody>
      </p:sp>
      <p:sp>
        <p:nvSpPr>
          <p:cNvPr id="15" name="Text 12"/>
          <p:cNvSpPr/>
          <p:nvPr/>
        </p:nvSpPr>
        <p:spPr>
          <a:xfrm>
            <a:off x="6035040" y="379476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6" name="Text 13"/>
          <p:cNvSpPr/>
          <p:nvPr/>
        </p:nvSpPr>
        <p:spPr>
          <a:xfrm>
            <a:off x="6291072" y="3794760"/>
            <a:ext cx="4754880" cy="228600"/>
          </a:xfrm>
          <a:prstGeom prst="rect">
            <a:avLst/>
          </a:prstGeom>
          <a:noFill/>
          <a:ln/>
        </p:spPr>
        <p:txBody>
          <a:bodyPr wrap="square" lIns="0" tIns="0" rIns="0" bIns="0" rtlCol="0" anchor="ctr">
            <a:normAutofit/>
          </a:bodyPr>
          <a:lstStyle/>
          <a:p>
            <a:pPr marL="0" indent="0">
              <a:buNone/>
            </a:pPr>
            <a:r>
              <a:rPr lang="en-US" sz="1220" b="1" dirty="0">
                <a:solidFill>
                  <a:srgbClr val="1E293B"/>
                </a:solidFill>
              </a:rPr>
              <a:t>In L2 reading, linguistic style may affect memory encoding.</a:t>
            </a:r>
            <a:endParaRPr lang="en-US" sz="1220" dirty="0"/>
          </a:p>
        </p:txBody>
      </p:sp>
      <p:sp>
        <p:nvSpPr>
          <p:cNvPr id="17" name="Text 14"/>
          <p:cNvSpPr/>
          <p:nvPr/>
        </p:nvSpPr>
        <p:spPr>
          <a:xfrm>
            <a:off x="6291072" y="4032504"/>
            <a:ext cx="4754880" cy="256032"/>
          </a:xfrm>
          <a:prstGeom prst="rect">
            <a:avLst/>
          </a:prstGeom>
          <a:noFill/>
          <a:ln/>
        </p:spPr>
        <p:txBody>
          <a:bodyPr wrap="square" lIns="0" tIns="0" rIns="0" bIns="0" rtlCol="0" anchor="ctr">
            <a:normAutofit/>
          </a:bodyPr>
          <a:lstStyle/>
          <a:p>
            <a:pPr marL="0" indent="0">
              <a:buNone/>
            </a:pPr>
            <a:r>
              <a:rPr lang="en-US" sz="1060" dirty="0">
                <a:solidFill>
                  <a:srgbClr val="5B677A"/>
                </a:solidFill>
              </a:rPr>
              <a:t>在二语阅读中，文本风格可能进一步影响工作记忆和编码。</a:t>
            </a:r>
            <a:endParaRPr lang="en-US" sz="1060" dirty="0"/>
          </a:p>
        </p:txBody>
      </p:sp>
      <p:sp>
        <p:nvSpPr>
          <p:cNvPr id="18" name="Shape 15"/>
          <p:cNvSpPr/>
          <p:nvPr/>
        </p:nvSpPr>
        <p:spPr>
          <a:xfrm>
            <a:off x="5989320" y="4709160"/>
            <a:ext cx="4754880" cy="0"/>
          </a:xfrm>
          <a:prstGeom prst="line">
            <a:avLst/>
          </a:prstGeom>
          <a:noFill/>
          <a:ln w="12700">
            <a:solidFill>
              <a:srgbClr val="CFE0F2"/>
            </a:solidFill>
            <a:prstDash val="solid"/>
          </a:ln>
        </p:spPr>
      </p:sp>
      <p:sp>
        <p:nvSpPr>
          <p:cNvPr id="19" name="Text 16"/>
          <p:cNvSpPr/>
          <p:nvPr/>
        </p:nvSpPr>
        <p:spPr>
          <a:xfrm>
            <a:off x="5989320" y="4983480"/>
            <a:ext cx="2194560" cy="201168"/>
          </a:xfrm>
          <a:prstGeom prst="rect">
            <a:avLst/>
          </a:prstGeom>
          <a:noFill/>
          <a:ln/>
        </p:spPr>
        <p:txBody>
          <a:bodyPr wrap="square" lIns="0" tIns="0" rIns="0" bIns="0" rtlCol="0" anchor="ctr"/>
          <a:lstStyle/>
          <a:p>
            <a:pPr marL="0" indent="0">
              <a:buNone/>
            </a:pPr>
            <a:r>
              <a:rPr lang="en-US" sz="1250" b="1" dirty="0">
                <a:solidFill>
                  <a:srgbClr val="2B6CB0"/>
                </a:solidFill>
              </a:rPr>
              <a:t>Key concepts 关键词</a:t>
            </a:r>
            <a:endParaRPr lang="en-US" sz="1250" dirty="0"/>
          </a:p>
        </p:txBody>
      </p:sp>
      <p:sp>
        <p:nvSpPr>
          <p:cNvPr id="20" name="Text 17"/>
          <p:cNvSpPr/>
          <p:nvPr/>
        </p:nvSpPr>
        <p:spPr>
          <a:xfrm>
            <a:off x="5989320" y="5285232"/>
            <a:ext cx="4800600" cy="347472"/>
          </a:xfrm>
          <a:prstGeom prst="rect">
            <a:avLst/>
          </a:prstGeom>
          <a:noFill/>
          <a:ln/>
        </p:spPr>
        <p:txBody>
          <a:bodyPr wrap="square" lIns="0" tIns="0" rIns="0" bIns="0" rtlCol="0" anchor="ctr">
            <a:normAutofit/>
          </a:bodyPr>
          <a:lstStyle/>
          <a:p>
            <a:pPr marL="0" indent="0">
              <a:buNone/>
            </a:pPr>
            <a:r>
              <a:rPr lang="en-US" sz="1160" dirty="0">
                <a:solidFill>
                  <a:srgbClr val="1E293B"/>
                </a:solidFill>
              </a:rPr>
              <a:t>language perception · reading comprehension · pragmatics · L2 memory</a:t>
            </a:r>
            <a:endParaRPr lang="en-US" sz="1160" dirty="0"/>
          </a:p>
          <a:p>
            <a:pPr marL="0" indent="0">
              <a:buNone/>
            </a:pPr>
            <a:r>
              <a:rPr lang="en-US" sz="1160" dirty="0">
                <a:solidFill>
                  <a:srgbClr val="1E293B"/>
                </a:solidFill>
              </a:rPr>
              <a:t>语言感知 · 阅读理解 · 语用推断 · 二语记忆</a:t>
            </a:r>
            <a:endParaRPr lang="en-US" sz="1160" dirty="0"/>
          </a:p>
        </p:txBody>
      </p:sp>
      <p:sp>
        <p:nvSpPr>
          <p:cNvPr id="21" name="Text 18"/>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Research questions and variables</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研究问题与变量</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Shape 4"/>
          <p:cNvSpPr/>
          <p:nvPr/>
        </p:nvSpPr>
        <p:spPr>
          <a:xfrm>
            <a:off x="685800" y="1417320"/>
            <a:ext cx="10789920" cy="822960"/>
          </a:xfrm>
          <a:prstGeom prst="roundRect">
            <a:avLst>
              <a:gd name="adj" fmla="val 6667"/>
            </a:avLst>
          </a:prstGeom>
          <a:solidFill>
            <a:srgbClr val="EAF4FF"/>
          </a:solidFill>
          <a:ln w="12700">
            <a:solidFill>
              <a:srgbClr val="333333">
                <a:alpha val="0"/>
              </a:srgbClr>
            </a:solidFill>
            <a:prstDash val="solid"/>
          </a:ln>
        </p:spPr>
      </p:sp>
      <p:sp>
        <p:nvSpPr>
          <p:cNvPr id="7" name="Text 5"/>
          <p:cNvSpPr/>
          <p:nvPr/>
        </p:nvSpPr>
        <p:spPr>
          <a:xfrm>
            <a:off x="914400" y="1600200"/>
            <a:ext cx="10241280" cy="210312"/>
          </a:xfrm>
          <a:prstGeom prst="rect">
            <a:avLst/>
          </a:prstGeom>
          <a:noFill/>
          <a:ln/>
        </p:spPr>
        <p:txBody>
          <a:bodyPr wrap="square" lIns="0" tIns="0" rIns="0" bIns="0" rtlCol="0" anchor="ctr">
            <a:normAutofit/>
          </a:bodyPr>
          <a:lstStyle/>
          <a:p>
            <a:pPr marL="0" indent="0">
              <a:buNone/>
            </a:pPr>
            <a:r>
              <a:rPr lang="en-US" sz="1550" b="1" dirty="0">
                <a:solidFill>
                  <a:srgbClr val="173B66"/>
                </a:solidFill>
              </a:rPr>
              <a:t>RQ1: Which linguistic cues make an English text sound AI‑generated to bilingual readers?</a:t>
            </a:r>
            <a:endParaRPr lang="en-US" sz="1550" dirty="0"/>
          </a:p>
        </p:txBody>
      </p:sp>
      <p:sp>
        <p:nvSpPr>
          <p:cNvPr id="8" name="Text 6"/>
          <p:cNvSpPr/>
          <p:nvPr/>
        </p:nvSpPr>
        <p:spPr>
          <a:xfrm>
            <a:off x="914400" y="1874520"/>
            <a:ext cx="10241280" cy="164592"/>
          </a:xfrm>
          <a:prstGeom prst="rect">
            <a:avLst/>
          </a:prstGeom>
          <a:noFill/>
          <a:ln/>
        </p:spPr>
        <p:txBody>
          <a:bodyPr wrap="square" lIns="0" tIns="0" rIns="0" bIns="0" rtlCol="0" anchor="ctr">
            <a:normAutofit/>
          </a:bodyPr>
          <a:lstStyle/>
          <a:p>
            <a:pPr marL="0" indent="0">
              <a:buNone/>
            </a:pPr>
            <a:r>
              <a:rPr lang="en-US" sz="1150" dirty="0">
                <a:solidFill>
                  <a:srgbClr val="5B677A"/>
                </a:solidFill>
              </a:rPr>
              <a:t>研究问题1：哪些语言线索会让英文文本被双语读者判断为 AI 生成？</a:t>
            </a:r>
            <a:endParaRPr lang="en-US" sz="1150" dirty="0"/>
          </a:p>
        </p:txBody>
      </p:sp>
      <p:sp>
        <p:nvSpPr>
          <p:cNvPr id="9" name="Shape 7"/>
          <p:cNvSpPr/>
          <p:nvPr/>
        </p:nvSpPr>
        <p:spPr>
          <a:xfrm>
            <a:off x="685800" y="2514600"/>
            <a:ext cx="10789920" cy="822960"/>
          </a:xfrm>
          <a:prstGeom prst="roundRect">
            <a:avLst>
              <a:gd name="adj" fmla="val 6667"/>
            </a:avLst>
          </a:prstGeom>
          <a:solidFill>
            <a:srgbClr val="FFF9EF"/>
          </a:solidFill>
          <a:ln w="12700">
            <a:solidFill>
              <a:srgbClr val="333333">
                <a:alpha val="0"/>
              </a:srgbClr>
            </a:solidFill>
            <a:prstDash val="solid"/>
          </a:ln>
        </p:spPr>
      </p:sp>
      <p:sp>
        <p:nvSpPr>
          <p:cNvPr id="10" name="Text 8"/>
          <p:cNvSpPr/>
          <p:nvPr/>
        </p:nvSpPr>
        <p:spPr>
          <a:xfrm>
            <a:off x="914400" y="2697480"/>
            <a:ext cx="10241280" cy="210312"/>
          </a:xfrm>
          <a:prstGeom prst="rect">
            <a:avLst/>
          </a:prstGeom>
          <a:noFill/>
          <a:ln/>
        </p:spPr>
        <p:txBody>
          <a:bodyPr wrap="square" lIns="0" tIns="0" rIns="0" bIns="0" rtlCol="0" anchor="ctr">
            <a:normAutofit/>
          </a:bodyPr>
          <a:lstStyle/>
          <a:p>
            <a:pPr marL="0" indent="0">
              <a:buNone/>
            </a:pPr>
            <a:r>
              <a:rPr lang="en-US" sz="1550" b="1" dirty="0">
                <a:solidFill>
                  <a:srgbClr val="173B66"/>
                </a:solidFill>
              </a:rPr>
              <a:t>RQ2: Do AI‑generated and human‑written texts differ in L2 memory encoding?</a:t>
            </a:r>
            <a:endParaRPr lang="en-US" sz="1550" dirty="0"/>
          </a:p>
        </p:txBody>
      </p:sp>
      <p:sp>
        <p:nvSpPr>
          <p:cNvPr id="11" name="Text 9"/>
          <p:cNvSpPr/>
          <p:nvPr/>
        </p:nvSpPr>
        <p:spPr>
          <a:xfrm>
            <a:off x="914400" y="2971800"/>
            <a:ext cx="10241280" cy="164592"/>
          </a:xfrm>
          <a:prstGeom prst="rect">
            <a:avLst/>
          </a:prstGeom>
          <a:noFill/>
          <a:ln/>
        </p:spPr>
        <p:txBody>
          <a:bodyPr wrap="square" lIns="0" tIns="0" rIns="0" bIns="0" rtlCol="0" anchor="ctr">
            <a:normAutofit/>
          </a:bodyPr>
          <a:lstStyle/>
          <a:p>
            <a:pPr marL="0" indent="0">
              <a:buNone/>
            </a:pPr>
            <a:r>
              <a:rPr lang="en-US" sz="1150" dirty="0">
                <a:solidFill>
                  <a:srgbClr val="5B677A"/>
                </a:solidFill>
              </a:rPr>
              <a:t>研究问题2：AI 文本和人类文本在英文二语阅读中的记忆编码是否不同？</a:t>
            </a:r>
            <a:endParaRPr lang="en-US" sz="1150" dirty="0"/>
          </a:p>
        </p:txBody>
      </p:sp>
      <p:sp>
        <p:nvSpPr>
          <p:cNvPr id="12" name="Shape 10"/>
          <p:cNvSpPr/>
          <p:nvPr/>
        </p:nvSpPr>
        <p:spPr>
          <a:xfrm>
            <a:off x="822960" y="4069080"/>
            <a:ext cx="2971800" cy="960120"/>
          </a:xfrm>
          <a:prstGeom prst="roundRect">
            <a:avLst>
              <a:gd name="adj" fmla="val 7619"/>
            </a:avLst>
          </a:prstGeom>
          <a:solidFill>
            <a:srgbClr val="EAF4FF"/>
          </a:solidFill>
          <a:ln w="12700">
            <a:solidFill>
              <a:srgbClr val="CFE0F2"/>
            </a:solidFill>
            <a:prstDash val="solid"/>
          </a:ln>
        </p:spPr>
      </p:sp>
      <p:sp>
        <p:nvSpPr>
          <p:cNvPr id="13" name="Text 11"/>
          <p:cNvSpPr/>
          <p:nvPr/>
        </p:nvSpPr>
        <p:spPr>
          <a:xfrm>
            <a:off x="960120" y="4206240"/>
            <a:ext cx="2651760" cy="237744"/>
          </a:xfrm>
          <a:prstGeom prst="rect">
            <a:avLst/>
          </a:prstGeom>
          <a:noFill/>
          <a:ln/>
        </p:spPr>
        <p:txBody>
          <a:bodyPr wrap="square" lIns="0" tIns="0" rIns="0" bIns="0" rtlCol="0" anchor="ctr">
            <a:normAutofit/>
          </a:bodyPr>
          <a:lstStyle/>
          <a:p>
            <a:pPr marL="0" indent="0" algn="ctr">
              <a:buNone/>
            </a:pPr>
            <a:r>
              <a:rPr lang="en-US" sz="1200" b="1" dirty="0">
                <a:solidFill>
                  <a:srgbClr val="2B6CB0"/>
                </a:solidFill>
              </a:rPr>
              <a:t>Independent variable</a:t>
            </a:r>
            <a:endParaRPr lang="en-US" sz="1200" dirty="0"/>
          </a:p>
          <a:p>
            <a:pPr marL="0" indent="0" algn="ctr">
              <a:buNone/>
            </a:pPr>
            <a:r>
              <a:rPr lang="en-US" sz="1200" b="1" dirty="0">
                <a:solidFill>
                  <a:srgbClr val="2B6CB0"/>
                </a:solidFill>
              </a:rPr>
              <a:t>自变量</a:t>
            </a:r>
            <a:endParaRPr lang="en-US" sz="1200" dirty="0"/>
          </a:p>
        </p:txBody>
      </p:sp>
      <p:sp>
        <p:nvSpPr>
          <p:cNvPr id="14" name="Text 12"/>
          <p:cNvSpPr/>
          <p:nvPr/>
        </p:nvSpPr>
        <p:spPr>
          <a:xfrm>
            <a:off x="987552" y="4526280"/>
            <a:ext cx="2651760" cy="310896"/>
          </a:xfrm>
          <a:prstGeom prst="rect">
            <a:avLst/>
          </a:prstGeom>
          <a:noFill/>
          <a:ln/>
        </p:spPr>
        <p:txBody>
          <a:bodyPr wrap="square" lIns="0" tIns="0" rIns="0" bIns="0" rtlCol="0" anchor="ctr">
            <a:normAutofit/>
          </a:bodyPr>
          <a:lstStyle/>
          <a:p>
            <a:pPr marL="0" indent="0" algn="ctr">
              <a:buNone/>
            </a:pPr>
            <a:r>
              <a:rPr lang="en-US" sz="1130" dirty="0">
                <a:solidFill>
                  <a:srgbClr val="1E293B"/>
                </a:solidFill>
              </a:rPr>
              <a:t>Text type</a:t>
            </a:r>
            <a:endParaRPr lang="en-US" sz="1130" dirty="0"/>
          </a:p>
          <a:p>
            <a:pPr marL="0" indent="0" algn="ctr">
              <a:buNone/>
            </a:pPr>
            <a:r>
              <a:rPr lang="en-US" sz="1130" dirty="0">
                <a:solidFill>
                  <a:srgbClr val="1E293B"/>
                </a:solidFill>
              </a:rPr>
              <a:t>文本类型：Human / AI / Hybrid</a:t>
            </a:r>
            <a:endParaRPr lang="en-US" sz="1130" dirty="0"/>
          </a:p>
        </p:txBody>
      </p:sp>
      <p:sp>
        <p:nvSpPr>
          <p:cNvPr id="15" name="Shape 13"/>
          <p:cNvSpPr/>
          <p:nvPr/>
        </p:nvSpPr>
        <p:spPr>
          <a:xfrm>
            <a:off x="3895344" y="4389120"/>
            <a:ext cx="411480" cy="310896"/>
          </a:xfrm>
          <a:prstGeom prst="rightArrow">
            <a:avLst/>
          </a:prstGeom>
          <a:solidFill>
            <a:srgbClr val="2B6CB0">
              <a:alpha val="80000"/>
            </a:srgbClr>
          </a:solidFill>
          <a:ln w="12700">
            <a:solidFill>
              <a:srgbClr val="333333">
                <a:alpha val="0"/>
              </a:srgbClr>
            </a:solidFill>
            <a:prstDash val="solid"/>
          </a:ln>
        </p:spPr>
      </p:sp>
      <p:sp>
        <p:nvSpPr>
          <p:cNvPr id="16" name="Shape 14"/>
          <p:cNvSpPr/>
          <p:nvPr/>
        </p:nvSpPr>
        <p:spPr>
          <a:xfrm>
            <a:off x="4617720" y="4069080"/>
            <a:ext cx="2971800" cy="960120"/>
          </a:xfrm>
          <a:prstGeom prst="roundRect">
            <a:avLst>
              <a:gd name="adj" fmla="val 7619"/>
            </a:avLst>
          </a:prstGeom>
          <a:solidFill>
            <a:srgbClr val="FFFFFF"/>
          </a:solidFill>
          <a:ln w="12700">
            <a:solidFill>
              <a:srgbClr val="CFE0F2"/>
            </a:solidFill>
            <a:prstDash val="solid"/>
          </a:ln>
        </p:spPr>
      </p:sp>
      <p:sp>
        <p:nvSpPr>
          <p:cNvPr id="17" name="Text 15"/>
          <p:cNvSpPr/>
          <p:nvPr/>
        </p:nvSpPr>
        <p:spPr>
          <a:xfrm>
            <a:off x="4754880" y="4206240"/>
            <a:ext cx="2651760" cy="237744"/>
          </a:xfrm>
          <a:prstGeom prst="rect">
            <a:avLst/>
          </a:prstGeom>
          <a:noFill/>
          <a:ln/>
        </p:spPr>
        <p:txBody>
          <a:bodyPr wrap="square" lIns="0" tIns="0" rIns="0" bIns="0" rtlCol="0" anchor="ctr">
            <a:normAutofit/>
          </a:bodyPr>
          <a:lstStyle/>
          <a:p>
            <a:pPr marL="0" indent="0" algn="ctr">
              <a:buNone/>
            </a:pPr>
            <a:r>
              <a:rPr lang="en-US" sz="1200" b="1" dirty="0">
                <a:solidFill>
                  <a:srgbClr val="C07634"/>
                </a:solidFill>
              </a:rPr>
              <a:t>Mediating cues</a:t>
            </a:r>
            <a:endParaRPr lang="en-US" sz="1200" dirty="0"/>
          </a:p>
          <a:p>
            <a:pPr marL="0" indent="0" algn="ctr">
              <a:buNone/>
            </a:pPr>
            <a:r>
              <a:rPr lang="en-US" sz="1200" b="1" dirty="0">
                <a:solidFill>
                  <a:srgbClr val="C07634"/>
                </a:solidFill>
              </a:rPr>
              <a:t>中介线索</a:t>
            </a:r>
            <a:endParaRPr lang="en-US" sz="1200" dirty="0"/>
          </a:p>
        </p:txBody>
      </p:sp>
      <p:sp>
        <p:nvSpPr>
          <p:cNvPr id="18" name="Text 16"/>
          <p:cNvSpPr/>
          <p:nvPr/>
        </p:nvSpPr>
        <p:spPr>
          <a:xfrm>
            <a:off x="4782312" y="4526280"/>
            <a:ext cx="2651760" cy="310896"/>
          </a:xfrm>
          <a:prstGeom prst="rect">
            <a:avLst/>
          </a:prstGeom>
          <a:noFill/>
          <a:ln/>
        </p:spPr>
        <p:txBody>
          <a:bodyPr wrap="square" lIns="0" tIns="0" rIns="0" bIns="0" rtlCol="0" anchor="ctr">
            <a:normAutofit/>
          </a:bodyPr>
          <a:lstStyle/>
          <a:p>
            <a:pPr marL="0" indent="0" algn="ctr">
              <a:buNone/>
            </a:pPr>
            <a:r>
              <a:rPr lang="en-US" sz="1130" dirty="0">
                <a:solidFill>
                  <a:srgbClr val="1E293B"/>
                </a:solidFill>
              </a:rPr>
              <a:t>fluency · structure · emotion · voice</a:t>
            </a:r>
            <a:endParaRPr lang="en-US" sz="1130" dirty="0"/>
          </a:p>
          <a:p>
            <a:pPr marL="0" indent="0" algn="ctr">
              <a:buNone/>
            </a:pPr>
            <a:r>
              <a:rPr lang="en-US" sz="1130" dirty="0">
                <a:solidFill>
                  <a:srgbClr val="1E293B"/>
                </a:solidFill>
              </a:rPr>
              <a:t>流畅度 · 结构 · 情绪 · 个人声音</a:t>
            </a:r>
            <a:endParaRPr lang="en-US" sz="1130" dirty="0"/>
          </a:p>
        </p:txBody>
      </p:sp>
      <p:sp>
        <p:nvSpPr>
          <p:cNvPr id="19" name="Shape 17"/>
          <p:cNvSpPr/>
          <p:nvPr/>
        </p:nvSpPr>
        <p:spPr>
          <a:xfrm>
            <a:off x="7690104" y="4389120"/>
            <a:ext cx="411480" cy="310896"/>
          </a:xfrm>
          <a:prstGeom prst="rightArrow">
            <a:avLst/>
          </a:prstGeom>
          <a:solidFill>
            <a:srgbClr val="2B6CB0">
              <a:alpha val="80000"/>
            </a:srgbClr>
          </a:solidFill>
          <a:ln w="12700">
            <a:solidFill>
              <a:srgbClr val="333333">
                <a:alpha val="0"/>
              </a:srgbClr>
            </a:solidFill>
            <a:prstDash val="solid"/>
          </a:ln>
        </p:spPr>
      </p:sp>
      <p:sp>
        <p:nvSpPr>
          <p:cNvPr id="20" name="Shape 18"/>
          <p:cNvSpPr/>
          <p:nvPr/>
        </p:nvSpPr>
        <p:spPr>
          <a:xfrm>
            <a:off x="8275320" y="4069080"/>
            <a:ext cx="2971800" cy="960120"/>
          </a:xfrm>
          <a:prstGeom prst="roundRect">
            <a:avLst>
              <a:gd name="adj" fmla="val 7619"/>
            </a:avLst>
          </a:prstGeom>
          <a:solidFill>
            <a:srgbClr val="FFF9EF"/>
          </a:solidFill>
          <a:ln w="12700">
            <a:solidFill>
              <a:srgbClr val="CFE0F2"/>
            </a:solidFill>
            <a:prstDash val="solid"/>
          </a:ln>
        </p:spPr>
      </p:sp>
      <p:sp>
        <p:nvSpPr>
          <p:cNvPr id="21" name="Text 19"/>
          <p:cNvSpPr/>
          <p:nvPr/>
        </p:nvSpPr>
        <p:spPr>
          <a:xfrm>
            <a:off x="8412480" y="4206240"/>
            <a:ext cx="2651760" cy="237744"/>
          </a:xfrm>
          <a:prstGeom prst="rect">
            <a:avLst/>
          </a:prstGeom>
          <a:noFill/>
          <a:ln/>
        </p:spPr>
        <p:txBody>
          <a:bodyPr wrap="square" lIns="0" tIns="0" rIns="0" bIns="0" rtlCol="0" anchor="ctr">
            <a:normAutofit/>
          </a:bodyPr>
          <a:lstStyle/>
          <a:p>
            <a:pPr marL="0" indent="0" algn="ctr">
              <a:buNone/>
            </a:pPr>
            <a:r>
              <a:rPr lang="en-US" sz="1200" b="1" dirty="0">
                <a:solidFill>
                  <a:srgbClr val="2B6CB0"/>
                </a:solidFill>
              </a:rPr>
              <a:t>Dependent variables</a:t>
            </a:r>
            <a:endParaRPr lang="en-US" sz="1200" dirty="0"/>
          </a:p>
          <a:p>
            <a:pPr marL="0" indent="0" algn="ctr">
              <a:buNone/>
            </a:pPr>
            <a:r>
              <a:rPr lang="en-US" sz="1200" b="1" dirty="0">
                <a:solidFill>
                  <a:srgbClr val="2B6CB0"/>
                </a:solidFill>
              </a:rPr>
              <a:t>因变量</a:t>
            </a:r>
            <a:endParaRPr lang="en-US" sz="1200" dirty="0"/>
          </a:p>
        </p:txBody>
      </p:sp>
      <p:sp>
        <p:nvSpPr>
          <p:cNvPr id="22" name="Text 20"/>
          <p:cNvSpPr/>
          <p:nvPr/>
        </p:nvSpPr>
        <p:spPr>
          <a:xfrm>
            <a:off x="8439912" y="4526280"/>
            <a:ext cx="2651760" cy="310896"/>
          </a:xfrm>
          <a:prstGeom prst="rect">
            <a:avLst/>
          </a:prstGeom>
          <a:noFill/>
          <a:ln/>
        </p:spPr>
        <p:txBody>
          <a:bodyPr wrap="square" lIns="0" tIns="0" rIns="0" bIns="0" rtlCol="0" anchor="ctr">
            <a:normAutofit/>
          </a:bodyPr>
          <a:lstStyle/>
          <a:p>
            <a:pPr marL="0" indent="0" algn="ctr">
              <a:buNone/>
            </a:pPr>
            <a:r>
              <a:rPr lang="en-US" sz="1130" dirty="0">
                <a:solidFill>
                  <a:srgbClr val="1E293B"/>
                </a:solidFill>
              </a:rPr>
              <a:t>judgment · memory accuracy · RT</a:t>
            </a:r>
            <a:endParaRPr lang="en-US" sz="1130" dirty="0"/>
          </a:p>
          <a:p>
            <a:pPr marL="0" indent="0" algn="ctr">
              <a:buNone/>
            </a:pPr>
            <a:r>
              <a:rPr lang="en-US" sz="1130" dirty="0">
                <a:solidFill>
                  <a:srgbClr val="1E293B"/>
                </a:solidFill>
              </a:rPr>
              <a:t>作者判断 · 记忆准确率 · 反应时</a:t>
            </a:r>
            <a:endParaRPr lang="en-US" sz="1130" dirty="0"/>
          </a:p>
        </p:txBody>
      </p:sp>
      <p:sp>
        <p:nvSpPr>
          <p:cNvPr id="23" name="Text 21"/>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Stimulus materials: paired and controlled texts</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实验材料：配对文本与变量控制</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Text 4"/>
          <p:cNvSpPr/>
          <p:nvPr/>
        </p:nvSpPr>
        <p:spPr>
          <a:xfrm>
            <a:off x="685800" y="1371600"/>
            <a:ext cx="4754880" cy="457200"/>
          </a:xfrm>
          <a:prstGeom prst="rect">
            <a:avLst/>
          </a:prstGeom>
          <a:noFill/>
          <a:ln/>
        </p:spPr>
        <p:txBody>
          <a:bodyPr wrap="square" lIns="0" tIns="0" rIns="0" bIns="0" rtlCol="0" anchor="ctr">
            <a:normAutofit/>
          </a:bodyPr>
          <a:lstStyle/>
          <a:p>
            <a:pPr marL="0" indent="0">
              <a:buNone/>
            </a:pPr>
            <a:r>
              <a:rPr lang="en-US" sz="1700" b="1" dirty="0">
                <a:solidFill>
                  <a:srgbClr val="173B66"/>
                </a:solidFill>
              </a:rPr>
              <a:t>One content base → matched versions</a:t>
            </a:r>
            <a:endParaRPr lang="en-US" sz="1700" dirty="0"/>
          </a:p>
          <a:p>
            <a:pPr marL="0" indent="0">
              <a:buNone/>
            </a:pPr>
            <a:r>
              <a:rPr lang="en-US" sz="1700" b="1" dirty="0">
                <a:solidFill>
                  <a:srgbClr val="173B66"/>
                </a:solidFill>
              </a:rPr>
              <a:t>同一内容基础 → 生成配对版本</a:t>
            </a:r>
            <a:endParaRPr lang="en-US" sz="1700" dirty="0"/>
          </a:p>
        </p:txBody>
      </p:sp>
      <p:sp>
        <p:nvSpPr>
          <p:cNvPr id="7" name="Shape 5"/>
          <p:cNvSpPr/>
          <p:nvPr/>
        </p:nvSpPr>
        <p:spPr>
          <a:xfrm>
            <a:off x="777240" y="2029968"/>
            <a:ext cx="475488" cy="475488"/>
          </a:xfrm>
          <a:prstGeom prst="ellipse">
            <a:avLst/>
          </a:prstGeom>
          <a:solidFill>
            <a:srgbClr val="2B6CB0"/>
          </a:solidFill>
          <a:ln w="12700">
            <a:solidFill>
              <a:srgbClr val="333333">
                <a:alpha val="0"/>
              </a:srgbClr>
            </a:solidFill>
            <a:prstDash val="solid"/>
          </a:ln>
        </p:spPr>
      </p:sp>
      <p:sp>
        <p:nvSpPr>
          <p:cNvPr id="8" name="Text 6"/>
          <p:cNvSpPr/>
          <p:nvPr/>
        </p:nvSpPr>
        <p:spPr>
          <a:xfrm>
            <a:off x="777240" y="2130552"/>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9" name="Text 7"/>
          <p:cNvSpPr/>
          <p:nvPr/>
        </p:nvSpPr>
        <p:spPr>
          <a:xfrm>
            <a:off x="1417320" y="2011680"/>
            <a:ext cx="438912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Human baseline</a:t>
            </a:r>
            <a:endParaRPr lang="en-US" sz="1420" dirty="0"/>
          </a:p>
        </p:txBody>
      </p:sp>
      <p:sp>
        <p:nvSpPr>
          <p:cNvPr id="10" name="Text 8"/>
          <p:cNvSpPr/>
          <p:nvPr/>
        </p:nvSpPr>
        <p:spPr>
          <a:xfrm>
            <a:off x="1417320" y="2322576"/>
            <a:ext cx="438912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人类基线文本：收集或撰写短英文段落，话题中性、长度适中。</a:t>
            </a:r>
            <a:endParaRPr lang="en-US" sz="1050" dirty="0"/>
          </a:p>
        </p:txBody>
      </p:sp>
      <p:sp>
        <p:nvSpPr>
          <p:cNvPr id="11" name="Shape 9"/>
          <p:cNvSpPr/>
          <p:nvPr/>
        </p:nvSpPr>
        <p:spPr>
          <a:xfrm>
            <a:off x="777240" y="3081528"/>
            <a:ext cx="475488" cy="475488"/>
          </a:xfrm>
          <a:prstGeom prst="ellipse">
            <a:avLst/>
          </a:prstGeom>
          <a:solidFill>
            <a:srgbClr val="2B6CB0"/>
          </a:solidFill>
          <a:ln w="12700">
            <a:solidFill>
              <a:srgbClr val="333333">
                <a:alpha val="0"/>
              </a:srgbClr>
            </a:solidFill>
            <a:prstDash val="solid"/>
          </a:ln>
        </p:spPr>
      </p:sp>
      <p:sp>
        <p:nvSpPr>
          <p:cNvPr id="12" name="Text 10"/>
          <p:cNvSpPr/>
          <p:nvPr/>
        </p:nvSpPr>
        <p:spPr>
          <a:xfrm>
            <a:off x="777240" y="3182112"/>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3" name="Text 11"/>
          <p:cNvSpPr/>
          <p:nvPr/>
        </p:nvSpPr>
        <p:spPr>
          <a:xfrm>
            <a:off x="1417320" y="3063240"/>
            <a:ext cx="438912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AI-generated version</a:t>
            </a:r>
            <a:endParaRPr lang="en-US" sz="1420" dirty="0"/>
          </a:p>
        </p:txBody>
      </p:sp>
      <p:sp>
        <p:nvSpPr>
          <p:cNvPr id="14" name="Text 12"/>
          <p:cNvSpPr/>
          <p:nvPr/>
        </p:nvSpPr>
        <p:spPr>
          <a:xfrm>
            <a:off x="1417320" y="3374136"/>
            <a:ext cx="438912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AI 生成版本：使用相同话题、相同长度要求和近似词汇难度。</a:t>
            </a:r>
            <a:endParaRPr lang="en-US" sz="1050" dirty="0"/>
          </a:p>
        </p:txBody>
      </p:sp>
      <p:sp>
        <p:nvSpPr>
          <p:cNvPr id="15" name="Shape 13"/>
          <p:cNvSpPr/>
          <p:nvPr/>
        </p:nvSpPr>
        <p:spPr>
          <a:xfrm>
            <a:off x="777240" y="4133088"/>
            <a:ext cx="475488" cy="475488"/>
          </a:xfrm>
          <a:prstGeom prst="ellipse">
            <a:avLst/>
          </a:prstGeom>
          <a:solidFill>
            <a:srgbClr val="2B6CB0"/>
          </a:solidFill>
          <a:ln w="12700">
            <a:solidFill>
              <a:srgbClr val="333333">
                <a:alpha val="0"/>
              </a:srgbClr>
            </a:solidFill>
            <a:prstDash val="solid"/>
          </a:ln>
        </p:spPr>
      </p:sp>
      <p:sp>
        <p:nvSpPr>
          <p:cNvPr id="16" name="Text 14"/>
          <p:cNvSpPr/>
          <p:nvPr/>
        </p:nvSpPr>
        <p:spPr>
          <a:xfrm>
            <a:off x="777240" y="4233672"/>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7" name="Text 15"/>
          <p:cNvSpPr/>
          <p:nvPr/>
        </p:nvSpPr>
        <p:spPr>
          <a:xfrm>
            <a:off x="1417320" y="4114800"/>
            <a:ext cx="438912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Human–AI hybrid</a:t>
            </a:r>
            <a:endParaRPr lang="en-US" sz="1420" dirty="0"/>
          </a:p>
        </p:txBody>
      </p:sp>
      <p:sp>
        <p:nvSpPr>
          <p:cNvPr id="18" name="Text 16"/>
          <p:cNvSpPr/>
          <p:nvPr/>
        </p:nvSpPr>
        <p:spPr>
          <a:xfrm>
            <a:off x="1417320" y="4425696"/>
            <a:ext cx="438912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人机混合文本：按固定规则润色或替换，避免随意修改。</a:t>
            </a:r>
            <a:endParaRPr lang="en-US" sz="1050" dirty="0"/>
          </a:p>
        </p:txBody>
      </p:sp>
      <p:pic>
        <p:nvPicPr>
          <p:cNvPr id="19" name="Image 0" descr="/mnt/data/a_clean_conceptual_infographic_style_illustration.png"/>
          <p:cNvPicPr>
            <a:picLocks noChangeAspect="1"/>
          </p:cNvPicPr>
          <p:nvPr/>
        </p:nvPicPr>
        <p:blipFill>
          <a:blip r:embed="rId3"/>
          <a:srcRect l="11510" r="11510"/>
          <a:stretch/>
        </p:blipFill>
        <p:spPr>
          <a:xfrm>
            <a:off x="5989320" y="1417320"/>
            <a:ext cx="5440680" cy="3977640"/>
          </a:xfrm>
          <a:prstGeom prst="rect">
            <a:avLst/>
          </a:prstGeom>
        </p:spPr>
      </p:pic>
      <p:sp>
        <p:nvSpPr>
          <p:cNvPr id="20" name="Shape 17"/>
          <p:cNvSpPr/>
          <p:nvPr/>
        </p:nvSpPr>
        <p:spPr>
          <a:xfrm>
            <a:off x="5989320" y="5468112"/>
            <a:ext cx="5440680" cy="566928"/>
          </a:xfrm>
          <a:prstGeom prst="rect">
            <a:avLst/>
          </a:prstGeom>
          <a:solidFill>
            <a:srgbClr val="EAF4FF"/>
          </a:solidFill>
          <a:ln w="12700">
            <a:solidFill>
              <a:srgbClr val="333333">
                <a:alpha val="0"/>
              </a:srgbClr>
            </a:solidFill>
            <a:prstDash val="solid"/>
          </a:ln>
        </p:spPr>
      </p:sp>
      <p:sp>
        <p:nvSpPr>
          <p:cNvPr id="21" name="Text 18"/>
          <p:cNvSpPr/>
          <p:nvPr/>
        </p:nvSpPr>
        <p:spPr>
          <a:xfrm>
            <a:off x="6172200" y="5577840"/>
            <a:ext cx="5074920" cy="310896"/>
          </a:xfrm>
          <a:prstGeom prst="rect">
            <a:avLst/>
          </a:prstGeom>
          <a:noFill/>
          <a:ln/>
        </p:spPr>
        <p:txBody>
          <a:bodyPr wrap="square" lIns="0" tIns="0" rIns="0" bIns="0" rtlCol="0" anchor="ctr">
            <a:normAutofit/>
          </a:bodyPr>
          <a:lstStyle/>
          <a:p>
            <a:pPr marL="0" indent="0" algn="ctr">
              <a:buNone/>
            </a:pPr>
            <a:r>
              <a:rPr lang="en-US" sz="1050" b="1" dirty="0">
                <a:solidFill>
                  <a:srgbClr val="173B66"/>
                </a:solidFill>
              </a:rPr>
              <a:t>Matched for topic, length, and approximate vocabulary difficulty</a:t>
            </a:r>
            <a:endParaRPr lang="en-US" sz="1050" dirty="0"/>
          </a:p>
          <a:p>
            <a:pPr marL="0" indent="0" algn="ctr">
              <a:buNone/>
            </a:pPr>
            <a:r>
              <a:rPr lang="en-US" sz="1050" b="1" dirty="0">
                <a:solidFill>
                  <a:srgbClr val="173B66"/>
                </a:solidFill>
              </a:rPr>
              <a:t>控制话题、长度和大致词汇难度，减少混淆变量</a:t>
            </a:r>
            <a:endParaRPr lang="en-US" sz="1050" dirty="0"/>
          </a:p>
        </p:txBody>
      </p:sp>
      <p:sp>
        <p:nvSpPr>
          <p:cNvPr id="22" name="Text 19"/>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Experiment 1: AI‑authorship judgment</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实验一：AI 作者身份判断任务</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Text 4"/>
          <p:cNvSpPr/>
          <p:nvPr/>
        </p:nvSpPr>
        <p:spPr>
          <a:xfrm>
            <a:off x="731520" y="1417320"/>
            <a:ext cx="10515600" cy="457200"/>
          </a:xfrm>
          <a:prstGeom prst="rect">
            <a:avLst/>
          </a:prstGeom>
          <a:noFill/>
          <a:ln/>
        </p:spPr>
        <p:txBody>
          <a:bodyPr wrap="square" lIns="0" tIns="0" rIns="0" bIns="0" rtlCol="0" anchor="ctr">
            <a:normAutofit/>
          </a:bodyPr>
          <a:lstStyle/>
          <a:p>
            <a:pPr marL="0" indent="0">
              <a:buNone/>
            </a:pPr>
            <a:r>
              <a:rPr lang="en-US" sz="1700" b="1" dirty="0">
                <a:solidFill>
                  <a:srgbClr val="173B66"/>
                </a:solidFill>
              </a:rPr>
              <a:t>Task / 任务：Read one English passage → choose the perceived source</a:t>
            </a:r>
            <a:endParaRPr lang="en-US" sz="1700" dirty="0"/>
          </a:p>
          <a:p>
            <a:pPr marL="0" indent="0">
              <a:buNone/>
            </a:pPr>
            <a:r>
              <a:rPr lang="en-US" sz="1700" b="1" dirty="0">
                <a:solidFill>
                  <a:srgbClr val="173B66"/>
                </a:solidFill>
              </a:rPr>
              <a:t>阅读一段英文文本 → 判断你认为的文本来源</a:t>
            </a:r>
            <a:endParaRPr lang="en-US" sz="1700" dirty="0"/>
          </a:p>
        </p:txBody>
      </p:sp>
      <p:sp>
        <p:nvSpPr>
          <p:cNvPr id="7" name="Shape 5"/>
          <p:cNvSpPr/>
          <p:nvPr/>
        </p:nvSpPr>
        <p:spPr>
          <a:xfrm>
            <a:off x="868680" y="2331720"/>
            <a:ext cx="2194560" cy="841248"/>
          </a:xfrm>
          <a:prstGeom prst="roundRect">
            <a:avLst>
              <a:gd name="adj" fmla="val 8696"/>
            </a:avLst>
          </a:prstGeom>
          <a:solidFill>
            <a:srgbClr val="EAF4FF"/>
          </a:solidFill>
          <a:ln w="12700">
            <a:solidFill>
              <a:srgbClr val="CFE0F2"/>
            </a:solidFill>
            <a:prstDash val="solid"/>
          </a:ln>
        </p:spPr>
      </p:sp>
      <p:sp>
        <p:nvSpPr>
          <p:cNvPr id="8" name="Text 6"/>
          <p:cNvSpPr/>
          <p:nvPr/>
        </p:nvSpPr>
        <p:spPr>
          <a:xfrm>
            <a:off x="960120" y="2551176"/>
            <a:ext cx="2011680" cy="320040"/>
          </a:xfrm>
          <a:prstGeom prst="rect">
            <a:avLst/>
          </a:prstGeom>
          <a:noFill/>
          <a:ln/>
        </p:spPr>
        <p:txBody>
          <a:bodyPr wrap="square" lIns="0" tIns="0" rIns="0" bIns="0" rtlCol="0" anchor="ctr">
            <a:normAutofit/>
          </a:bodyPr>
          <a:lstStyle/>
          <a:p>
            <a:pPr marL="0" indent="0" algn="ctr">
              <a:buNone/>
            </a:pPr>
            <a:r>
              <a:rPr lang="en-US" sz="1220" b="1" dirty="0">
                <a:solidFill>
                  <a:srgbClr val="1E293B"/>
                </a:solidFill>
              </a:rPr>
              <a:t>Human-written</a:t>
            </a:r>
            <a:endParaRPr lang="en-US" sz="1220" dirty="0"/>
          </a:p>
          <a:p>
            <a:pPr marL="0" indent="0" algn="ctr">
              <a:buNone/>
            </a:pPr>
            <a:r>
              <a:rPr lang="en-US" sz="1220" b="1" dirty="0">
                <a:solidFill>
                  <a:srgbClr val="1E293B"/>
                </a:solidFill>
              </a:rPr>
              <a:t>人类撰写</a:t>
            </a:r>
            <a:endParaRPr lang="en-US" sz="1220" dirty="0"/>
          </a:p>
        </p:txBody>
      </p:sp>
      <p:sp>
        <p:nvSpPr>
          <p:cNvPr id="9" name="Shape 7"/>
          <p:cNvSpPr/>
          <p:nvPr/>
        </p:nvSpPr>
        <p:spPr>
          <a:xfrm>
            <a:off x="3520440" y="2331720"/>
            <a:ext cx="2194560" cy="841248"/>
          </a:xfrm>
          <a:prstGeom prst="roundRect">
            <a:avLst>
              <a:gd name="adj" fmla="val 8696"/>
            </a:avLst>
          </a:prstGeom>
          <a:solidFill>
            <a:srgbClr val="EEF2FF"/>
          </a:solidFill>
          <a:ln w="12700">
            <a:solidFill>
              <a:srgbClr val="CFE0F2"/>
            </a:solidFill>
            <a:prstDash val="solid"/>
          </a:ln>
        </p:spPr>
      </p:sp>
      <p:sp>
        <p:nvSpPr>
          <p:cNvPr id="10" name="Text 8"/>
          <p:cNvSpPr/>
          <p:nvPr/>
        </p:nvSpPr>
        <p:spPr>
          <a:xfrm>
            <a:off x="3611880" y="2551176"/>
            <a:ext cx="2011680" cy="320040"/>
          </a:xfrm>
          <a:prstGeom prst="rect">
            <a:avLst/>
          </a:prstGeom>
          <a:noFill/>
          <a:ln/>
        </p:spPr>
        <p:txBody>
          <a:bodyPr wrap="square" lIns="0" tIns="0" rIns="0" bIns="0" rtlCol="0" anchor="ctr">
            <a:normAutofit/>
          </a:bodyPr>
          <a:lstStyle/>
          <a:p>
            <a:pPr marL="0" indent="0" algn="ctr">
              <a:buNone/>
            </a:pPr>
            <a:r>
              <a:rPr lang="en-US" sz="1220" b="1" dirty="0">
                <a:solidFill>
                  <a:srgbClr val="1E293B"/>
                </a:solidFill>
              </a:rPr>
              <a:t>AI-generated</a:t>
            </a:r>
            <a:endParaRPr lang="en-US" sz="1220" dirty="0"/>
          </a:p>
          <a:p>
            <a:pPr marL="0" indent="0" algn="ctr">
              <a:buNone/>
            </a:pPr>
            <a:r>
              <a:rPr lang="en-US" sz="1220" b="1" dirty="0">
                <a:solidFill>
                  <a:srgbClr val="1E293B"/>
                </a:solidFill>
              </a:rPr>
              <a:t>AI 生成</a:t>
            </a:r>
            <a:endParaRPr lang="en-US" sz="1220" dirty="0"/>
          </a:p>
        </p:txBody>
      </p:sp>
      <p:sp>
        <p:nvSpPr>
          <p:cNvPr id="11" name="Shape 9"/>
          <p:cNvSpPr/>
          <p:nvPr/>
        </p:nvSpPr>
        <p:spPr>
          <a:xfrm>
            <a:off x="6172200" y="2331720"/>
            <a:ext cx="2194560" cy="841248"/>
          </a:xfrm>
          <a:prstGeom prst="roundRect">
            <a:avLst>
              <a:gd name="adj" fmla="val 8696"/>
            </a:avLst>
          </a:prstGeom>
          <a:solidFill>
            <a:srgbClr val="FFF9EF"/>
          </a:solidFill>
          <a:ln w="12700">
            <a:solidFill>
              <a:srgbClr val="CFE0F2"/>
            </a:solidFill>
            <a:prstDash val="solid"/>
          </a:ln>
        </p:spPr>
      </p:sp>
      <p:sp>
        <p:nvSpPr>
          <p:cNvPr id="12" name="Text 10"/>
          <p:cNvSpPr/>
          <p:nvPr/>
        </p:nvSpPr>
        <p:spPr>
          <a:xfrm>
            <a:off x="6263640" y="2551176"/>
            <a:ext cx="2011680" cy="320040"/>
          </a:xfrm>
          <a:prstGeom prst="rect">
            <a:avLst/>
          </a:prstGeom>
          <a:noFill/>
          <a:ln/>
        </p:spPr>
        <p:txBody>
          <a:bodyPr wrap="square" lIns="0" tIns="0" rIns="0" bIns="0" rtlCol="0" anchor="ctr">
            <a:normAutofit/>
          </a:bodyPr>
          <a:lstStyle/>
          <a:p>
            <a:pPr marL="0" indent="0" algn="ctr">
              <a:buNone/>
            </a:pPr>
            <a:r>
              <a:rPr lang="en-US" sz="1220" b="1" dirty="0">
                <a:solidFill>
                  <a:srgbClr val="1E293B"/>
                </a:solidFill>
              </a:rPr>
              <a:t>Human with AI editing</a:t>
            </a:r>
            <a:endParaRPr lang="en-US" sz="1220" dirty="0"/>
          </a:p>
          <a:p>
            <a:pPr marL="0" indent="0" algn="ctr">
              <a:buNone/>
            </a:pPr>
            <a:r>
              <a:rPr lang="en-US" sz="1220" b="1" dirty="0">
                <a:solidFill>
                  <a:srgbClr val="1E293B"/>
                </a:solidFill>
              </a:rPr>
              <a:t>人类经 AI 编辑</a:t>
            </a:r>
            <a:endParaRPr lang="en-US" sz="1220" dirty="0"/>
          </a:p>
        </p:txBody>
      </p:sp>
      <p:sp>
        <p:nvSpPr>
          <p:cNvPr id="13" name="Shape 11"/>
          <p:cNvSpPr/>
          <p:nvPr/>
        </p:nvSpPr>
        <p:spPr>
          <a:xfrm>
            <a:off x="9098280" y="2331720"/>
            <a:ext cx="2194560" cy="841248"/>
          </a:xfrm>
          <a:prstGeom prst="roundRect">
            <a:avLst>
              <a:gd name="adj" fmla="val 8696"/>
            </a:avLst>
          </a:prstGeom>
          <a:solidFill>
            <a:srgbClr val="F5F7FA"/>
          </a:solidFill>
          <a:ln w="12700">
            <a:solidFill>
              <a:srgbClr val="CFE0F2"/>
            </a:solidFill>
            <a:prstDash val="solid"/>
          </a:ln>
        </p:spPr>
      </p:sp>
      <p:sp>
        <p:nvSpPr>
          <p:cNvPr id="14" name="Text 12"/>
          <p:cNvSpPr/>
          <p:nvPr/>
        </p:nvSpPr>
        <p:spPr>
          <a:xfrm>
            <a:off x="9189720" y="2551176"/>
            <a:ext cx="2011680" cy="320040"/>
          </a:xfrm>
          <a:prstGeom prst="rect">
            <a:avLst/>
          </a:prstGeom>
          <a:noFill/>
          <a:ln/>
        </p:spPr>
        <p:txBody>
          <a:bodyPr wrap="square" lIns="0" tIns="0" rIns="0" bIns="0" rtlCol="0" anchor="ctr">
            <a:normAutofit/>
          </a:bodyPr>
          <a:lstStyle/>
          <a:p>
            <a:pPr marL="0" indent="0" algn="ctr">
              <a:buNone/>
            </a:pPr>
            <a:r>
              <a:rPr lang="en-US" sz="1220" b="1" dirty="0">
                <a:solidFill>
                  <a:srgbClr val="1E293B"/>
                </a:solidFill>
              </a:rPr>
              <a:t>Not sure</a:t>
            </a:r>
            <a:endParaRPr lang="en-US" sz="1220" dirty="0"/>
          </a:p>
          <a:p>
            <a:pPr marL="0" indent="0" algn="ctr">
              <a:buNone/>
            </a:pPr>
            <a:r>
              <a:rPr lang="en-US" sz="1220" b="1" dirty="0">
                <a:solidFill>
                  <a:srgbClr val="1E293B"/>
                </a:solidFill>
              </a:rPr>
              <a:t>不确定</a:t>
            </a:r>
            <a:endParaRPr lang="en-US" sz="1220" dirty="0"/>
          </a:p>
        </p:txBody>
      </p:sp>
      <p:sp>
        <p:nvSpPr>
          <p:cNvPr id="15" name="Shape 13"/>
          <p:cNvSpPr/>
          <p:nvPr/>
        </p:nvSpPr>
        <p:spPr>
          <a:xfrm>
            <a:off x="868680" y="3840480"/>
            <a:ext cx="10241280" cy="0"/>
          </a:xfrm>
          <a:prstGeom prst="line">
            <a:avLst/>
          </a:prstGeom>
          <a:noFill/>
          <a:ln w="12700">
            <a:solidFill>
              <a:srgbClr val="CFE0F2"/>
            </a:solidFill>
            <a:prstDash val="solid"/>
          </a:ln>
        </p:spPr>
      </p:sp>
      <p:sp>
        <p:nvSpPr>
          <p:cNvPr id="16" name="Text 14"/>
          <p:cNvSpPr/>
          <p:nvPr/>
        </p:nvSpPr>
        <p:spPr>
          <a:xfrm>
            <a:off x="868680" y="4224528"/>
            <a:ext cx="2926080" cy="256032"/>
          </a:xfrm>
          <a:prstGeom prst="rect">
            <a:avLst/>
          </a:prstGeom>
          <a:noFill/>
          <a:ln/>
        </p:spPr>
        <p:txBody>
          <a:bodyPr wrap="square" lIns="0" tIns="0" rIns="0" bIns="0" rtlCol="0" anchor="ctr"/>
          <a:lstStyle/>
          <a:p>
            <a:pPr marL="0" indent="0">
              <a:buNone/>
            </a:pPr>
            <a:r>
              <a:rPr lang="en-US" sz="1650" b="1" dirty="0">
                <a:solidFill>
                  <a:srgbClr val="173B66"/>
                </a:solidFill>
              </a:rPr>
              <a:t>Main measures / 主要指标</a:t>
            </a:r>
            <a:endParaRPr lang="en-US" sz="1650" dirty="0"/>
          </a:p>
        </p:txBody>
      </p:sp>
      <p:sp>
        <p:nvSpPr>
          <p:cNvPr id="17" name="Text 15"/>
          <p:cNvSpPr/>
          <p:nvPr/>
        </p:nvSpPr>
        <p:spPr>
          <a:xfrm>
            <a:off x="960120" y="46177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18" name="Text 16"/>
          <p:cNvSpPr/>
          <p:nvPr/>
        </p:nvSpPr>
        <p:spPr>
          <a:xfrm>
            <a:off x="1216152" y="4617720"/>
            <a:ext cx="2743200" cy="201168"/>
          </a:xfrm>
          <a:prstGeom prst="rect">
            <a:avLst/>
          </a:prstGeom>
          <a:noFill/>
          <a:ln/>
        </p:spPr>
        <p:txBody>
          <a:bodyPr wrap="square" lIns="0" tIns="0" rIns="0" bIns="0" rtlCol="0" anchor="ctr">
            <a:normAutofit/>
          </a:bodyPr>
          <a:lstStyle/>
          <a:p>
            <a:pPr marL="0" indent="0">
              <a:buNone/>
            </a:pPr>
            <a:r>
              <a:rPr lang="en-US" sz="1250" b="1" dirty="0">
                <a:solidFill>
                  <a:srgbClr val="1E293B"/>
                </a:solidFill>
              </a:rPr>
              <a:t>Judgment accuracy</a:t>
            </a:r>
            <a:endParaRPr lang="en-US" sz="1250" dirty="0"/>
          </a:p>
        </p:txBody>
      </p:sp>
      <p:sp>
        <p:nvSpPr>
          <p:cNvPr id="19" name="Text 17"/>
          <p:cNvSpPr/>
          <p:nvPr/>
        </p:nvSpPr>
        <p:spPr>
          <a:xfrm>
            <a:off x="1216152" y="4855464"/>
            <a:ext cx="2743200" cy="219456"/>
          </a:xfrm>
          <a:prstGeom prst="rect">
            <a:avLst/>
          </a:prstGeom>
          <a:noFill/>
          <a:ln/>
        </p:spPr>
        <p:txBody>
          <a:bodyPr wrap="square" lIns="0" tIns="0" rIns="0" bIns="0" rtlCol="0" anchor="ctr">
            <a:normAutofit/>
          </a:bodyPr>
          <a:lstStyle/>
          <a:p>
            <a:pPr marL="0" indent="0">
              <a:buNone/>
            </a:pPr>
            <a:r>
              <a:rPr lang="en-US" sz="1050" dirty="0">
                <a:solidFill>
                  <a:srgbClr val="5B677A"/>
                </a:solidFill>
              </a:rPr>
              <a:t>判断准确率</a:t>
            </a:r>
            <a:endParaRPr lang="en-US" sz="1050" dirty="0"/>
          </a:p>
        </p:txBody>
      </p:sp>
      <p:sp>
        <p:nvSpPr>
          <p:cNvPr id="20" name="Text 18"/>
          <p:cNvSpPr/>
          <p:nvPr/>
        </p:nvSpPr>
        <p:spPr>
          <a:xfrm>
            <a:off x="3977640" y="46177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1" name="Text 19"/>
          <p:cNvSpPr/>
          <p:nvPr/>
        </p:nvSpPr>
        <p:spPr>
          <a:xfrm>
            <a:off x="4233672" y="4617720"/>
            <a:ext cx="3200400" cy="201168"/>
          </a:xfrm>
          <a:prstGeom prst="rect">
            <a:avLst/>
          </a:prstGeom>
          <a:noFill/>
          <a:ln/>
        </p:spPr>
        <p:txBody>
          <a:bodyPr wrap="square" lIns="0" tIns="0" rIns="0" bIns="0" rtlCol="0" anchor="ctr">
            <a:normAutofit/>
          </a:bodyPr>
          <a:lstStyle/>
          <a:p>
            <a:pPr marL="0" indent="0">
              <a:buNone/>
            </a:pPr>
            <a:r>
              <a:rPr lang="en-US" sz="1250" b="1" dirty="0">
                <a:solidFill>
                  <a:srgbClr val="1E293B"/>
                </a:solidFill>
              </a:rPr>
              <a:t>Misclassification rate by text type</a:t>
            </a:r>
            <a:endParaRPr lang="en-US" sz="1250" dirty="0"/>
          </a:p>
        </p:txBody>
      </p:sp>
      <p:sp>
        <p:nvSpPr>
          <p:cNvPr id="22" name="Text 20"/>
          <p:cNvSpPr/>
          <p:nvPr/>
        </p:nvSpPr>
        <p:spPr>
          <a:xfrm>
            <a:off x="4233672" y="4855464"/>
            <a:ext cx="3200400" cy="219456"/>
          </a:xfrm>
          <a:prstGeom prst="rect">
            <a:avLst/>
          </a:prstGeom>
          <a:noFill/>
          <a:ln/>
        </p:spPr>
        <p:txBody>
          <a:bodyPr wrap="square" lIns="0" tIns="0" rIns="0" bIns="0" rtlCol="0" anchor="ctr">
            <a:normAutofit/>
          </a:bodyPr>
          <a:lstStyle/>
          <a:p>
            <a:pPr marL="0" indent="0">
              <a:buNone/>
            </a:pPr>
            <a:r>
              <a:rPr lang="en-US" sz="1050" dirty="0">
                <a:solidFill>
                  <a:srgbClr val="5B677A"/>
                </a:solidFill>
              </a:rPr>
              <a:t>不同文本类型的误判率</a:t>
            </a:r>
            <a:endParaRPr lang="en-US" sz="1050" dirty="0"/>
          </a:p>
        </p:txBody>
      </p:sp>
      <p:sp>
        <p:nvSpPr>
          <p:cNvPr id="23" name="Text 21"/>
          <p:cNvSpPr/>
          <p:nvPr/>
        </p:nvSpPr>
        <p:spPr>
          <a:xfrm>
            <a:off x="7589520" y="46177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4" name="Text 22"/>
          <p:cNvSpPr/>
          <p:nvPr/>
        </p:nvSpPr>
        <p:spPr>
          <a:xfrm>
            <a:off x="7845552" y="4617720"/>
            <a:ext cx="2743200" cy="201168"/>
          </a:xfrm>
          <a:prstGeom prst="rect">
            <a:avLst/>
          </a:prstGeom>
          <a:noFill/>
          <a:ln/>
        </p:spPr>
        <p:txBody>
          <a:bodyPr wrap="square" lIns="0" tIns="0" rIns="0" bIns="0" rtlCol="0" anchor="ctr">
            <a:normAutofit/>
          </a:bodyPr>
          <a:lstStyle/>
          <a:p>
            <a:pPr marL="0" indent="0">
              <a:buNone/>
            </a:pPr>
            <a:r>
              <a:rPr lang="en-US" sz="1250" b="1" dirty="0">
                <a:solidFill>
                  <a:srgbClr val="1E293B"/>
                </a:solidFill>
              </a:rPr>
              <a:t>AI-likelihood rating: 1–5</a:t>
            </a:r>
            <a:endParaRPr lang="en-US" sz="1250" dirty="0"/>
          </a:p>
        </p:txBody>
      </p:sp>
      <p:sp>
        <p:nvSpPr>
          <p:cNvPr id="25" name="Text 23"/>
          <p:cNvSpPr/>
          <p:nvPr/>
        </p:nvSpPr>
        <p:spPr>
          <a:xfrm>
            <a:off x="7845552" y="4855464"/>
            <a:ext cx="2743200" cy="219456"/>
          </a:xfrm>
          <a:prstGeom prst="rect">
            <a:avLst/>
          </a:prstGeom>
          <a:noFill/>
          <a:ln/>
        </p:spPr>
        <p:txBody>
          <a:bodyPr wrap="square" lIns="0" tIns="0" rIns="0" bIns="0" rtlCol="0" anchor="ctr">
            <a:normAutofit/>
          </a:bodyPr>
          <a:lstStyle/>
          <a:p>
            <a:pPr marL="0" indent="0">
              <a:buNone/>
            </a:pPr>
            <a:r>
              <a:rPr lang="en-US" sz="1050" dirty="0">
                <a:solidFill>
                  <a:srgbClr val="5B677A"/>
                </a:solidFill>
              </a:rPr>
              <a:t>AI 可能性评分：1–5</a:t>
            </a:r>
            <a:endParaRPr lang="en-US" sz="1050" dirty="0"/>
          </a:p>
        </p:txBody>
      </p:sp>
      <p:sp>
        <p:nvSpPr>
          <p:cNvPr id="26" name="Text 24"/>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Experiment 2: Linguistic cue rating</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实验二：语言线索评分任务</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Text 4"/>
          <p:cNvSpPr/>
          <p:nvPr/>
        </p:nvSpPr>
        <p:spPr>
          <a:xfrm>
            <a:off x="731520" y="1353312"/>
            <a:ext cx="7315200" cy="329184"/>
          </a:xfrm>
          <a:prstGeom prst="rect">
            <a:avLst/>
          </a:prstGeom>
          <a:noFill/>
          <a:ln/>
        </p:spPr>
        <p:txBody>
          <a:bodyPr wrap="square" lIns="0" tIns="0" rIns="0" bIns="0" rtlCol="0" anchor="ctr">
            <a:normAutofit/>
          </a:bodyPr>
          <a:lstStyle/>
          <a:p>
            <a:pPr marL="0" indent="0">
              <a:buNone/>
            </a:pPr>
            <a:r>
              <a:rPr lang="en-US" sz="1230" dirty="0">
                <a:solidFill>
                  <a:srgbClr val="5B677A"/>
                </a:solidFill>
              </a:rPr>
              <a:t>Likert scale: 1 = strongly disagree, 5 = strongly agree</a:t>
            </a:r>
            <a:endParaRPr lang="en-US" sz="1230" dirty="0"/>
          </a:p>
          <a:p>
            <a:pPr marL="0" indent="0">
              <a:buNone/>
            </a:pPr>
            <a:r>
              <a:rPr lang="en-US" sz="1230" dirty="0">
                <a:solidFill>
                  <a:srgbClr val="5B677A"/>
                </a:solidFill>
              </a:rPr>
              <a:t>李克特量表：1 = 非常不同意，5 = 非常同意</a:t>
            </a:r>
            <a:endParaRPr lang="en-US" sz="1230" dirty="0"/>
          </a:p>
        </p:txBody>
      </p:sp>
      <p:sp>
        <p:nvSpPr>
          <p:cNvPr id="7" name="Shape 5"/>
          <p:cNvSpPr/>
          <p:nvPr/>
        </p:nvSpPr>
        <p:spPr>
          <a:xfrm>
            <a:off x="822960" y="2029968"/>
            <a:ext cx="320040" cy="0"/>
          </a:xfrm>
          <a:prstGeom prst="line">
            <a:avLst/>
          </a:prstGeom>
          <a:noFill/>
          <a:ln w="38100">
            <a:solidFill>
              <a:srgbClr val="2B6CB0"/>
            </a:solidFill>
            <a:prstDash val="solid"/>
          </a:ln>
        </p:spPr>
      </p:sp>
      <p:sp>
        <p:nvSpPr>
          <p:cNvPr id="8" name="Text 6"/>
          <p:cNvSpPr/>
          <p:nvPr/>
        </p:nvSpPr>
        <p:spPr>
          <a:xfrm>
            <a:off x="1280160" y="1828800"/>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Fluency / 流畅度</a:t>
            </a:r>
            <a:endParaRPr lang="en-US" sz="1330" dirty="0"/>
          </a:p>
        </p:txBody>
      </p:sp>
      <p:sp>
        <p:nvSpPr>
          <p:cNvPr id="9" name="Shape 7"/>
          <p:cNvSpPr/>
          <p:nvPr/>
        </p:nvSpPr>
        <p:spPr>
          <a:xfrm>
            <a:off x="6217920" y="2029968"/>
            <a:ext cx="320040" cy="0"/>
          </a:xfrm>
          <a:prstGeom prst="line">
            <a:avLst/>
          </a:prstGeom>
          <a:noFill/>
          <a:ln w="38100">
            <a:solidFill>
              <a:srgbClr val="2B6CB0"/>
            </a:solidFill>
            <a:prstDash val="solid"/>
          </a:ln>
        </p:spPr>
      </p:sp>
      <p:sp>
        <p:nvSpPr>
          <p:cNvPr id="10" name="Text 8"/>
          <p:cNvSpPr/>
          <p:nvPr/>
        </p:nvSpPr>
        <p:spPr>
          <a:xfrm>
            <a:off x="6675120" y="1828800"/>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Structural regularity / 结构规整性</a:t>
            </a:r>
            <a:endParaRPr lang="en-US" sz="1330" dirty="0"/>
          </a:p>
        </p:txBody>
      </p:sp>
      <p:sp>
        <p:nvSpPr>
          <p:cNvPr id="11" name="Shape 9"/>
          <p:cNvSpPr/>
          <p:nvPr/>
        </p:nvSpPr>
        <p:spPr>
          <a:xfrm>
            <a:off x="822960" y="2743200"/>
            <a:ext cx="320040" cy="0"/>
          </a:xfrm>
          <a:prstGeom prst="line">
            <a:avLst/>
          </a:prstGeom>
          <a:noFill/>
          <a:ln w="38100">
            <a:solidFill>
              <a:srgbClr val="2B6CB0"/>
            </a:solidFill>
            <a:prstDash val="solid"/>
          </a:ln>
        </p:spPr>
      </p:sp>
      <p:sp>
        <p:nvSpPr>
          <p:cNvPr id="12" name="Text 10"/>
          <p:cNvSpPr/>
          <p:nvPr/>
        </p:nvSpPr>
        <p:spPr>
          <a:xfrm>
            <a:off x="1280160" y="2542032"/>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Clarity / 清晰度</a:t>
            </a:r>
            <a:endParaRPr lang="en-US" sz="1330" dirty="0"/>
          </a:p>
        </p:txBody>
      </p:sp>
      <p:sp>
        <p:nvSpPr>
          <p:cNvPr id="13" name="Shape 11"/>
          <p:cNvSpPr/>
          <p:nvPr/>
        </p:nvSpPr>
        <p:spPr>
          <a:xfrm>
            <a:off x="6217920" y="2743200"/>
            <a:ext cx="320040" cy="0"/>
          </a:xfrm>
          <a:prstGeom prst="line">
            <a:avLst/>
          </a:prstGeom>
          <a:noFill/>
          <a:ln w="38100">
            <a:solidFill>
              <a:srgbClr val="2B6CB0"/>
            </a:solidFill>
            <a:prstDash val="solid"/>
          </a:ln>
        </p:spPr>
      </p:sp>
      <p:sp>
        <p:nvSpPr>
          <p:cNvPr id="14" name="Text 12"/>
          <p:cNvSpPr/>
          <p:nvPr/>
        </p:nvSpPr>
        <p:spPr>
          <a:xfrm>
            <a:off x="6675120" y="2542032"/>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Emotional expression / 情感表达</a:t>
            </a:r>
            <a:endParaRPr lang="en-US" sz="1330" dirty="0"/>
          </a:p>
        </p:txBody>
      </p:sp>
      <p:sp>
        <p:nvSpPr>
          <p:cNvPr id="15" name="Shape 13"/>
          <p:cNvSpPr/>
          <p:nvPr/>
        </p:nvSpPr>
        <p:spPr>
          <a:xfrm>
            <a:off x="822960" y="3456432"/>
            <a:ext cx="320040" cy="0"/>
          </a:xfrm>
          <a:prstGeom prst="line">
            <a:avLst/>
          </a:prstGeom>
          <a:noFill/>
          <a:ln w="38100">
            <a:solidFill>
              <a:srgbClr val="2B6CB0"/>
            </a:solidFill>
            <a:prstDash val="solid"/>
          </a:ln>
        </p:spPr>
      </p:sp>
      <p:sp>
        <p:nvSpPr>
          <p:cNvPr id="16" name="Text 14"/>
          <p:cNvSpPr/>
          <p:nvPr/>
        </p:nvSpPr>
        <p:spPr>
          <a:xfrm>
            <a:off x="1280160" y="3255264"/>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Personal voice / 个人声音</a:t>
            </a:r>
            <a:endParaRPr lang="en-US" sz="1330" dirty="0"/>
          </a:p>
        </p:txBody>
      </p:sp>
      <p:sp>
        <p:nvSpPr>
          <p:cNvPr id="17" name="Shape 15"/>
          <p:cNvSpPr/>
          <p:nvPr/>
        </p:nvSpPr>
        <p:spPr>
          <a:xfrm>
            <a:off x="6217920" y="3456432"/>
            <a:ext cx="320040" cy="0"/>
          </a:xfrm>
          <a:prstGeom prst="line">
            <a:avLst/>
          </a:prstGeom>
          <a:noFill/>
          <a:ln w="38100">
            <a:solidFill>
              <a:srgbClr val="2B6CB0"/>
            </a:solidFill>
            <a:prstDash val="solid"/>
          </a:ln>
        </p:spPr>
      </p:sp>
      <p:sp>
        <p:nvSpPr>
          <p:cNvPr id="18" name="Text 16"/>
          <p:cNvSpPr/>
          <p:nvPr/>
        </p:nvSpPr>
        <p:spPr>
          <a:xfrm>
            <a:off x="6675120" y="3255264"/>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Genericness / 模板感</a:t>
            </a:r>
            <a:endParaRPr lang="en-US" sz="1330" dirty="0"/>
          </a:p>
        </p:txBody>
      </p:sp>
      <p:sp>
        <p:nvSpPr>
          <p:cNvPr id="19" name="Shape 17"/>
          <p:cNvSpPr/>
          <p:nvPr/>
        </p:nvSpPr>
        <p:spPr>
          <a:xfrm>
            <a:off x="822960" y="4169664"/>
            <a:ext cx="320040" cy="0"/>
          </a:xfrm>
          <a:prstGeom prst="line">
            <a:avLst/>
          </a:prstGeom>
          <a:noFill/>
          <a:ln w="38100">
            <a:solidFill>
              <a:srgbClr val="2B6CB0"/>
            </a:solidFill>
            <a:prstDash val="solid"/>
          </a:ln>
        </p:spPr>
      </p:sp>
      <p:sp>
        <p:nvSpPr>
          <p:cNvPr id="20" name="Text 18"/>
          <p:cNvSpPr/>
          <p:nvPr/>
        </p:nvSpPr>
        <p:spPr>
          <a:xfrm>
            <a:off x="1280160" y="3968496"/>
            <a:ext cx="4297680" cy="228600"/>
          </a:xfrm>
          <a:prstGeom prst="rect">
            <a:avLst/>
          </a:prstGeom>
          <a:noFill/>
          <a:ln/>
        </p:spPr>
        <p:txBody>
          <a:bodyPr wrap="square" lIns="0" tIns="0" rIns="0" bIns="0" rtlCol="0" anchor="ctr">
            <a:normAutofit/>
          </a:bodyPr>
          <a:lstStyle/>
          <a:p>
            <a:pPr marL="0" indent="0">
              <a:buNone/>
            </a:pPr>
            <a:r>
              <a:rPr lang="en-US" sz="1330" b="1" dirty="0">
                <a:solidFill>
                  <a:srgbClr val="173B66"/>
                </a:solidFill>
              </a:rPr>
              <a:t>Naturalness / 自然度</a:t>
            </a:r>
            <a:endParaRPr lang="en-US" sz="1330" dirty="0"/>
          </a:p>
        </p:txBody>
      </p:sp>
      <p:sp>
        <p:nvSpPr>
          <p:cNvPr id="21" name="Shape 19"/>
          <p:cNvSpPr/>
          <p:nvPr/>
        </p:nvSpPr>
        <p:spPr>
          <a:xfrm>
            <a:off x="731520" y="5074920"/>
            <a:ext cx="10698480" cy="749808"/>
          </a:xfrm>
          <a:prstGeom prst="rect">
            <a:avLst/>
          </a:prstGeom>
          <a:solidFill>
            <a:srgbClr val="EAF4FF"/>
          </a:solidFill>
          <a:ln w="12700">
            <a:solidFill>
              <a:srgbClr val="333333">
                <a:alpha val="0"/>
              </a:srgbClr>
            </a:solidFill>
            <a:prstDash val="solid"/>
          </a:ln>
        </p:spPr>
      </p:sp>
      <p:sp>
        <p:nvSpPr>
          <p:cNvPr id="22" name="Text 20"/>
          <p:cNvSpPr/>
          <p:nvPr/>
        </p:nvSpPr>
        <p:spPr>
          <a:xfrm>
            <a:off x="1005840" y="5285232"/>
            <a:ext cx="10149840" cy="228600"/>
          </a:xfrm>
          <a:prstGeom prst="rect">
            <a:avLst/>
          </a:prstGeom>
          <a:noFill/>
          <a:ln/>
        </p:spPr>
        <p:txBody>
          <a:bodyPr wrap="square" lIns="0" tIns="0" rIns="0" bIns="0" rtlCol="0" anchor="ctr">
            <a:normAutofit/>
          </a:bodyPr>
          <a:lstStyle/>
          <a:p>
            <a:pPr marL="0" indent="0" algn="ctr">
              <a:buNone/>
            </a:pPr>
            <a:r>
              <a:rPr lang="en-US" sz="1220" b="1" dirty="0">
                <a:solidFill>
                  <a:srgbClr val="173B66"/>
                </a:solidFill>
              </a:rPr>
              <a:t>Analysis goal: correlate cue ratings with AI‑likelihood judgments</a:t>
            </a:r>
            <a:endParaRPr lang="en-US" sz="1220" dirty="0"/>
          </a:p>
          <a:p>
            <a:pPr marL="0" indent="0" algn="ctr">
              <a:buNone/>
            </a:pPr>
            <a:r>
              <a:rPr lang="en-US" sz="1220" b="1" dirty="0">
                <a:solidFill>
                  <a:srgbClr val="173B66"/>
                </a:solidFill>
              </a:rPr>
              <a:t>分析目标：把语言线索评分与 AI 可能性判断做关联，识别“AI 感”的来源</a:t>
            </a:r>
            <a:endParaRPr lang="en-US" sz="1220" dirty="0"/>
          </a:p>
        </p:txBody>
      </p:sp>
      <p:sp>
        <p:nvSpPr>
          <p:cNvPr id="23" name="Text 21"/>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Live demo: from proposal to measurable experiment</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Demo 展示：从研究计划到可收集数据的网页实验</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pic>
        <p:nvPicPr>
          <p:cNvPr id="6" name="Image 0" descr="/mnt/data/a_high_resolution_wide_angle_modern_infographic.png"/>
          <p:cNvPicPr>
            <a:picLocks noChangeAspect="1"/>
          </p:cNvPicPr>
          <p:nvPr/>
        </p:nvPicPr>
        <p:blipFill>
          <a:blip r:embed="rId3"/>
          <a:srcRect l="21286" r="21286"/>
          <a:stretch/>
        </p:blipFill>
        <p:spPr>
          <a:xfrm>
            <a:off x="640080" y="1417320"/>
            <a:ext cx="4572000" cy="4480560"/>
          </a:xfrm>
          <a:prstGeom prst="rect">
            <a:avLst/>
          </a:prstGeom>
        </p:spPr>
      </p:pic>
      <p:sp>
        <p:nvSpPr>
          <p:cNvPr id="7" name="Text 4"/>
          <p:cNvSpPr/>
          <p:nvPr/>
        </p:nvSpPr>
        <p:spPr>
          <a:xfrm>
            <a:off x="5623560" y="1389888"/>
            <a:ext cx="3200400" cy="274320"/>
          </a:xfrm>
          <a:prstGeom prst="rect">
            <a:avLst/>
          </a:prstGeom>
          <a:noFill/>
          <a:ln/>
        </p:spPr>
        <p:txBody>
          <a:bodyPr wrap="square" lIns="0" tIns="0" rIns="0" bIns="0" rtlCol="0" anchor="ctr"/>
          <a:lstStyle/>
          <a:p>
            <a:pPr marL="0" indent="0">
              <a:buNone/>
            </a:pPr>
            <a:r>
              <a:rPr lang="en-US" sz="1800" b="1" dirty="0">
                <a:solidFill>
                  <a:srgbClr val="173B66"/>
                </a:solidFill>
              </a:rPr>
              <a:t>Demo position / 展示位置</a:t>
            </a:r>
            <a:endParaRPr lang="en-US" sz="1800" dirty="0"/>
          </a:p>
        </p:txBody>
      </p:sp>
      <p:sp>
        <p:nvSpPr>
          <p:cNvPr id="8" name="Shape 5"/>
          <p:cNvSpPr/>
          <p:nvPr/>
        </p:nvSpPr>
        <p:spPr>
          <a:xfrm>
            <a:off x="5715000" y="1938528"/>
            <a:ext cx="475488" cy="475488"/>
          </a:xfrm>
          <a:prstGeom prst="ellipse">
            <a:avLst/>
          </a:prstGeom>
          <a:solidFill>
            <a:srgbClr val="2B6CB0"/>
          </a:solidFill>
          <a:ln w="12700">
            <a:solidFill>
              <a:srgbClr val="333333">
                <a:alpha val="0"/>
              </a:srgbClr>
            </a:solidFill>
            <a:prstDash val="solid"/>
          </a:ln>
        </p:spPr>
      </p:sp>
      <p:sp>
        <p:nvSpPr>
          <p:cNvPr id="9" name="Text 6"/>
          <p:cNvSpPr/>
          <p:nvPr/>
        </p:nvSpPr>
        <p:spPr>
          <a:xfrm>
            <a:off x="5715000" y="2039112"/>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10" name="Text 7"/>
          <p:cNvSpPr/>
          <p:nvPr/>
        </p:nvSpPr>
        <p:spPr>
          <a:xfrm>
            <a:off x="6355080" y="1920240"/>
            <a:ext cx="466344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Background screen</a:t>
            </a:r>
            <a:endParaRPr lang="en-US" sz="1420" dirty="0"/>
          </a:p>
        </p:txBody>
      </p:sp>
      <p:sp>
        <p:nvSpPr>
          <p:cNvPr id="11" name="Text 8"/>
          <p:cNvSpPr/>
          <p:nvPr/>
        </p:nvSpPr>
        <p:spPr>
          <a:xfrm>
            <a:off x="6355080" y="2231136"/>
            <a:ext cx="466344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展示双语背景问卷：英文水平、中文水平、AI 使用频率。</a:t>
            </a:r>
            <a:endParaRPr lang="en-US" sz="1050" dirty="0"/>
          </a:p>
        </p:txBody>
      </p:sp>
      <p:sp>
        <p:nvSpPr>
          <p:cNvPr id="12" name="Shape 9"/>
          <p:cNvSpPr/>
          <p:nvPr/>
        </p:nvSpPr>
        <p:spPr>
          <a:xfrm>
            <a:off x="5715000" y="2962656"/>
            <a:ext cx="475488" cy="475488"/>
          </a:xfrm>
          <a:prstGeom prst="ellipse">
            <a:avLst/>
          </a:prstGeom>
          <a:solidFill>
            <a:srgbClr val="2B6CB0"/>
          </a:solidFill>
          <a:ln w="12700">
            <a:solidFill>
              <a:srgbClr val="333333">
                <a:alpha val="0"/>
              </a:srgbClr>
            </a:solidFill>
            <a:prstDash val="solid"/>
          </a:ln>
        </p:spPr>
      </p:sp>
      <p:sp>
        <p:nvSpPr>
          <p:cNvPr id="13" name="Text 10"/>
          <p:cNvSpPr/>
          <p:nvPr/>
        </p:nvSpPr>
        <p:spPr>
          <a:xfrm>
            <a:off x="5715000" y="3063240"/>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4" name="Text 11"/>
          <p:cNvSpPr/>
          <p:nvPr/>
        </p:nvSpPr>
        <p:spPr>
          <a:xfrm>
            <a:off x="6355080" y="2944368"/>
            <a:ext cx="466344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One sample trial</a:t>
            </a:r>
            <a:endParaRPr lang="en-US" sz="1420" dirty="0"/>
          </a:p>
        </p:txBody>
      </p:sp>
      <p:sp>
        <p:nvSpPr>
          <p:cNvPr id="15" name="Text 12"/>
          <p:cNvSpPr/>
          <p:nvPr/>
        </p:nvSpPr>
        <p:spPr>
          <a:xfrm>
            <a:off x="6355080" y="3255264"/>
            <a:ext cx="466344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展示阅读页面、作者身份判断和语言线索评分。</a:t>
            </a:r>
            <a:endParaRPr lang="en-US" sz="1050" dirty="0"/>
          </a:p>
        </p:txBody>
      </p:sp>
      <p:sp>
        <p:nvSpPr>
          <p:cNvPr id="16" name="Shape 13"/>
          <p:cNvSpPr/>
          <p:nvPr/>
        </p:nvSpPr>
        <p:spPr>
          <a:xfrm>
            <a:off x="5715000" y="3986784"/>
            <a:ext cx="475488" cy="475488"/>
          </a:xfrm>
          <a:prstGeom prst="ellipse">
            <a:avLst/>
          </a:prstGeom>
          <a:solidFill>
            <a:srgbClr val="2B6CB0"/>
          </a:solidFill>
          <a:ln w="12700">
            <a:solidFill>
              <a:srgbClr val="333333">
                <a:alpha val="0"/>
              </a:srgbClr>
            </a:solidFill>
            <a:prstDash val="solid"/>
          </a:ln>
        </p:spPr>
      </p:sp>
      <p:sp>
        <p:nvSpPr>
          <p:cNvPr id="17" name="Text 14"/>
          <p:cNvSpPr/>
          <p:nvPr/>
        </p:nvSpPr>
        <p:spPr>
          <a:xfrm>
            <a:off x="5715000" y="4087368"/>
            <a:ext cx="475488" cy="146304"/>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8" name="Text 15"/>
          <p:cNvSpPr/>
          <p:nvPr/>
        </p:nvSpPr>
        <p:spPr>
          <a:xfrm>
            <a:off x="6355080" y="3968496"/>
            <a:ext cx="4663440" cy="228600"/>
          </a:xfrm>
          <a:prstGeom prst="rect">
            <a:avLst/>
          </a:prstGeom>
          <a:noFill/>
          <a:ln/>
        </p:spPr>
        <p:txBody>
          <a:bodyPr wrap="square" lIns="0" tIns="0" rIns="0" bIns="0" rtlCol="0" anchor="ctr">
            <a:normAutofit/>
          </a:bodyPr>
          <a:lstStyle/>
          <a:p>
            <a:pPr marL="0" indent="0">
              <a:buNone/>
            </a:pPr>
            <a:r>
              <a:rPr lang="en-US" sz="1420" b="1" dirty="0">
                <a:solidFill>
                  <a:srgbClr val="173B66"/>
                </a:solidFill>
              </a:rPr>
              <a:t>L2 memory section</a:t>
            </a:r>
            <a:endParaRPr lang="en-US" sz="1420" dirty="0"/>
          </a:p>
        </p:txBody>
      </p:sp>
      <p:sp>
        <p:nvSpPr>
          <p:cNvPr id="19" name="Text 16"/>
          <p:cNvSpPr/>
          <p:nvPr/>
        </p:nvSpPr>
        <p:spPr>
          <a:xfrm>
            <a:off x="6355080" y="4279392"/>
            <a:ext cx="4663440" cy="384048"/>
          </a:xfrm>
          <a:prstGeom prst="rect">
            <a:avLst/>
          </a:prstGeom>
          <a:noFill/>
          <a:ln/>
        </p:spPr>
        <p:txBody>
          <a:bodyPr wrap="square" lIns="127" tIns="127" rIns="127" bIns="127" rtlCol="0" anchor="ctr">
            <a:normAutofit/>
          </a:bodyPr>
          <a:lstStyle/>
          <a:p>
            <a:pPr marL="0" indent="0">
              <a:buNone/>
            </a:pPr>
            <a:r>
              <a:rPr lang="en-US" sz="1050" dirty="0">
                <a:solidFill>
                  <a:srgbClr val="5B677A"/>
                </a:solidFill>
              </a:rPr>
              <a:t>展示干扰任务、句子再认和乱序词重组。</a:t>
            </a:r>
            <a:endParaRPr lang="en-US" sz="1050" dirty="0"/>
          </a:p>
        </p:txBody>
      </p:sp>
      <p:sp>
        <p:nvSpPr>
          <p:cNvPr id="20" name="Shape 17"/>
          <p:cNvSpPr/>
          <p:nvPr/>
        </p:nvSpPr>
        <p:spPr>
          <a:xfrm>
            <a:off x="5806440" y="5376672"/>
            <a:ext cx="4846320" cy="502920"/>
          </a:xfrm>
          <a:prstGeom prst="roundRect">
            <a:avLst>
              <a:gd name="adj" fmla="val 14545"/>
            </a:avLst>
          </a:prstGeom>
          <a:solidFill>
            <a:srgbClr val="173B66"/>
          </a:solidFill>
          <a:ln w="12700">
            <a:solidFill>
              <a:srgbClr val="333333">
                <a:alpha val="0"/>
              </a:srgbClr>
            </a:solidFill>
            <a:prstDash val="solid"/>
          </a:ln>
        </p:spPr>
      </p:sp>
      <p:sp>
        <p:nvSpPr>
          <p:cNvPr id="21" name="Text 18"/>
          <p:cNvSpPr/>
          <p:nvPr/>
        </p:nvSpPr>
        <p:spPr>
          <a:xfrm>
            <a:off x="5989320" y="5513832"/>
            <a:ext cx="4480560" cy="210312"/>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rPr>
              <a:t>Demo 40–60 seconds, then return to Slide 8</a:t>
            </a:r>
            <a:endParaRPr lang="en-US" sz="1050" dirty="0"/>
          </a:p>
          <a:p>
            <a:pPr marL="0" indent="0" algn="ctr">
              <a:buNone/>
            </a:pPr>
            <a:r>
              <a:rPr lang="en-US" sz="1050" b="1" dirty="0">
                <a:solidFill>
                  <a:srgbClr val="FFFFFF"/>
                </a:solidFill>
              </a:rPr>
              <a:t>展示 40–60 秒后回到第 8 页</a:t>
            </a:r>
            <a:endParaRPr lang="en-US" sz="1050" dirty="0"/>
          </a:p>
        </p:txBody>
      </p:sp>
      <p:sp>
        <p:nvSpPr>
          <p:cNvPr id="22" name="Text 19"/>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Experiment 3: L2 text memory task</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实验三：英文二语文本记忆任务</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Shape 4"/>
          <p:cNvSpPr/>
          <p:nvPr/>
        </p:nvSpPr>
        <p:spPr>
          <a:xfrm>
            <a:off x="640080" y="1600200"/>
            <a:ext cx="2240280" cy="987552"/>
          </a:xfrm>
          <a:prstGeom prst="roundRect">
            <a:avLst>
              <a:gd name="adj" fmla="val 7407"/>
            </a:avLst>
          </a:prstGeom>
          <a:solidFill>
            <a:srgbClr val="EAF4FF"/>
          </a:solidFill>
          <a:ln w="12700">
            <a:solidFill>
              <a:srgbClr val="CFE0F2"/>
            </a:solidFill>
            <a:prstDash val="solid"/>
          </a:ln>
        </p:spPr>
      </p:sp>
      <p:sp>
        <p:nvSpPr>
          <p:cNvPr id="7" name="Text 5"/>
          <p:cNvSpPr/>
          <p:nvPr/>
        </p:nvSpPr>
        <p:spPr>
          <a:xfrm>
            <a:off x="777240" y="1792224"/>
            <a:ext cx="1965960" cy="182880"/>
          </a:xfrm>
          <a:prstGeom prst="rect">
            <a:avLst/>
          </a:prstGeom>
          <a:noFill/>
          <a:ln/>
        </p:spPr>
        <p:txBody>
          <a:bodyPr wrap="square" lIns="0" tIns="0" rIns="0" bIns="0" rtlCol="0" anchor="ctr"/>
          <a:lstStyle/>
          <a:p>
            <a:pPr marL="0" indent="0" algn="ctr">
              <a:buNone/>
            </a:pPr>
            <a:r>
              <a:rPr lang="en-US" sz="1450" b="1" dirty="0">
                <a:solidFill>
                  <a:srgbClr val="173B66"/>
                </a:solidFill>
              </a:rPr>
              <a:t>Read</a:t>
            </a:r>
            <a:endParaRPr lang="en-US" sz="1450" dirty="0"/>
          </a:p>
        </p:txBody>
      </p:sp>
      <p:sp>
        <p:nvSpPr>
          <p:cNvPr id="8" name="Text 6"/>
          <p:cNvSpPr/>
          <p:nvPr/>
        </p:nvSpPr>
        <p:spPr>
          <a:xfrm>
            <a:off x="804672" y="2057400"/>
            <a:ext cx="1920240" cy="329184"/>
          </a:xfrm>
          <a:prstGeom prst="rect">
            <a:avLst/>
          </a:prstGeom>
          <a:noFill/>
          <a:ln/>
        </p:spPr>
        <p:txBody>
          <a:bodyPr wrap="square" lIns="0" tIns="0" rIns="0" bIns="0" rtlCol="0" anchor="ctr">
            <a:normAutofit/>
          </a:bodyPr>
          <a:lstStyle/>
          <a:p>
            <a:pPr marL="0" indent="0" algn="ctr">
              <a:buNone/>
            </a:pPr>
            <a:r>
              <a:rPr lang="en-US" sz="950" dirty="0">
                <a:solidFill>
                  <a:srgbClr val="5B677A"/>
                </a:solidFill>
              </a:rPr>
              <a:t>Human / AI English passage</a:t>
            </a:r>
            <a:endParaRPr lang="en-US" sz="950" dirty="0"/>
          </a:p>
          <a:p>
            <a:pPr marL="0" indent="0" algn="ctr">
              <a:buNone/>
            </a:pPr>
            <a:r>
              <a:rPr lang="en-US" sz="950" dirty="0">
                <a:solidFill>
                  <a:srgbClr val="5B677A"/>
                </a:solidFill>
              </a:rPr>
              <a:t>阅读英文文本</a:t>
            </a:r>
            <a:endParaRPr lang="en-US" sz="950" dirty="0"/>
          </a:p>
        </p:txBody>
      </p:sp>
      <p:sp>
        <p:nvSpPr>
          <p:cNvPr id="9" name="Shape 7"/>
          <p:cNvSpPr/>
          <p:nvPr/>
        </p:nvSpPr>
        <p:spPr>
          <a:xfrm>
            <a:off x="2971800" y="1938528"/>
            <a:ext cx="384048" cy="310896"/>
          </a:xfrm>
          <a:prstGeom prst="rightArrow">
            <a:avLst/>
          </a:prstGeom>
          <a:solidFill>
            <a:srgbClr val="2B6CB0">
              <a:alpha val="75000"/>
            </a:srgbClr>
          </a:solidFill>
          <a:ln w="12700">
            <a:solidFill>
              <a:srgbClr val="333333">
                <a:alpha val="0"/>
              </a:srgbClr>
            </a:solidFill>
            <a:prstDash val="solid"/>
          </a:ln>
        </p:spPr>
      </p:sp>
      <p:sp>
        <p:nvSpPr>
          <p:cNvPr id="10" name="Shape 8"/>
          <p:cNvSpPr/>
          <p:nvPr/>
        </p:nvSpPr>
        <p:spPr>
          <a:xfrm>
            <a:off x="3474720" y="1600200"/>
            <a:ext cx="2240280" cy="987552"/>
          </a:xfrm>
          <a:prstGeom prst="roundRect">
            <a:avLst>
              <a:gd name="adj" fmla="val 7407"/>
            </a:avLst>
          </a:prstGeom>
          <a:solidFill>
            <a:srgbClr val="FFF9EF"/>
          </a:solidFill>
          <a:ln w="12700">
            <a:solidFill>
              <a:srgbClr val="CFE0F2"/>
            </a:solidFill>
            <a:prstDash val="solid"/>
          </a:ln>
        </p:spPr>
      </p:sp>
      <p:sp>
        <p:nvSpPr>
          <p:cNvPr id="11" name="Text 9"/>
          <p:cNvSpPr/>
          <p:nvPr/>
        </p:nvSpPr>
        <p:spPr>
          <a:xfrm>
            <a:off x="3611880" y="1792224"/>
            <a:ext cx="1965960" cy="182880"/>
          </a:xfrm>
          <a:prstGeom prst="rect">
            <a:avLst/>
          </a:prstGeom>
          <a:noFill/>
          <a:ln/>
        </p:spPr>
        <p:txBody>
          <a:bodyPr wrap="square" lIns="0" tIns="0" rIns="0" bIns="0" rtlCol="0" anchor="ctr"/>
          <a:lstStyle/>
          <a:p>
            <a:pPr marL="0" indent="0" algn="ctr">
              <a:buNone/>
            </a:pPr>
            <a:r>
              <a:rPr lang="en-US" sz="1450" b="1" dirty="0">
                <a:solidFill>
                  <a:srgbClr val="173B66"/>
                </a:solidFill>
              </a:rPr>
              <a:t>Distractor</a:t>
            </a:r>
            <a:endParaRPr lang="en-US" sz="1450" dirty="0"/>
          </a:p>
        </p:txBody>
      </p:sp>
      <p:sp>
        <p:nvSpPr>
          <p:cNvPr id="12" name="Text 10"/>
          <p:cNvSpPr/>
          <p:nvPr/>
        </p:nvSpPr>
        <p:spPr>
          <a:xfrm>
            <a:off x="3639312" y="2057400"/>
            <a:ext cx="1920240" cy="329184"/>
          </a:xfrm>
          <a:prstGeom prst="rect">
            <a:avLst/>
          </a:prstGeom>
          <a:noFill/>
          <a:ln/>
        </p:spPr>
        <p:txBody>
          <a:bodyPr wrap="square" lIns="0" tIns="0" rIns="0" bIns="0" rtlCol="0" anchor="ctr">
            <a:normAutofit/>
          </a:bodyPr>
          <a:lstStyle/>
          <a:p>
            <a:pPr marL="0" indent="0" algn="ctr">
              <a:buNone/>
            </a:pPr>
            <a:r>
              <a:rPr lang="en-US" sz="950" dirty="0">
                <a:solidFill>
                  <a:srgbClr val="5B677A"/>
                </a:solidFill>
              </a:rPr>
              <a:t>odd-even or vowel task</a:t>
            </a:r>
            <a:endParaRPr lang="en-US" sz="950" dirty="0"/>
          </a:p>
          <a:p>
            <a:pPr marL="0" indent="0" algn="ctr">
              <a:buNone/>
            </a:pPr>
            <a:r>
              <a:rPr lang="en-US" sz="950" dirty="0">
                <a:solidFill>
                  <a:srgbClr val="5B677A"/>
                </a:solidFill>
              </a:rPr>
              <a:t>短暂干扰任务</a:t>
            </a:r>
            <a:endParaRPr lang="en-US" sz="950" dirty="0"/>
          </a:p>
        </p:txBody>
      </p:sp>
      <p:sp>
        <p:nvSpPr>
          <p:cNvPr id="13" name="Shape 11"/>
          <p:cNvSpPr/>
          <p:nvPr/>
        </p:nvSpPr>
        <p:spPr>
          <a:xfrm>
            <a:off x="5806440" y="1938528"/>
            <a:ext cx="384048" cy="310896"/>
          </a:xfrm>
          <a:prstGeom prst="rightArrow">
            <a:avLst/>
          </a:prstGeom>
          <a:solidFill>
            <a:srgbClr val="2B6CB0">
              <a:alpha val="75000"/>
            </a:srgbClr>
          </a:solidFill>
          <a:ln w="12700">
            <a:solidFill>
              <a:srgbClr val="333333">
                <a:alpha val="0"/>
              </a:srgbClr>
            </a:solidFill>
            <a:prstDash val="solid"/>
          </a:ln>
        </p:spPr>
      </p:sp>
      <p:sp>
        <p:nvSpPr>
          <p:cNvPr id="14" name="Shape 12"/>
          <p:cNvSpPr/>
          <p:nvPr/>
        </p:nvSpPr>
        <p:spPr>
          <a:xfrm>
            <a:off x="6309360" y="1600200"/>
            <a:ext cx="2240280" cy="987552"/>
          </a:xfrm>
          <a:prstGeom prst="roundRect">
            <a:avLst>
              <a:gd name="adj" fmla="val 7407"/>
            </a:avLst>
          </a:prstGeom>
          <a:solidFill>
            <a:srgbClr val="EAF4FF"/>
          </a:solidFill>
          <a:ln w="12700">
            <a:solidFill>
              <a:srgbClr val="CFE0F2"/>
            </a:solidFill>
            <a:prstDash val="solid"/>
          </a:ln>
        </p:spPr>
      </p:sp>
      <p:sp>
        <p:nvSpPr>
          <p:cNvPr id="15" name="Text 13"/>
          <p:cNvSpPr/>
          <p:nvPr/>
        </p:nvSpPr>
        <p:spPr>
          <a:xfrm>
            <a:off x="6446520" y="1792224"/>
            <a:ext cx="1965960" cy="182880"/>
          </a:xfrm>
          <a:prstGeom prst="rect">
            <a:avLst/>
          </a:prstGeom>
          <a:noFill/>
          <a:ln/>
        </p:spPr>
        <p:txBody>
          <a:bodyPr wrap="square" lIns="0" tIns="0" rIns="0" bIns="0" rtlCol="0" anchor="ctr"/>
          <a:lstStyle/>
          <a:p>
            <a:pPr marL="0" indent="0" algn="ctr">
              <a:buNone/>
            </a:pPr>
            <a:r>
              <a:rPr lang="en-US" sz="1450" b="1" dirty="0">
                <a:solidFill>
                  <a:srgbClr val="173B66"/>
                </a:solidFill>
              </a:rPr>
              <a:t>Memory test</a:t>
            </a:r>
            <a:endParaRPr lang="en-US" sz="1450" dirty="0"/>
          </a:p>
        </p:txBody>
      </p:sp>
      <p:sp>
        <p:nvSpPr>
          <p:cNvPr id="16" name="Text 14"/>
          <p:cNvSpPr/>
          <p:nvPr/>
        </p:nvSpPr>
        <p:spPr>
          <a:xfrm>
            <a:off x="6473952" y="2057400"/>
            <a:ext cx="1920240" cy="329184"/>
          </a:xfrm>
          <a:prstGeom prst="rect">
            <a:avLst/>
          </a:prstGeom>
          <a:noFill/>
          <a:ln/>
        </p:spPr>
        <p:txBody>
          <a:bodyPr wrap="square" lIns="0" tIns="0" rIns="0" bIns="0" rtlCol="0" anchor="ctr">
            <a:normAutofit/>
          </a:bodyPr>
          <a:lstStyle/>
          <a:p>
            <a:pPr marL="0" indent="0" algn="ctr">
              <a:buNone/>
            </a:pPr>
            <a:r>
              <a:rPr lang="en-US" sz="950" dirty="0">
                <a:solidFill>
                  <a:srgbClr val="5B677A"/>
                </a:solidFill>
              </a:rPr>
              <a:t>recognition + word order</a:t>
            </a:r>
            <a:endParaRPr lang="en-US" sz="950" dirty="0"/>
          </a:p>
          <a:p>
            <a:pPr marL="0" indent="0" algn="ctr">
              <a:buNone/>
            </a:pPr>
            <a:r>
              <a:rPr lang="en-US" sz="950" dirty="0">
                <a:solidFill>
                  <a:srgbClr val="5B677A"/>
                </a:solidFill>
              </a:rPr>
              <a:t>句子再认 + 乱序重组</a:t>
            </a:r>
            <a:endParaRPr lang="en-US" sz="950" dirty="0"/>
          </a:p>
        </p:txBody>
      </p:sp>
      <p:sp>
        <p:nvSpPr>
          <p:cNvPr id="17" name="Shape 15"/>
          <p:cNvSpPr/>
          <p:nvPr/>
        </p:nvSpPr>
        <p:spPr>
          <a:xfrm>
            <a:off x="8641080" y="1938528"/>
            <a:ext cx="384048" cy="310896"/>
          </a:xfrm>
          <a:prstGeom prst="rightArrow">
            <a:avLst/>
          </a:prstGeom>
          <a:solidFill>
            <a:srgbClr val="2B6CB0">
              <a:alpha val="75000"/>
            </a:srgbClr>
          </a:solidFill>
          <a:ln w="12700">
            <a:solidFill>
              <a:srgbClr val="333333">
                <a:alpha val="0"/>
              </a:srgbClr>
            </a:solidFill>
            <a:prstDash val="solid"/>
          </a:ln>
        </p:spPr>
      </p:sp>
      <p:sp>
        <p:nvSpPr>
          <p:cNvPr id="18" name="Shape 16"/>
          <p:cNvSpPr/>
          <p:nvPr/>
        </p:nvSpPr>
        <p:spPr>
          <a:xfrm>
            <a:off x="9144000" y="1600200"/>
            <a:ext cx="2240280" cy="987552"/>
          </a:xfrm>
          <a:prstGeom prst="roundRect">
            <a:avLst>
              <a:gd name="adj" fmla="val 7407"/>
            </a:avLst>
          </a:prstGeom>
          <a:solidFill>
            <a:srgbClr val="FFF9EF"/>
          </a:solidFill>
          <a:ln w="12700">
            <a:solidFill>
              <a:srgbClr val="CFE0F2"/>
            </a:solidFill>
            <a:prstDash val="solid"/>
          </a:ln>
        </p:spPr>
      </p:sp>
      <p:sp>
        <p:nvSpPr>
          <p:cNvPr id="19" name="Text 17"/>
          <p:cNvSpPr/>
          <p:nvPr/>
        </p:nvSpPr>
        <p:spPr>
          <a:xfrm>
            <a:off x="9281160" y="1792224"/>
            <a:ext cx="1965960" cy="182880"/>
          </a:xfrm>
          <a:prstGeom prst="rect">
            <a:avLst/>
          </a:prstGeom>
          <a:noFill/>
          <a:ln/>
        </p:spPr>
        <p:txBody>
          <a:bodyPr wrap="square" lIns="0" tIns="0" rIns="0" bIns="0" rtlCol="0" anchor="ctr"/>
          <a:lstStyle/>
          <a:p>
            <a:pPr marL="0" indent="0" algn="ctr">
              <a:buNone/>
            </a:pPr>
            <a:r>
              <a:rPr lang="en-US" sz="1450" b="1" dirty="0">
                <a:solidFill>
                  <a:srgbClr val="173B66"/>
                </a:solidFill>
              </a:rPr>
              <a:t>Record</a:t>
            </a:r>
            <a:endParaRPr lang="en-US" sz="1450" dirty="0"/>
          </a:p>
        </p:txBody>
      </p:sp>
      <p:sp>
        <p:nvSpPr>
          <p:cNvPr id="20" name="Text 18"/>
          <p:cNvSpPr/>
          <p:nvPr/>
        </p:nvSpPr>
        <p:spPr>
          <a:xfrm>
            <a:off x="9308592" y="2057400"/>
            <a:ext cx="1920240" cy="329184"/>
          </a:xfrm>
          <a:prstGeom prst="rect">
            <a:avLst/>
          </a:prstGeom>
          <a:noFill/>
          <a:ln/>
        </p:spPr>
        <p:txBody>
          <a:bodyPr wrap="square" lIns="0" tIns="0" rIns="0" bIns="0" rtlCol="0" anchor="ctr">
            <a:normAutofit/>
          </a:bodyPr>
          <a:lstStyle/>
          <a:p>
            <a:pPr marL="0" indent="0" algn="ctr">
              <a:buNone/>
            </a:pPr>
            <a:r>
              <a:rPr lang="en-US" sz="950" dirty="0">
                <a:solidFill>
                  <a:srgbClr val="5B677A"/>
                </a:solidFill>
              </a:rPr>
              <a:t>accuracy + reaction time</a:t>
            </a:r>
            <a:endParaRPr lang="en-US" sz="950" dirty="0"/>
          </a:p>
          <a:p>
            <a:pPr marL="0" indent="0" algn="ctr">
              <a:buNone/>
            </a:pPr>
            <a:r>
              <a:rPr lang="en-US" sz="950" dirty="0">
                <a:solidFill>
                  <a:srgbClr val="5B677A"/>
                </a:solidFill>
              </a:rPr>
              <a:t>准确率 + 反应时</a:t>
            </a:r>
            <a:endParaRPr lang="en-US" sz="950" dirty="0"/>
          </a:p>
        </p:txBody>
      </p:sp>
      <p:sp>
        <p:nvSpPr>
          <p:cNvPr id="21" name="Shape 19"/>
          <p:cNvSpPr/>
          <p:nvPr/>
        </p:nvSpPr>
        <p:spPr>
          <a:xfrm>
            <a:off x="640080" y="3063240"/>
            <a:ext cx="10881360" cy="0"/>
          </a:xfrm>
          <a:prstGeom prst="line">
            <a:avLst/>
          </a:prstGeom>
          <a:noFill/>
          <a:ln w="12700">
            <a:solidFill>
              <a:srgbClr val="CFE0F2"/>
            </a:solidFill>
            <a:prstDash val="solid"/>
          </a:ln>
        </p:spPr>
      </p:sp>
      <p:sp>
        <p:nvSpPr>
          <p:cNvPr id="22" name="Text 20"/>
          <p:cNvSpPr/>
          <p:nvPr/>
        </p:nvSpPr>
        <p:spPr>
          <a:xfrm>
            <a:off x="731520" y="3456432"/>
            <a:ext cx="5029200" cy="310896"/>
          </a:xfrm>
          <a:prstGeom prst="rect">
            <a:avLst/>
          </a:prstGeom>
          <a:noFill/>
          <a:ln/>
        </p:spPr>
        <p:txBody>
          <a:bodyPr wrap="square" lIns="0" tIns="0" rIns="0" bIns="0" rtlCol="0" anchor="ctr"/>
          <a:lstStyle/>
          <a:p>
            <a:pPr marL="0" indent="0">
              <a:buNone/>
            </a:pPr>
            <a:r>
              <a:rPr lang="en-US" sz="1720" b="1" dirty="0">
                <a:solidFill>
                  <a:srgbClr val="173B66"/>
                </a:solidFill>
              </a:rPr>
              <a:t>Why it is psycholinguistic / 心理语言学意义</a:t>
            </a:r>
            <a:endParaRPr lang="en-US" sz="1720" dirty="0"/>
          </a:p>
        </p:txBody>
      </p:sp>
      <p:sp>
        <p:nvSpPr>
          <p:cNvPr id="23" name="Text 21"/>
          <p:cNvSpPr/>
          <p:nvPr/>
        </p:nvSpPr>
        <p:spPr>
          <a:xfrm>
            <a:off x="868680" y="397764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4" name="Text 22"/>
          <p:cNvSpPr/>
          <p:nvPr/>
        </p:nvSpPr>
        <p:spPr>
          <a:xfrm>
            <a:off x="1124712" y="3977640"/>
            <a:ext cx="4983480" cy="201168"/>
          </a:xfrm>
          <a:prstGeom prst="rect">
            <a:avLst/>
          </a:prstGeom>
          <a:noFill/>
          <a:ln/>
        </p:spPr>
        <p:txBody>
          <a:bodyPr wrap="square" lIns="0" tIns="0" rIns="0" bIns="0" rtlCol="0" anchor="ctr">
            <a:normAutofit/>
          </a:bodyPr>
          <a:lstStyle/>
          <a:p>
            <a:pPr marL="0" indent="0">
              <a:buNone/>
            </a:pPr>
            <a:r>
              <a:rPr lang="en-US" sz="1220" b="1" dirty="0">
                <a:solidFill>
                  <a:srgbClr val="1E293B"/>
                </a:solidFill>
              </a:rPr>
              <a:t>Participants process English as an L2.</a:t>
            </a:r>
            <a:endParaRPr lang="en-US" sz="1220" dirty="0"/>
          </a:p>
        </p:txBody>
      </p:sp>
      <p:sp>
        <p:nvSpPr>
          <p:cNvPr id="25" name="Text 23"/>
          <p:cNvSpPr/>
          <p:nvPr/>
        </p:nvSpPr>
        <p:spPr>
          <a:xfrm>
            <a:off x="1124712" y="4215384"/>
            <a:ext cx="4983480" cy="210312"/>
          </a:xfrm>
          <a:prstGeom prst="rect">
            <a:avLst/>
          </a:prstGeom>
          <a:noFill/>
          <a:ln/>
        </p:spPr>
        <p:txBody>
          <a:bodyPr wrap="square" lIns="0" tIns="0" rIns="0" bIns="0" rtlCol="0" anchor="ctr">
            <a:normAutofit/>
          </a:bodyPr>
          <a:lstStyle/>
          <a:p>
            <a:pPr marL="0" indent="0">
              <a:buNone/>
            </a:pPr>
            <a:r>
              <a:rPr lang="en-US" sz="1060" dirty="0">
                <a:solidFill>
                  <a:srgbClr val="5B677A"/>
                </a:solidFill>
              </a:rPr>
              <a:t>被试以二语方式加工英文文本。</a:t>
            </a:r>
            <a:endParaRPr lang="en-US" sz="1060" dirty="0"/>
          </a:p>
        </p:txBody>
      </p:sp>
      <p:sp>
        <p:nvSpPr>
          <p:cNvPr id="26" name="Text 24"/>
          <p:cNvSpPr/>
          <p:nvPr/>
        </p:nvSpPr>
        <p:spPr>
          <a:xfrm>
            <a:off x="868680" y="4617720"/>
            <a:ext cx="164592" cy="182880"/>
          </a:xfrm>
          <a:prstGeom prst="rect">
            <a:avLst/>
          </a:prstGeom>
          <a:noFill/>
          <a:ln/>
        </p:spPr>
        <p:txBody>
          <a:bodyPr wrap="square" lIns="0" tIns="0" rIns="0" bIns="0" rtlCol="0" anchor="ctr"/>
          <a:lstStyle/>
          <a:p>
            <a:pPr marL="0" indent="0">
              <a:buNone/>
            </a:pPr>
            <a:r>
              <a:rPr lang="en-US" sz="1220" b="1" dirty="0">
                <a:solidFill>
                  <a:srgbClr val="2B6CB0"/>
                </a:solidFill>
              </a:rPr>
              <a:t>•</a:t>
            </a:r>
            <a:endParaRPr lang="en-US" sz="1220" dirty="0"/>
          </a:p>
        </p:txBody>
      </p:sp>
      <p:sp>
        <p:nvSpPr>
          <p:cNvPr id="27" name="Text 25"/>
          <p:cNvSpPr/>
          <p:nvPr/>
        </p:nvSpPr>
        <p:spPr>
          <a:xfrm>
            <a:off x="1124712" y="4617720"/>
            <a:ext cx="4983480" cy="201168"/>
          </a:xfrm>
          <a:prstGeom prst="rect">
            <a:avLst/>
          </a:prstGeom>
          <a:noFill/>
          <a:ln/>
        </p:spPr>
        <p:txBody>
          <a:bodyPr wrap="square" lIns="0" tIns="0" rIns="0" bIns="0" rtlCol="0" anchor="ctr">
            <a:normAutofit/>
          </a:bodyPr>
          <a:lstStyle/>
          <a:p>
            <a:pPr marL="0" indent="0">
              <a:buNone/>
            </a:pPr>
            <a:r>
              <a:rPr lang="en-US" sz="1220" b="1" dirty="0">
                <a:solidFill>
                  <a:srgbClr val="1E293B"/>
                </a:solidFill>
              </a:rPr>
              <a:t>Recognition and reconstruction tap memory encoding and working memory.</a:t>
            </a:r>
            <a:endParaRPr lang="en-US" sz="1220" dirty="0"/>
          </a:p>
        </p:txBody>
      </p:sp>
      <p:sp>
        <p:nvSpPr>
          <p:cNvPr id="28" name="Text 26"/>
          <p:cNvSpPr/>
          <p:nvPr/>
        </p:nvSpPr>
        <p:spPr>
          <a:xfrm>
            <a:off x="1124712" y="4855464"/>
            <a:ext cx="4983480" cy="210312"/>
          </a:xfrm>
          <a:prstGeom prst="rect">
            <a:avLst/>
          </a:prstGeom>
          <a:noFill/>
          <a:ln/>
        </p:spPr>
        <p:txBody>
          <a:bodyPr wrap="square" lIns="0" tIns="0" rIns="0" bIns="0" rtlCol="0" anchor="ctr">
            <a:normAutofit/>
          </a:bodyPr>
          <a:lstStyle/>
          <a:p>
            <a:pPr marL="0" indent="0">
              <a:buNone/>
            </a:pPr>
            <a:r>
              <a:rPr lang="en-US" sz="1060" dirty="0">
                <a:solidFill>
                  <a:srgbClr val="5B677A"/>
                </a:solidFill>
              </a:rPr>
              <a:t>句子再认和乱序重组测量记忆编码与工作记忆。</a:t>
            </a:r>
            <a:endParaRPr lang="en-US" sz="1060" dirty="0"/>
          </a:p>
        </p:txBody>
      </p:sp>
      <p:sp>
        <p:nvSpPr>
          <p:cNvPr id="29" name="Text 27"/>
          <p:cNvSpPr/>
          <p:nvPr/>
        </p:nvSpPr>
        <p:spPr>
          <a:xfrm>
            <a:off x="6446520" y="3456432"/>
            <a:ext cx="2011680" cy="228600"/>
          </a:xfrm>
          <a:prstGeom prst="rect">
            <a:avLst/>
          </a:prstGeom>
          <a:noFill/>
          <a:ln/>
        </p:spPr>
        <p:txBody>
          <a:bodyPr wrap="square" lIns="0" tIns="0" rIns="0" bIns="0" rtlCol="0" anchor="ctr"/>
          <a:lstStyle/>
          <a:p>
            <a:pPr marL="0" indent="0">
              <a:buNone/>
            </a:pPr>
            <a:r>
              <a:rPr lang="en-US" sz="1500" b="1" dirty="0">
                <a:solidFill>
                  <a:srgbClr val="2B6CB0"/>
                </a:solidFill>
              </a:rPr>
              <a:t>Hypothesis / 假设</a:t>
            </a:r>
            <a:endParaRPr lang="en-US" sz="1500" dirty="0"/>
          </a:p>
        </p:txBody>
      </p:sp>
      <p:sp>
        <p:nvSpPr>
          <p:cNvPr id="30" name="Text 28"/>
          <p:cNvSpPr/>
          <p:nvPr/>
        </p:nvSpPr>
        <p:spPr>
          <a:xfrm>
            <a:off x="6446520" y="3886200"/>
            <a:ext cx="4663440" cy="1143000"/>
          </a:xfrm>
          <a:prstGeom prst="rect">
            <a:avLst/>
          </a:prstGeom>
          <a:noFill/>
          <a:ln/>
        </p:spPr>
        <p:txBody>
          <a:bodyPr wrap="square" lIns="254" tIns="254" rIns="254" bIns="254" rtlCol="0" anchor="ctr">
            <a:normAutofit/>
          </a:bodyPr>
          <a:lstStyle/>
          <a:p>
            <a:pPr marL="0" indent="0">
              <a:buNone/>
            </a:pPr>
            <a:r>
              <a:rPr lang="en-US" sz="1250" dirty="0">
                <a:solidFill>
                  <a:srgbClr val="1E293B"/>
                </a:solidFill>
              </a:rPr>
              <a:t>AI texts may be easier to process because of regular structure, but human texts may be remembered better if they contain more emotional specificity and personal voice.</a:t>
            </a:r>
            <a:endParaRPr lang="en-US" sz="1250" dirty="0"/>
          </a:p>
          <a:p>
            <a:pPr marL="0" indent="0">
              <a:buNone/>
            </a:pPr>
            <a:r>
              <a:rPr lang="en-US" sz="1250" dirty="0">
                <a:solidFill>
                  <a:srgbClr val="1E293B"/>
                </a:solidFill>
              </a:rPr>
              <a:t>AI 文本可能因结构规整而更易加工；但人类文本如果具有更具体的情感和个人声音，可能更容易被记住。</a:t>
            </a:r>
            <a:endParaRPr lang="en-US" sz="1250" dirty="0"/>
          </a:p>
        </p:txBody>
      </p:sp>
      <p:sp>
        <p:nvSpPr>
          <p:cNvPr id="31" name="Text 29"/>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D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D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Expected analysis and interpretation</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预期分析与解释</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Text 4"/>
          <p:cNvSpPr/>
          <p:nvPr/>
        </p:nvSpPr>
        <p:spPr>
          <a:xfrm>
            <a:off x="731520" y="1353312"/>
            <a:ext cx="3840480" cy="256032"/>
          </a:xfrm>
          <a:prstGeom prst="rect">
            <a:avLst/>
          </a:prstGeom>
          <a:noFill/>
          <a:ln/>
        </p:spPr>
        <p:txBody>
          <a:bodyPr wrap="square" lIns="0" tIns="0" rIns="0" bIns="0" rtlCol="0" anchor="ctr"/>
          <a:lstStyle/>
          <a:p>
            <a:pPr marL="0" indent="0">
              <a:buNone/>
            </a:pPr>
            <a:r>
              <a:rPr lang="en-US" sz="1700" b="1" dirty="0">
                <a:solidFill>
                  <a:srgbClr val="173B66"/>
                </a:solidFill>
              </a:rPr>
              <a:t>Three levels of analysis / 三个分析层次</a:t>
            </a:r>
            <a:endParaRPr lang="en-US" sz="1700" dirty="0"/>
          </a:p>
        </p:txBody>
      </p:sp>
      <p:sp>
        <p:nvSpPr>
          <p:cNvPr id="7" name="Shape 5"/>
          <p:cNvSpPr/>
          <p:nvPr/>
        </p:nvSpPr>
        <p:spPr>
          <a:xfrm>
            <a:off x="777240" y="2057400"/>
            <a:ext cx="3017520" cy="457200"/>
          </a:xfrm>
          <a:prstGeom prst="rect">
            <a:avLst/>
          </a:prstGeom>
          <a:solidFill>
            <a:srgbClr val="173B66"/>
          </a:solidFill>
          <a:ln w="12700">
            <a:solidFill>
              <a:srgbClr val="333333">
                <a:alpha val="0"/>
              </a:srgbClr>
            </a:solidFill>
            <a:prstDash val="solid"/>
          </a:ln>
        </p:spPr>
      </p:sp>
      <p:sp>
        <p:nvSpPr>
          <p:cNvPr id="8" name="Text 6"/>
          <p:cNvSpPr/>
          <p:nvPr/>
        </p:nvSpPr>
        <p:spPr>
          <a:xfrm>
            <a:off x="868680" y="2157984"/>
            <a:ext cx="2834640" cy="22860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Question</a:t>
            </a:r>
            <a:endParaRPr lang="en-US" sz="950" dirty="0"/>
          </a:p>
          <a:p>
            <a:pPr marL="0" indent="0" algn="ctr">
              <a:buNone/>
            </a:pPr>
            <a:r>
              <a:rPr lang="en-US" sz="950" b="1" dirty="0">
                <a:solidFill>
                  <a:srgbClr val="FFFFFF"/>
                </a:solidFill>
              </a:rPr>
              <a:t>问题</a:t>
            </a:r>
            <a:endParaRPr lang="en-US" sz="950" dirty="0"/>
          </a:p>
        </p:txBody>
      </p:sp>
      <p:sp>
        <p:nvSpPr>
          <p:cNvPr id="9" name="Shape 7"/>
          <p:cNvSpPr/>
          <p:nvPr/>
        </p:nvSpPr>
        <p:spPr>
          <a:xfrm>
            <a:off x="4251960" y="2057400"/>
            <a:ext cx="2743200" cy="457200"/>
          </a:xfrm>
          <a:prstGeom prst="rect">
            <a:avLst/>
          </a:prstGeom>
          <a:solidFill>
            <a:srgbClr val="173B66"/>
          </a:solidFill>
          <a:ln w="12700">
            <a:solidFill>
              <a:srgbClr val="333333">
                <a:alpha val="0"/>
              </a:srgbClr>
            </a:solidFill>
            <a:prstDash val="solid"/>
          </a:ln>
        </p:spPr>
      </p:sp>
      <p:sp>
        <p:nvSpPr>
          <p:cNvPr id="10" name="Text 8"/>
          <p:cNvSpPr/>
          <p:nvPr/>
        </p:nvSpPr>
        <p:spPr>
          <a:xfrm>
            <a:off x="4343400" y="2157984"/>
            <a:ext cx="2560320" cy="22860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Measure</a:t>
            </a:r>
            <a:endParaRPr lang="en-US" sz="950" dirty="0"/>
          </a:p>
          <a:p>
            <a:pPr marL="0" indent="0" algn="ctr">
              <a:buNone/>
            </a:pPr>
            <a:r>
              <a:rPr lang="en-US" sz="950" b="1" dirty="0">
                <a:solidFill>
                  <a:srgbClr val="FFFFFF"/>
                </a:solidFill>
              </a:rPr>
              <a:t>指标</a:t>
            </a:r>
            <a:endParaRPr lang="en-US" sz="950" dirty="0"/>
          </a:p>
        </p:txBody>
      </p:sp>
      <p:sp>
        <p:nvSpPr>
          <p:cNvPr id="11" name="Shape 9"/>
          <p:cNvSpPr/>
          <p:nvPr/>
        </p:nvSpPr>
        <p:spPr>
          <a:xfrm>
            <a:off x="7680960" y="2057400"/>
            <a:ext cx="3474720" cy="457200"/>
          </a:xfrm>
          <a:prstGeom prst="rect">
            <a:avLst/>
          </a:prstGeom>
          <a:solidFill>
            <a:srgbClr val="173B66"/>
          </a:solidFill>
          <a:ln w="12700">
            <a:solidFill>
              <a:srgbClr val="333333">
                <a:alpha val="0"/>
              </a:srgbClr>
            </a:solidFill>
            <a:prstDash val="solid"/>
          </a:ln>
        </p:spPr>
      </p:sp>
      <p:sp>
        <p:nvSpPr>
          <p:cNvPr id="12" name="Text 10"/>
          <p:cNvSpPr/>
          <p:nvPr/>
        </p:nvSpPr>
        <p:spPr>
          <a:xfrm>
            <a:off x="7772400" y="2157984"/>
            <a:ext cx="3291840" cy="228600"/>
          </a:xfrm>
          <a:prstGeom prst="rect">
            <a:avLst/>
          </a:prstGeom>
          <a:noFill/>
          <a:ln/>
        </p:spPr>
        <p:txBody>
          <a:bodyPr wrap="square" lIns="0" tIns="0" rIns="0" bIns="0" rtlCol="0" anchor="ctr">
            <a:normAutofit/>
          </a:bodyPr>
          <a:lstStyle/>
          <a:p>
            <a:pPr marL="0" indent="0" algn="ctr">
              <a:buNone/>
            </a:pPr>
            <a:r>
              <a:rPr lang="en-US" sz="950" b="1" dirty="0">
                <a:solidFill>
                  <a:srgbClr val="FFFFFF"/>
                </a:solidFill>
              </a:rPr>
              <a:t>Interpretation</a:t>
            </a:r>
            <a:endParaRPr lang="en-US" sz="950" dirty="0"/>
          </a:p>
          <a:p>
            <a:pPr marL="0" indent="0" algn="ctr">
              <a:buNone/>
            </a:pPr>
            <a:r>
              <a:rPr lang="en-US" sz="950" b="1" dirty="0">
                <a:solidFill>
                  <a:srgbClr val="FFFFFF"/>
                </a:solidFill>
              </a:rPr>
              <a:t>解释</a:t>
            </a:r>
            <a:endParaRPr lang="en-US" sz="950" dirty="0"/>
          </a:p>
        </p:txBody>
      </p:sp>
      <p:sp>
        <p:nvSpPr>
          <p:cNvPr id="13" name="Shape 11"/>
          <p:cNvSpPr/>
          <p:nvPr/>
        </p:nvSpPr>
        <p:spPr>
          <a:xfrm>
            <a:off x="777240" y="2542032"/>
            <a:ext cx="3017520" cy="658368"/>
          </a:xfrm>
          <a:prstGeom prst="rect">
            <a:avLst/>
          </a:prstGeom>
          <a:solidFill>
            <a:srgbClr val="F8FBFF"/>
          </a:solidFill>
          <a:ln w="12700">
            <a:solidFill>
              <a:srgbClr val="CFE0F2"/>
            </a:solidFill>
            <a:prstDash val="solid"/>
          </a:ln>
        </p:spPr>
      </p:sp>
      <p:sp>
        <p:nvSpPr>
          <p:cNvPr id="14" name="Text 12"/>
          <p:cNvSpPr/>
          <p:nvPr/>
        </p:nvSpPr>
        <p:spPr>
          <a:xfrm>
            <a:off x="886968" y="2670048"/>
            <a:ext cx="27889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Can readers classify source?</a:t>
            </a:r>
            <a:endParaRPr lang="en-US" sz="1020" dirty="0"/>
          </a:p>
          <a:p>
            <a:pPr marL="0" indent="0" algn="ctr">
              <a:buNone/>
            </a:pPr>
            <a:r>
              <a:rPr lang="en-US" sz="1020" dirty="0">
                <a:solidFill>
                  <a:srgbClr val="1E293B"/>
                </a:solidFill>
              </a:rPr>
              <a:t>能否判断来源？</a:t>
            </a:r>
            <a:endParaRPr lang="en-US" sz="1020" dirty="0"/>
          </a:p>
        </p:txBody>
      </p:sp>
      <p:sp>
        <p:nvSpPr>
          <p:cNvPr id="15" name="Shape 13"/>
          <p:cNvSpPr/>
          <p:nvPr/>
        </p:nvSpPr>
        <p:spPr>
          <a:xfrm>
            <a:off x="4251960" y="2542032"/>
            <a:ext cx="2743200" cy="658368"/>
          </a:xfrm>
          <a:prstGeom prst="rect">
            <a:avLst/>
          </a:prstGeom>
          <a:solidFill>
            <a:srgbClr val="F8FBFF"/>
          </a:solidFill>
          <a:ln w="12700">
            <a:solidFill>
              <a:srgbClr val="CFE0F2"/>
            </a:solidFill>
            <a:prstDash val="solid"/>
          </a:ln>
        </p:spPr>
      </p:sp>
      <p:sp>
        <p:nvSpPr>
          <p:cNvPr id="16" name="Text 14"/>
          <p:cNvSpPr/>
          <p:nvPr/>
        </p:nvSpPr>
        <p:spPr>
          <a:xfrm>
            <a:off x="4361688" y="2670048"/>
            <a:ext cx="251460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accuracy / misclassification</a:t>
            </a:r>
            <a:endParaRPr lang="en-US" sz="1020" dirty="0"/>
          </a:p>
          <a:p>
            <a:pPr marL="0" indent="0" algn="ctr">
              <a:buNone/>
            </a:pPr>
            <a:r>
              <a:rPr lang="en-US" sz="1020" dirty="0">
                <a:solidFill>
                  <a:srgbClr val="1E293B"/>
                </a:solidFill>
              </a:rPr>
              <a:t>准确率 / 误判率</a:t>
            </a:r>
            <a:endParaRPr lang="en-US" sz="1020" dirty="0"/>
          </a:p>
        </p:txBody>
      </p:sp>
      <p:sp>
        <p:nvSpPr>
          <p:cNvPr id="17" name="Shape 15"/>
          <p:cNvSpPr/>
          <p:nvPr/>
        </p:nvSpPr>
        <p:spPr>
          <a:xfrm>
            <a:off x="7680960" y="2542032"/>
            <a:ext cx="3474720" cy="658368"/>
          </a:xfrm>
          <a:prstGeom prst="rect">
            <a:avLst/>
          </a:prstGeom>
          <a:solidFill>
            <a:srgbClr val="F8FBFF"/>
          </a:solidFill>
          <a:ln w="12700">
            <a:solidFill>
              <a:srgbClr val="CFE0F2"/>
            </a:solidFill>
            <a:prstDash val="solid"/>
          </a:ln>
        </p:spPr>
      </p:sp>
      <p:sp>
        <p:nvSpPr>
          <p:cNvPr id="18" name="Text 16"/>
          <p:cNvSpPr/>
          <p:nvPr/>
        </p:nvSpPr>
        <p:spPr>
          <a:xfrm>
            <a:off x="7790688" y="2670048"/>
            <a:ext cx="32461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authorship perception</a:t>
            </a:r>
            <a:endParaRPr lang="en-US" sz="1020" dirty="0"/>
          </a:p>
          <a:p>
            <a:pPr marL="0" indent="0" algn="ctr">
              <a:buNone/>
            </a:pPr>
            <a:r>
              <a:rPr lang="en-US" sz="1020" dirty="0">
                <a:solidFill>
                  <a:srgbClr val="1E293B"/>
                </a:solidFill>
              </a:rPr>
              <a:t>作者身份感知</a:t>
            </a:r>
            <a:endParaRPr lang="en-US" sz="1020" dirty="0"/>
          </a:p>
        </p:txBody>
      </p:sp>
      <p:sp>
        <p:nvSpPr>
          <p:cNvPr id="19" name="Shape 17"/>
          <p:cNvSpPr/>
          <p:nvPr/>
        </p:nvSpPr>
        <p:spPr>
          <a:xfrm>
            <a:off x="777240" y="3255264"/>
            <a:ext cx="3017520" cy="658368"/>
          </a:xfrm>
          <a:prstGeom prst="rect">
            <a:avLst/>
          </a:prstGeom>
          <a:solidFill>
            <a:srgbClr val="FFFFFF"/>
          </a:solidFill>
          <a:ln w="12700">
            <a:solidFill>
              <a:srgbClr val="CFE0F2"/>
            </a:solidFill>
            <a:prstDash val="solid"/>
          </a:ln>
        </p:spPr>
      </p:sp>
      <p:sp>
        <p:nvSpPr>
          <p:cNvPr id="20" name="Text 18"/>
          <p:cNvSpPr/>
          <p:nvPr/>
        </p:nvSpPr>
        <p:spPr>
          <a:xfrm>
            <a:off x="886968" y="3383280"/>
            <a:ext cx="27889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What cues drive AI-likeness?</a:t>
            </a:r>
            <a:endParaRPr lang="en-US" sz="1020" dirty="0"/>
          </a:p>
          <a:p>
            <a:pPr marL="0" indent="0" algn="ctr">
              <a:buNone/>
            </a:pPr>
            <a:r>
              <a:rPr lang="en-US" sz="1020" dirty="0">
                <a:solidFill>
                  <a:srgbClr val="1E293B"/>
                </a:solidFill>
              </a:rPr>
              <a:t>哪些线索导致 AI 感？</a:t>
            </a:r>
            <a:endParaRPr lang="en-US" sz="1020" dirty="0"/>
          </a:p>
        </p:txBody>
      </p:sp>
      <p:sp>
        <p:nvSpPr>
          <p:cNvPr id="21" name="Shape 19"/>
          <p:cNvSpPr/>
          <p:nvPr/>
        </p:nvSpPr>
        <p:spPr>
          <a:xfrm>
            <a:off x="4251960" y="3255264"/>
            <a:ext cx="2743200" cy="658368"/>
          </a:xfrm>
          <a:prstGeom prst="rect">
            <a:avLst/>
          </a:prstGeom>
          <a:solidFill>
            <a:srgbClr val="FFFFFF"/>
          </a:solidFill>
          <a:ln w="12700">
            <a:solidFill>
              <a:srgbClr val="CFE0F2"/>
            </a:solidFill>
            <a:prstDash val="solid"/>
          </a:ln>
        </p:spPr>
      </p:sp>
      <p:sp>
        <p:nvSpPr>
          <p:cNvPr id="22" name="Text 20"/>
          <p:cNvSpPr/>
          <p:nvPr/>
        </p:nvSpPr>
        <p:spPr>
          <a:xfrm>
            <a:off x="4361688" y="3383280"/>
            <a:ext cx="251460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ratings + correlation</a:t>
            </a:r>
            <a:endParaRPr lang="en-US" sz="1020" dirty="0"/>
          </a:p>
          <a:p>
            <a:pPr marL="0" indent="0" algn="ctr">
              <a:buNone/>
            </a:pPr>
            <a:r>
              <a:rPr lang="en-US" sz="1020" dirty="0">
                <a:solidFill>
                  <a:srgbClr val="1E293B"/>
                </a:solidFill>
              </a:rPr>
              <a:t>评分 + 相关分析</a:t>
            </a:r>
            <a:endParaRPr lang="en-US" sz="1020" dirty="0"/>
          </a:p>
        </p:txBody>
      </p:sp>
      <p:sp>
        <p:nvSpPr>
          <p:cNvPr id="23" name="Shape 21"/>
          <p:cNvSpPr/>
          <p:nvPr/>
        </p:nvSpPr>
        <p:spPr>
          <a:xfrm>
            <a:off x="7680960" y="3255264"/>
            <a:ext cx="3474720" cy="658368"/>
          </a:xfrm>
          <a:prstGeom prst="rect">
            <a:avLst/>
          </a:prstGeom>
          <a:solidFill>
            <a:srgbClr val="FFFFFF"/>
          </a:solidFill>
          <a:ln w="12700">
            <a:solidFill>
              <a:srgbClr val="CFE0F2"/>
            </a:solidFill>
            <a:prstDash val="solid"/>
          </a:ln>
        </p:spPr>
      </p:sp>
      <p:sp>
        <p:nvSpPr>
          <p:cNvPr id="24" name="Text 22"/>
          <p:cNvSpPr/>
          <p:nvPr/>
        </p:nvSpPr>
        <p:spPr>
          <a:xfrm>
            <a:off x="7790688" y="3383280"/>
            <a:ext cx="32461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psycholinguistic cue use</a:t>
            </a:r>
            <a:endParaRPr lang="en-US" sz="1020" dirty="0"/>
          </a:p>
          <a:p>
            <a:pPr marL="0" indent="0" algn="ctr">
              <a:buNone/>
            </a:pPr>
            <a:r>
              <a:rPr lang="en-US" sz="1020" dirty="0">
                <a:solidFill>
                  <a:srgbClr val="1E293B"/>
                </a:solidFill>
              </a:rPr>
              <a:t>心理语言线索使用</a:t>
            </a:r>
            <a:endParaRPr lang="en-US" sz="1020" dirty="0"/>
          </a:p>
        </p:txBody>
      </p:sp>
      <p:sp>
        <p:nvSpPr>
          <p:cNvPr id="25" name="Shape 23"/>
          <p:cNvSpPr/>
          <p:nvPr/>
        </p:nvSpPr>
        <p:spPr>
          <a:xfrm>
            <a:off x="777240" y="3968496"/>
            <a:ext cx="3017520" cy="658368"/>
          </a:xfrm>
          <a:prstGeom prst="rect">
            <a:avLst/>
          </a:prstGeom>
          <a:solidFill>
            <a:srgbClr val="F8FBFF"/>
          </a:solidFill>
          <a:ln w="12700">
            <a:solidFill>
              <a:srgbClr val="CFE0F2"/>
            </a:solidFill>
            <a:prstDash val="solid"/>
          </a:ln>
        </p:spPr>
      </p:sp>
      <p:sp>
        <p:nvSpPr>
          <p:cNvPr id="26" name="Text 24"/>
          <p:cNvSpPr/>
          <p:nvPr/>
        </p:nvSpPr>
        <p:spPr>
          <a:xfrm>
            <a:off x="886968" y="4096512"/>
            <a:ext cx="27889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Which text is remembered better?</a:t>
            </a:r>
            <a:endParaRPr lang="en-US" sz="1020" dirty="0"/>
          </a:p>
          <a:p>
            <a:pPr marL="0" indent="0" algn="ctr">
              <a:buNone/>
            </a:pPr>
            <a:r>
              <a:rPr lang="en-US" sz="1020" dirty="0">
                <a:solidFill>
                  <a:srgbClr val="1E293B"/>
                </a:solidFill>
              </a:rPr>
              <a:t>哪类文本更容易记住？</a:t>
            </a:r>
            <a:endParaRPr lang="en-US" sz="1020" dirty="0"/>
          </a:p>
        </p:txBody>
      </p:sp>
      <p:sp>
        <p:nvSpPr>
          <p:cNvPr id="27" name="Shape 25"/>
          <p:cNvSpPr/>
          <p:nvPr/>
        </p:nvSpPr>
        <p:spPr>
          <a:xfrm>
            <a:off x="4251960" y="3968496"/>
            <a:ext cx="2743200" cy="658368"/>
          </a:xfrm>
          <a:prstGeom prst="rect">
            <a:avLst/>
          </a:prstGeom>
          <a:solidFill>
            <a:srgbClr val="F8FBFF"/>
          </a:solidFill>
          <a:ln w="12700">
            <a:solidFill>
              <a:srgbClr val="CFE0F2"/>
            </a:solidFill>
            <a:prstDash val="solid"/>
          </a:ln>
        </p:spPr>
      </p:sp>
      <p:sp>
        <p:nvSpPr>
          <p:cNvPr id="28" name="Text 26"/>
          <p:cNvSpPr/>
          <p:nvPr/>
        </p:nvSpPr>
        <p:spPr>
          <a:xfrm>
            <a:off x="4361688" y="4096512"/>
            <a:ext cx="251460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memory accuracy / RT</a:t>
            </a:r>
            <a:endParaRPr lang="en-US" sz="1020" dirty="0"/>
          </a:p>
          <a:p>
            <a:pPr marL="0" indent="0" algn="ctr">
              <a:buNone/>
            </a:pPr>
            <a:r>
              <a:rPr lang="en-US" sz="1020" dirty="0">
                <a:solidFill>
                  <a:srgbClr val="1E293B"/>
                </a:solidFill>
              </a:rPr>
              <a:t>记忆准确率 / 反应时</a:t>
            </a:r>
            <a:endParaRPr lang="en-US" sz="1020" dirty="0"/>
          </a:p>
        </p:txBody>
      </p:sp>
      <p:sp>
        <p:nvSpPr>
          <p:cNvPr id="29" name="Shape 27"/>
          <p:cNvSpPr/>
          <p:nvPr/>
        </p:nvSpPr>
        <p:spPr>
          <a:xfrm>
            <a:off x="7680960" y="3968496"/>
            <a:ext cx="3474720" cy="658368"/>
          </a:xfrm>
          <a:prstGeom prst="rect">
            <a:avLst/>
          </a:prstGeom>
          <a:solidFill>
            <a:srgbClr val="F8FBFF"/>
          </a:solidFill>
          <a:ln w="12700">
            <a:solidFill>
              <a:srgbClr val="CFE0F2"/>
            </a:solidFill>
            <a:prstDash val="solid"/>
          </a:ln>
        </p:spPr>
      </p:sp>
      <p:sp>
        <p:nvSpPr>
          <p:cNvPr id="30" name="Text 28"/>
          <p:cNvSpPr/>
          <p:nvPr/>
        </p:nvSpPr>
        <p:spPr>
          <a:xfrm>
            <a:off x="7790688" y="4096512"/>
            <a:ext cx="3246120" cy="329184"/>
          </a:xfrm>
          <a:prstGeom prst="rect">
            <a:avLst/>
          </a:prstGeom>
          <a:noFill/>
          <a:ln/>
        </p:spPr>
        <p:txBody>
          <a:bodyPr wrap="square" lIns="0" tIns="0" rIns="0" bIns="0" rtlCol="0" anchor="ctr">
            <a:normAutofit/>
          </a:bodyPr>
          <a:lstStyle/>
          <a:p>
            <a:pPr marL="0" indent="0" algn="ctr">
              <a:buNone/>
            </a:pPr>
            <a:r>
              <a:rPr lang="en-US" sz="1020" dirty="0">
                <a:solidFill>
                  <a:srgbClr val="1E293B"/>
                </a:solidFill>
              </a:rPr>
              <a:t>L2 encoding difference</a:t>
            </a:r>
            <a:endParaRPr lang="en-US" sz="1020" dirty="0"/>
          </a:p>
          <a:p>
            <a:pPr marL="0" indent="0" algn="ctr">
              <a:buNone/>
            </a:pPr>
            <a:r>
              <a:rPr lang="en-US" sz="1020" dirty="0">
                <a:solidFill>
                  <a:srgbClr val="1E293B"/>
                </a:solidFill>
              </a:rPr>
              <a:t>二语编码差异</a:t>
            </a:r>
            <a:endParaRPr lang="en-US" sz="1020" dirty="0"/>
          </a:p>
        </p:txBody>
      </p:sp>
      <p:sp>
        <p:nvSpPr>
          <p:cNvPr id="31" name="Text 29"/>
          <p:cNvSpPr/>
          <p:nvPr/>
        </p:nvSpPr>
        <p:spPr>
          <a:xfrm>
            <a:off x="777240" y="5029200"/>
            <a:ext cx="2560320" cy="256032"/>
          </a:xfrm>
          <a:prstGeom prst="rect">
            <a:avLst/>
          </a:prstGeom>
          <a:noFill/>
          <a:ln/>
        </p:spPr>
        <p:txBody>
          <a:bodyPr wrap="square" lIns="0" tIns="0" rIns="0" bIns="0" rtlCol="0" anchor="ctr"/>
          <a:lstStyle/>
          <a:p>
            <a:pPr marL="0" indent="0">
              <a:buNone/>
            </a:pPr>
            <a:r>
              <a:rPr lang="en-US" sz="1550" b="1" dirty="0">
                <a:solidFill>
                  <a:srgbClr val="2B6CB0"/>
                </a:solidFill>
              </a:rPr>
              <a:t>Possible finding / 可能结论</a:t>
            </a:r>
            <a:endParaRPr lang="en-US" sz="1550" dirty="0"/>
          </a:p>
        </p:txBody>
      </p:sp>
      <p:sp>
        <p:nvSpPr>
          <p:cNvPr id="32" name="Text 30"/>
          <p:cNvSpPr/>
          <p:nvPr/>
        </p:nvSpPr>
        <p:spPr>
          <a:xfrm>
            <a:off x="777240" y="5413248"/>
            <a:ext cx="10149840" cy="502920"/>
          </a:xfrm>
          <a:prstGeom prst="rect">
            <a:avLst/>
          </a:prstGeom>
          <a:noFill/>
          <a:ln/>
        </p:spPr>
        <p:txBody>
          <a:bodyPr wrap="square" lIns="0" tIns="0" rIns="0" bIns="0" rtlCol="0" anchor="ctr">
            <a:normAutofit/>
          </a:bodyPr>
          <a:lstStyle/>
          <a:p>
            <a:pPr marL="0" indent="0">
              <a:buNone/>
            </a:pPr>
            <a:r>
              <a:rPr lang="en-US" sz="1250" b="1" dirty="0">
                <a:solidFill>
                  <a:srgbClr val="173B66"/>
                </a:solidFill>
              </a:rPr>
              <a:t>Readers may infer authorship from fluency, regularity, emotion, and voice rather than directly detecting the true source. The same cues may also shape L2 memory performance.</a:t>
            </a:r>
            <a:endParaRPr lang="en-US" sz="1250" dirty="0"/>
          </a:p>
          <a:p>
            <a:pPr marL="0" indent="0">
              <a:buNone/>
            </a:pPr>
            <a:r>
              <a:rPr lang="en-US" sz="1250" b="1" dirty="0">
                <a:solidFill>
                  <a:srgbClr val="173B66"/>
                </a:solidFill>
              </a:rPr>
              <a:t>读者可能不是直接识别真实作者，而是根据流畅度、规整性、情绪和个人声音进行推断；这些线索也可能影响二语记忆表现。</a:t>
            </a:r>
            <a:endParaRPr lang="en-US" sz="1250" dirty="0"/>
          </a:p>
        </p:txBody>
      </p:sp>
      <p:sp>
        <p:nvSpPr>
          <p:cNvPr id="33" name="Text 31"/>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333333">
                <a:alpha val="0"/>
              </a:srgbClr>
            </a:solidFill>
            <a:prstDash val="solid"/>
          </a:ln>
        </p:spPr>
      </p:sp>
      <p:sp>
        <p:nvSpPr>
          <p:cNvPr id="3" name="Text 1"/>
          <p:cNvSpPr/>
          <p:nvPr/>
        </p:nvSpPr>
        <p:spPr>
          <a:xfrm>
            <a:off x="502920" y="292608"/>
            <a:ext cx="7863840" cy="347472"/>
          </a:xfrm>
          <a:prstGeom prst="rect">
            <a:avLst/>
          </a:prstGeom>
          <a:noFill/>
          <a:ln/>
        </p:spPr>
        <p:txBody>
          <a:bodyPr wrap="square" lIns="0" tIns="0" rIns="0" bIns="0" rtlCol="0" anchor="ctr">
            <a:normAutofit/>
          </a:bodyPr>
          <a:lstStyle/>
          <a:p>
            <a:pPr marL="0" indent="0">
              <a:buNone/>
            </a:pPr>
            <a:r>
              <a:rPr lang="en-US" sz="2300" b="1" dirty="0">
                <a:solidFill>
                  <a:srgbClr val="173B66"/>
                </a:solidFill>
                <a:latin typeface="Aptos Display" pitchFamily="34" charset="0"/>
                <a:ea typeface="Aptos Display" pitchFamily="34" charset="-122"/>
                <a:cs typeface="Aptos Display" pitchFamily="34" charset="-120"/>
              </a:rPr>
              <a:t>Scope, feasibility, and contribution</a:t>
            </a:r>
            <a:endParaRPr lang="en-US" sz="2300" dirty="0"/>
          </a:p>
        </p:txBody>
      </p:sp>
      <p:sp>
        <p:nvSpPr>
          <p:cNvPr id="4" name="Text 2"/>
          <p:cNvSpPr/>
          <p:nvPr/>
        </p:nvSpPr>
        <p:spPr>
          <a:xfrm>
            <a:off x="521208" y="749808"/>
            <a:ext cx="8961120" cy="256032"/>
          </a:xfrm>
          <a:prstGeom prst="rect">
            <a:avLst/>
          </a:prstGeom>
          <a:noFill/>
          <a:ln/>
        </p:spPr>
        <p:txBody>
          <a:bodyPr wrap="square" lIns="0" tIns="0" rIns="0" bIns="0" rtlCol="0" anchor="ctr">
            <a:normAutofit/>
          </a:bodyPr>
          <a:lstStyle/>
          <a:p>
            <a:pPr marL="0" indent="0">
              <a:buNone/>
            </a:pPr>
            <a:r>
              <a:rPr lang="en-US" sz="1320" b="1" dirty="0">
                <a:solidFill>
                  <a:srgbClr val="2B6CB0"/>
                </a:solidFill>
              </a:rPr>
              <a:t>研究范围、可行性与贡献</a:t>
            </a:r>
            <a:endParaRPr lang="en-US" sz="1320" dirty="0"/>
          </a:p>
        </p:txBody>
      </p:sp>
      <p:sp>
        <p:nvSpPr>
          <p:cNvPr id="5" name="Shape 3"/>
          <p:cNvSpPr/>
          <p:nvPr/>
        </p:nvSpPr>
        <p:spPr>
          <a:xfrm>
            <a:off x="502920" y="1078992"/>
            <a:ext cx="11155680" cy="0"/>
          </a:xfrm>
          <a:prstGeom prst="line">
            <a:avLst/>
          </a:prstGeom>
          <a:noFill/>
          <a:ln w="12700">
            <a:solidFill>
              <a:srgbClr val="CFE0F2"/>
            </a:solidFill>
            <a:prstDash val="solid"/>
          </a:ln>
        </p:spPr>
      </p:sp>
      <p:sp>
        <p:nvSpPr>
          <p:cNvPr id="6" name="Shape 4"/>
          <p:cNvSpPr/>
          <p:nvPr/>
        </p:nvSpPr>
        <p:spPr>
          <a:xfrm>
            <a:off x="685800" y="1417320"/>
            <a:ext cx="3291840" cy="4023360"/>
          </a:xfrm>
          <a:prstGeom prst="roundRect">
            <a:avLst>
              <a:gd name="adj" fmla="val 2222"/>
            </a:avLst>
          </a:prstGeom>
          <a:solidFill>
            <a:srgbClr val="FFFFFF"/>
          </a:solidFill>
          <a:ln w="12700">
            <a:solidFill>
              <a:srgbClr val="CFE0F2"/>
            </a:solidFill>
            <a:prstDash val="solid"/>
          </a:ln>
        </p:spPr>
      </p:sp>
      <p:sp>
        <p:nvSpPr>
          <p:cNvPr id="7" name="Text 5"/>
          <p:cNvSpPr/>
          <p:nvPr/>
        </p:nvSpPr>
        <p:spPr>
          <a:xfrm>
            <a:off x="960120" y="1691640"/>
            <a:ext cx="2743200" cy="411480"/>
          </a:xfrm>
          <a:prstGeom prst="rect">
            <a:avLst/>
          </a:prstGeom>
          <a:noFill/>
          <a:ln/>
        </p:spPr>
        <p:txBody>
          <a:bodyPr wrap="square" lIns="0" tIns="0" rIns="0" bIns="0" rtlCol="0" anchor="ctr">
            <a:normAutofit/>
          </a:bodyPr>
          <a:lstStyle/>
          <a:p>
            <a:pPr marL="0" indent="0" algn="ctr">
              <a:buNone/>
            </a:pPr>
            <a:r>
              <a:rPr lang="en-US" sz="1620" b="1" dirty="0">
                <a:solidFill>
                  <a:srgbClr val="173B66"/>
                </a:solidFill>
              </a:rPr>
              <a:t>Feasibility</a:t>
            </a:r>
            <a:endParaRPr lang="en-US" sz="1620" dirty="0"/>
          </a:p>
          <a:p>
            <a:pPr marL="0" indent="0" algn="ctr">
              <a:buNone/>
            </a:pPr>
            <a:r>
              <a:rPr lang="en-US" sz="1620" b="1" dirty="0">
                <a:solidFill>
                  <a:srgbClr val="173B66"/>
                </a:solidFill>
              </a:rPr>
              <a:t>可行性</a:t>
            </a:r>
            <a:endParaRPr lang="en-US" sz="1620" dirty="0"/>
          </a:p>
        </p:txBody>
      </p:sp>
      <p:sp>
        <p:nvSpPr>
          <p:cNvPr id="8" name="Text 6"/>
          <p:cNvSpPr/>
          <p:nvPr/>
        </p:nvSpPr>
        <p:spPr>
          <a:xfrm>
            <a:off x="960120" y="233172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9" name="Text 7"/>
          <p:cNvSpPr/>
          <p:nvPr/>
        </p:nvSpPr>
        <p:spPr>
          <a:xfrm>
            <a:off x="1188720" y="228600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20–50 bilingual high school students</a:t>
            </a:r>
            <a:endParaRPr lang="en-US" sz="980" dirty="0"/>
          </a:p>
          <a:p>
            <a:pPr marL="0" indent="0">
              <a:buNone/>
            </a:pPr>
            <a:r>
              <a:rPr lang="en-US" sz="980" dirty="0">
                <a:solidFill>
                  <a:srgbClr val="1E293B"/>
                </a:solidFill>
              </a:rPr>
              <a:t>20–50 名中英双语高中生</a:t>
            </a:r>
            <a:endParaRPr lang="en-US" sz="980" dirty="0"/>
          </a:p>
        </p:txBody>
      </p:sp>
      <p:sp>
        <p:nvSpPr>
          <p:cNvPr id="10" name="Text 8"/>
          <p:cNvSpPr/>
          <p:nvPr/>
        </p:nvSpPr>
        <p:spPr>
          <a:xfrm>
            <a:off x="960120" y="310896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11" name="Text 9"/>
          <p:cNvSpPr/>
          <p:nvPr/>
        </p:nvSpPr>
        <p:spPr>
          <a:xfrm>
            <a:off x="1188720" y="306324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8–12 short English passages</a:t>
            </a:r>
            <a:endParaRPr lang="en-US" sz="980" dirty="0"/>
          </a:p>
          <a:p>
            <a:pPr marL="0" indent="0">
              <a:buNone/>
            </a:pPr>
            <a:r>
              <a:rPr lang="en-US" sz="980" dirty="0">
                <a:solidFill>
                  <a:srgbClr val="1E293B"/>
                </a:solidFill>
              </a:rPr>
              <a:t>8–12 段短英文文本</a:t>
            </a:r>
            <a:endParaRPr lang="en-US" sz="980" dirty="0"/>
          </a:p>
        </p:txBody>
      </p:sp>
      <p:sp>
        <p:nvSpPr>
          <p:cNvPr id="12" name="Text 10"/>
          <p:cNvSpPr/>
          <p:nvPr/>
        </p:nvSpPr>
        <p:spPr>
          <a:xfrm>
            <a:off x="960120" y="388620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13" name="Text 11"/>
          <p:cNvSpPr/>
          <p:nvPr/>
        </p:nvSpPr>
        <p:spPr>
          <a:xfrm>
            <a:off x="1188720" y="384048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Static web demo + CSV export</a:t>
            </a:r>
            <a:endParaRPr lang="en-US" sz="980" dirty="0"/>
          </a:p>
          <a:p>
            <a:pPr marL="0" indent="0">
              <a:buNone/>
            </a:pPr>
            <a:r>
              <a:rPr lang="en-US" sz="980" dirty="0">
                <a:solidFill>
                  <a:srgbClr val="1E293B"/>
                </a:solidFill>
              </a:rPr>
              <a:t>网页实验 + CSV 导出</a:t>
            </a:r>
            <a:endParaRPr lang="en-US" sz="980" dirty="0"/>
          </a:p>
        </p:txBody>
      </p:sp>
      <p:sp>
        <p:nvSpPr>
          <p:cNvPr id="14" name="Shape 12"/>
          <p:cNvSpPr/>
          <p:nvPr/>
        </p:nvSpPr>
        <p:spPr>
          <a:xfrm>
            <a:off x="4434840" y="1417320"/>
            <a:ext cx="3291840" cy="4023360"/>
          </a:xfrm>
          <a:prstGeom prst="roundRect">
            <a:avLst>
              <a:gd name="adj" fmla="val 2222"/>
            </a:avLst>
          </a:prstGeom>
          <a:solidFill>
            <a:srgbClr val="FFFFFF"/>
          </a:solidFill>
          <a:ln w="12700">
            <a:solidFill>
              <a:srgbClr val="CFE0F2"/>
            </a:solidFill>
            <a:prstDash val="solid"/>
          </a:ln>
        </p:spPr>
      </p:sp>
      <p:sp>
        <p:nvSpPr>
          <p:cNvPr id="15" name="Text 13"/>
          <p:cNvSpPr/>
          <p:nvPr/>
        </p:nvSpPr>
        <p:spPr>
          <a:xfrm>
            <a:off x="4709160" y="1691640"/>
            <a:ext cx="2743200" cy="411480"/>
          </a:xfrm>
          <a:prstGeom prst="rect">
            <a:avLst/>
          </a:prstGeom>
          <a:noFill/>
          <a:ln/>
        </p:spPr>
        <p:txBody>
          <a:bodyPr wrap="square" lIns="0" tIns="0" rIns="0" bIns="0" rtlCol="0" anchor="ctr">
            <a:normAutofit/>
          </a:bodyPr>
          <a:lstStyle/>
          <a:p>
            <a:pPr marL="0" indent="0" algn="ctr">
              <a:buNone/>
            </a:pPr>
            <a:r>
              <a:rPr lang="en-US" sz="1620" b="1" dirty="0">
                <a:solidFill>
                  <a:srgbClr val="173B66"/>
                </a:solidFill>
              </a:rPr>
              <a:t>Controls</a:t>
            </a:r>
            <a:endParaRPr lang="en-US" sz="1620" dirty="0"/>
          </a:p>
          <a:p>
            <a:pPr marL="0" indent="0" algn="ctr">
              <a:buNone/>
            </a:pPr>
            <a:r>
              <a:rPr lang="en-US" sz="1620" b="1" dirty="0">
                <a:solidFill>
                  <a:srgbClr val="173B66"/>
                </a:solidFill>
              </a:rPr>
              <a:t>控制变量</a:t>
            </a:r>
            <a:endParaRPr lang="en-US" sz="1620" dirty="0"/>
          </a:p>
        </p:txBody>
      </p:sp>
      <p:sp>
        <p:nvSpPr>
          <p:cNvPr id="16" name="Text 14"/>
          <p:cNvSpPr/>
          <p:nvPr/>
        </p:nvSpPr>
        <p:spPr>
          <a:xfrm>
            <a:off x="4709160" y="233172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17" name="Text 15"/>
          <p:cNvSpPr/>
          <p:nvPr/>
        </p:nvSpPr>
        <p:spPr>
          <a:xfrm>
            <a:off x="4937760" y="228600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Bilingual screening questionnaire</a:t>
            </a:r>
            <a:endParaRPr lang="en-US" sz="980" dirty="0"/>
          </a:p>
          <a:p>
            <a:pPr marL="0" indent="0">
              <a:buNone/>
            </a:pPr>
            <a:r>
              <a:rPr lang="en-US" sz="980" dirty="0">
                <a:solidFill>
                  <a:srgbClr val="1E293B"/>
                </a:solidFill>
              </a:rPr>
              <a:t>双语背景预筛选问卷</a:t>
            </a:r>
            <a:endParaRPr lang="en-US" sz="980" dirty="0"/>
          </a:p>
        </p:txBody>
      </p:sp>
      <p:sp>
        <p:nvSpPr>
          <p:cNvPr id="18" name="Text 16"/>
          <p:cNvSpPr/>
          <p:nvPr/>
        </p:nvSpPr>
        <p:spPr>
          <a:xfrm>
            <a:off x="4709160" y="310896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19" name="Text 17"/>
          <p:cNvSpPr/>
          <p:nvPr/>
        </p:nvSpPr>
        <p:spPr>
          <a:xfrm>
            <a:off x="4937760" y="306324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Matched topic, length, vocabulary level</a:t>
            </a:r>
            <a:endParaRPr lang="en-US" sz="980" dirty="0"/>
          </a:p>
          <a:p>
            <a:pPr marL="0" indent="0">
              <a:buNone/>
            </a:pPr>
            <a:r>
              <a:rPr lang="en-US" sz="980" dirty="0">
                <a:solidFill>
                  <a:srgbClr val="1E293B"/>
                </a:solidFill>
              </a:rPr>
              <a:t>控制话题、长度、词汇难度</a:t>
            </a:r>
            <a:endParaRPr lang="en-US" sz="980" dirty="0"/>
          </a:p>
        </p:txBody>
      </p:sp>
      <p:sp>
        <p:nvSpPr>
          <p:cNvPr id="20" name="Text 18"/>
          <p:cNvSpPr/>
          <p:nvPr/>
        </p:nvSpPr>
        <p:spPr>
          <a:xfrm>
            <a:off x="4709160" y="388620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21" name="Text 19"/>
          <p:cNvSpPr/>
          <p:nvPr/>
        </p:nvSpPr>
        <p:spPr>
          <a:xfrm>
            <a:off x="4937760" y="384048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Standardized AI / hybrid generation rules</a:t>
            </a:r>
            <a:endParaRPr lang="en-US" sz="980" dirty="0"/>
          </a:p>
          <a:p>
            <a:pPr marL="0" indent="0">
              <a:buNone/>
            </a:pPr>
            <a:r>
              <a:rPr lang="en-US" sz="980" dirty="0">
                <a:solidFill>
                  <a:srgbClr val="1E293B"/>
                </a:solidFill>
              </a:rPr>
              <a:t>标准化 AI / 混合文本生成规则</a:t>
            </a:r>
            <a:endParaRPr lang="en-US" sz="980" dirty="0"/>
          </a:p>
        </p:txBody>
      </p:sp>
      <p:sp>
        <p:nvSpPr>
          <p:cNvPr id="22" name="Shape 20"/>
          <p:cNvSpPr/>
          <p:nvPr/>
        </p:nvSpPr>
        <p:spPr>
          <a:xfrm>
            <a:off x="8183880" y="1417320"/>
            <a:ext cx="3291840" cy="4023360"/>
          </a:xfrm>
          <a:prstGeom prst="roundRect">
            <a:avLst>
              <a:gd name="adj" fmla="val 2222"/>
            </a:avLst>
          </a:prstGeom>
          <a:solidFill>
            <a:srgbClr val="FFFFFF"/>
          </a:solidFill>
          <a:ln w="12700">
            <a:solidFill>
              <a:srgbClr val="CFE0F2"/>
            </a:solidFill>
            <a:prstDash val="solid"/>
          </a:ln>
        </p:spPr>
      </p:sp>
      <p:sp>
        <p:nvSpPr>
          <p:cNvPr id="23" name="Text 21"/>
          <p:cNvSpPr/>
          <p:nvPr/>
        </p:nvSpPr>
        <p:spPr>
          <a:xfrm>
            <a:off x="8458200" y="1691640"/>
            <a:ext cx="2743200" cy="411480"/>
          </a:xfrm>
          <a:prstGeom prst="rect">
            <a:avLst/>
          </a:prstGeom>
          <a:noFill/>
          <a:ln/>
        </p:spPr>
        <p:txBody>
          <a:bodyPr wrap="square" lIns="0" tIns="0" rIns="0" bIns="0" rtlCol="0" anchor="ctr">
            <a:normAutofit/>
          </a:bodyPr>
          <a:lstStyle/>
          <a:p>
            <a:pPr marL="0" indent="0" algn="ctr">
              <a:buNone/>
            </a:pPr>
            <a:r>
              <a:rPr lang="en-US" sz="1620" b="1" dirty="0">
                <a:solidFill>
                  <a:srgbClr val="173B66"/>
                </a:solidFill>
              </a:rPr>
              <a:t>Contribution</a:t>
            </a:r>
            <a:endParaRPr lang="en-US" sz="1620" dirty="0"/>
          </a:p>
          <a:p>
            <a:pPr marL="0" indent="0" algn="ctr">
              <a:buNone/>
            </a:pPr>
            <a:r>
              <a:rPr lang="en-US" sz="1620" b="1" dirty="0">
                <a:solidFill>
                  <a:srgbClr val="173B66"/>
                </a:solidFill>
              </a:rPr>
              <a:t>贡献</a:t>
            </a:r>
            <a:endParaRPr lang="en-US" sz="1620" dirty="0"/>
          </a:p>
        </p:txBody>
      </p:sp>
      <p:sp>
        <p:nvSpPr>
          <p:cNvPr id="24" name="Text 22"/>
          <p:cNvSpPr/>
          <p:nvPr/>
        </p:nvSpPr>
        <p:spPr>
          <a:xfrm>
            <a:off x="8458200" y="233172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25" name="Text 23"/>
          <p:cNvSpPr/>
          <p:nvPr/>
        </p:nvSpPr>
        <p:spPr>
          <a:xfrm>
            <a:off x="8686800" y="228600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AI detection reframed as language perception</a:t>
            </a:r>
            <a:endParaRPr lang="en-US" sz="980" dirty="0"/>
          </a:p>
          <a:p>
            <a:pPr marL="0" indent="0">
              <a:buNone/>
            </a:pPr>
            <a:r>
              <a:rPr lang="en-US" sz="980" dirty="0">
                <a:solidFill>
                  <a:srgbClr val="1E293B"/>
                </a:solidFill>
              </a:rPr>
              <a:t>把 AI 检测转化为语言感知问题</a:t>
            </a:r>
            <a:endParaRPr lang="en-US" sz="980" dirty="0"/>
          </a:p>
        </p:txBody>
      </p:sp>
      <p:sp>
        <p:nvSpPr>
          <p:cNvPr id="26" name="Text 24"/>
          <p:cNvSpPr/>
          <p:nvPr/>
        </p:nvSpPr>
        <p:spPr>
          <a:xfrm>
            <a:off x="8458200" y="310896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27" name="Text 25"/>
          <p:cNvSpPr/>
          <p:nvPr/>
        </p:nvSpPr>
        <p:spPr>
          <a:xfrm>
            <a:off x="8686800" y="306324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Connects AI writing with L2 processing</a:t>
            </a:r>
            <a:endParaRPr lang="en-US" sz="980" dirty="0"/>
          </a:p>
          <a:p>
            <a:pPr marL="0" indent="0">
              <a:buNone/>
            </a:pPr>
            <a:r>
              <a:rPr lang="en-US" sz="980" dirty="0">
                <a:solidFill>
                  <a:srgbClr val="1E293B"/>
                </a:solidFill>
              </a:rPr>
              <a:t>连接 AI 写作与二语加工</a:t>
            </a:r>
            <a:endParaRPr lang="en-US" sz="980" dirty="0"/>
          </a:p>
        </p:txBody>
      </p:sp>
      <p:sp>
        <p:nvSpPr>
          <p:cNvPr id="28" name="Text 26"/>
          <p:cNvSpPr/>
          <p:nvPr/>
        </p:nvSpPr>
        <p:spPr>
          <a:xfrm>
            <a:off x="8458200" y="3886200"/>
            <a:ext cx="164592" cy="164592"/>
          </a:xfrm>
          <a:prstGeom prst="rect">
            <a:avLst/>
          </a:prstGeom>
          <a:noFill/>
          <a:ln/>
        </p:spPr>
        <p:txBody>
          <a:bodyPr wrap="square" lIns="0" tIns="0" rIns="0" bIns="0" rtlCol="0" anchor="ctr"/>
          <a:lstStyle/>
          <a:p>
            <a:pPr marL="0" indent="0">
              <a:buNone/>
            </a:pPr>
            <a:r>
              <a:rPr lang="en-US" sz="1100" b="1" dirty="0">
                <a:solidFill>
                  <a:srgbClr val="2B6CB0"/>
                </a:solidFill>
              </a:rPr>
              <a:t>•</a:t>
            </a:r>
            <a:endParaRPr lang="en-US" sz="1100" dirty="0"/>
          </a:p>
        </p:txBody>
      </p:sp>
      <p:sp>
        <p:nvSpPr>
          <p:cNvPr id="29" name="Text 27"/>
          <p:cNvSpPr/>
          <p:nvPr/>
        </p:nvSpPr>
        <p:spPr>
          <a:xfrm>
            <a:off x="8686800" y="3840480"/>
            <a:ext cx="2423160" cy="411480"/>
          </a:xfrm>
          <a:prstGeom prst="rect">
            <a:avLst/>
          </a:prstGeom>
          <a:noFill/>
          <a:ln/>
        </p:spPr>
        <p:txBody>
          <a:bodyPr wrap="square" lIns="0" tIns="0" rIns="0" bIns="0" rtlCol="0" anchor="ctr">
            <a:normAutofit/>
          </a:bodyPr>
          <a:lstStyle/>
          <a:p>
            <a:pPr marL="0" indent="0">
              <a:buNone/>
            </a:pPr>
            <a:r>
              <a:rPr lang="en-US" sz="980" dirty="0">
                <a:solidFill>
                  <a:srgbClr val="1E293B"/>
                </a:solidFill>
              </a:rPr>
              <a:t>Measures judgment, cue use, and memory</a:t>
            </a:r>
            <a:endParaRPr lang="en-US" sz="980" dirty="0"/>
          </a:p>
          <a:p>
            <a:pPr marL="0" indent="0">
              <a:buNone/>
            </a:pPr>
            <a:r>
              <a:rPr lang="en-US" sz="980" dirty="0">
                <a:solidFill>
                  <a:srgbClr val="1E293B"/>
                </a:solidFill>
              </a:rPr>
              <a:t>测量判断、线索使用与记忆</a:t>
            </a:r>
            <a:endParaRPr lang="en-US" sz="980" dirty="0"/>
          </a:p>
        </p:txBody>
      </p:sp>
      <p:sp>
        <p:nvSpPr>
          <p:cNvPr id="30" name="Text 28"/>
          <p:cNvSpPr/>
          <p:nvPr/>
        </p:nvSpPr>
        <p:spPr>
          <a:xfrm>
            <a:off x="914400" y="5833872"/>
            <a:ext cx="10424160" cy="420624"/>
          </a:xfrm>
          <a:prstGeom prst="rect">
            <a:avLst/>
          </a:prstGeom>
          <a:noFill/>
          <a:ln/>
        </p:spPr>
        <p:txBody>
          <a:bodyPr wrap="square" lIns="0" tIns="0" rIns="0" bIns="0" rtlCol="0" anchor="ctr">
            <a:normAutofit/>
          </a:bodyPr>
          <a:lstStyle/>
          <a:p>
            <a:pPr marL="0" indent="0" algn="ctr">
              <a:buNone/>
            </a:pPr>
            <a:r>
              <a:rPr lang="en-US" sz="1520" b="1" dirty="0" err="1">
                <a:solidFill>
                  <a:srgbClr val="173B66"/>
                </a:solidFill>
              </a:rPr>
              <a:t>结论</a:t>
            </a:r>
            <a:r>
              <a:rPr lang="en-US" sz="1520" b="1" dirty="0">
                <a:solidFill>
                  <a:srgbClr val="173B66"/>
                </a:solidFill>
              </a:rPr>
              <a:t>：“AI 感”可能是一种心理语言感知，而不是对真实作者身份的直接识别。</a:t>
            </a:r>
            <a:endParaRPr lang="en-US" sz="1520" dirty="0"/>
          </a:p>
        </p:txBody>
      </p:sp>
      <p:sp>
        <p:nvSpPr>
          <p:cNvPr id="31" name="Text 29"/>
          <p:cNvSpPr/>
          <p:nvPr/>
        </p:nvSpPr>
        <p:spPr>
          <a:xfrm>
            <a:off x="11292840" y="6473952"/>
            <a:ext cx="502920" cy="164592"/>
          </a:xfrm>
          <a:prstGeom prst="rect">
            <a:avLst/>
          </a:prstGeom>
          <a:noFill/>
          <a:ln/>
        </p:spPr>
        <p:txBody>
          <a:bodyPr wrap="square" lIns="0" tIns="0" rIns="0" bIns="0" rtlCol="0" anchor="ctr"/>
          <a:lstStyle/>
          <a:p>
            <a:pPr marL="0" indent="0" algn="r">
              <a:buNone/>
            </a:pPr>
            <a:r>
              <a:rPr lang="en-US" sz="800" dirty="0">
                <a:solidFill>
                  <a:srgbClr val="8DA2BC"/>
                </a:solidFill>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1100</Words>
  <Application>Microsoft Macintosh PowerPoint</Application>
  <PresentationFormat>Widescreen</PresentationFormat>
  <Paragraphs>222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Psycholinguistic Cues in AI-Authorship Perception and L2 Text Memory</dc:title>
  <dc:subject>Bilingual psycholinguistics proposal presentation</dc:subject>
  <dc:creator>OpenAI</dc:creator>
  <cp:lastModifiedBy>Jiaheng Zhang</cp:lastModifiedBy>
  <cp:revision>2</cp:revision>
  <dcterms:created xsi:type="dcterms:W3CDTF">2026-07-03T10:58:28Z</dcterms:created>
  <dcterms:modified xsi:type="dcterms:W3CDTF">2026-07-03T11:22:41Z</dcterms:modified>
</cp:coreProperties>
</file>