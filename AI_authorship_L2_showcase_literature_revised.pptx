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46"/>
    <p:restoredTop sz="94610"/>
  </p:normalViewPr>
  <p:slideViewPr>
    <p:cSldViewPr snapToGrid="0" snapToObjects="1">
      <p:cViewPr varScale="1">
        <p:scale>
          <a:sx n="221" d="100"/>
          <a:sy n="2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6288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will present my research proposal titled “Psycholinguistic Cues in AI-Authorship Perception and L2 Text Memory.” This presentation follows the third option of the showcase: an original research idea based on the course content. My project focuses on how Chinese-English bilingual students judge whether an English text is human-written, AI-generated, or human-AI hybrid. It also asks whether these text types affect memory during second-language reading. The main idea is that people may not directly detect AI authorship. Instead, they may rely on linguistic cues such as fluency, structure, emotional expression, and personal voice.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route clear, I am choosing Option 3: an original research proposal. I will first explain where the idea comes from, then summarize the key literature that motivates the research gap, then introduce the variables and three experimental tasks, and finally show how the study could be implemented through a web demo. I am not doing a critical comparison of two articles. The literature is used to support the research gap and motivate my own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AI-generated writing is becoming common in school and daily life. People often say a text “sounds like AI,” but that judgment may not be based on actual authorship. A text may sound AI-generated because it is very fluent, highly organized, emotionally neutral, or generic. However, these features can also appear in human writing, especially after editing. So my research is not simply about AI detection. It is about a psycholinguistic question: how do readers use language features to infer who wrote a text? This connects to language perception, reading comprehension, pragmatics, second-language processing, and working memory.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looked at four pieces of literature to support this project. Chein and colleagues in 2024 studied human ability to distinguish AI-generated from human content and found that people can perform above chance, but individual differences are large. Weber-Wulff and colleagues in 2023 tested AI detection tools and argued that they are not consistently reliable, especially for edited or obfuscated texts. Elkhatat and colleagues also showed that AI detector performance changes across models and can produce false positives. Finally, Goldstein and colleagues in 2025 discussed large language models as computational models relevant to human language processing. Together, these studies suggest a gap: we know that both humans and tools struggle with AI-text identification, but we know less about what linguistic cues readers use, and whether AI versus human texts affect second-language memory encoding.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contribution is to move from an accuracy problem to a mechanism problem. Existing studies often ask whether people or tools can correctly distinguish AI writing. My study asks what linguistic cues guide that judgment. Existing detection studies focus on correct or incorrect classification. My study focuses on psycholinguistic processes: perceived cues, authorship judgment, and L2 memory encoding. The originality is that it links AI-authorship perception with second-language memory tasks.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study has two research questions. First, what linguistic cues make an English text sound AI-generated? Second, do AI-generated and human-written texts differ in L2 memory encoding? The main independent variable is text type: human-written, AI-generated, and human-AI hybrid. The dependent variables include authorship judgment accuracy, AI-likelihood rating, cue ratings such as fluency, structure, emotion, and personal voice, and L2 memory accuracy and reaction time. The control variables include English-only texts, a text length of around eighty to one hundred and twenty words, matched topic and vocabulary level, and participants’ bilingual background and English proficiency.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materials will be short English passages. I will use English because the participants are Chinese-English bilingual students, so English functions as the second language in this study. To control the materials, I will prepare matched text sets. A human-written paragraph will be paired with an AI-generated version on the same topic, with similar length and vocabulary level. For human-AI hybrid texts, I will use a standard editing rule, such as AI polishing a human text without changing the main content. This is important because the results should reflect differences in linguistic style, not differences in topic, length, or difficulty.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1 is the AI-authorship judgment task. Participants read each English passage and answer: Who do you think wrote this text? The choices are human-written, AI-generated, human with AI editing, or not sure. This task measures intuitive authorship perception. The key outcomes are judgment accuracy, misclassification rate, and the proportion of each text type judged as AI-generated. For example, if many human-AI hybrid texts are judged as AI-generated, this may suggest that readers associate polished writing with AI authorship.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2 is the linguistic cue rating task. After the authorship judgment, participants rate each passage on a one-to-five Likert scale. The dimensions include fluency, structural regularity, clarity, emotional expression, personal voice, genericness, and naturalness. This task breaks down the vague feeling of “AI-like writing” into measurable psycholinguistic cues. Later, I can examine which cue ratings are most strongly related to AI-likelihood judgments. For example, if texts with high structure and high genericness but low personal voice are more likely to be judged as AI-generated, these features may function as cues for AI-authorship perception.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3 is the L2 text memory task. Participants read English passages and then complete a short distractor task, such as deciding whether a number is odd or even. This prevents them from simply repeating the text from short-term memory. Then they complete two memory tasks. The first is sentence recognition: they decide whether a sentence appeared in the passage. The second is word-order reconstruction: they see scrambled words from one sentence and try to reconstruct the correct sentence. The dependent variables are recognition accuracy, reconstruction accuracy, and reaction time. This moves the project beyond detection and into L2 reading, sentence processing, and working memory.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 will briefly show the web demo for about sixty to ninety seconds. The demo includes a background survey, a reading page with a timer, the authorship judgment and cue rating questions, a short distractor task, and the L2 memory task. The purpose of the demo is to show that the proposal can be implemented as a real online experiment. It can collect judgment data, rating data, reading time, memory accuracy, and reaction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expect three main patterns. First, texts that are highly fluent, structurally regular, generic, and emotionally neutral may be more likely to be judged as AI-generated. Second, AI-likeness may correlate positively with structure and genericness, and negatively with personal voice or emotional expression. Third, in the L2 memory task, AI texts may be processed smoothly because of regular structure, but they may not necessarily be remembered better. Human-written texts may sometimes support deeper memory encoding because they contain more distinctive or emotionally meaningful details. The basic analysis will compare AI-likelihood ratings by text type, correlate cue ratings with authorship judgments, and compare memory accuracy by text type.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meets the third showcase option because it is an original research proposal based on psycholinguistics. The literature motivates the gap, and the web demo shows how it could be implemented. The project reframes AI writing as a psycholinguistic question. Instead of simply asking whether people can detect AI writing, it asks what linguistic cues readers use to infer authorship and how different text types affect L2 memory. The final logic is: linguistic cues influence authorship perception, and text type may also influence L2 reading and memory performance. Thank you.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pic>
        <p:nvPicPr>
          <p:cNvPr id="4" name="Image 0" descr="/mnt/data/wide_editorial_illustration_conceptual_graphic.png"/>
          <p:cNvPicPr>
            <a:picLocks noChangeAspect="1"/>
          </p:cNvPicPr>
          <p:nvPr/>
        </p:nvPicPr>
        <p:blipFill>
          <a:blip r:embed="rId3"/>
          <a:srcRect l="25484" r="25484"/>
          <a:stretch/>
        </p:blipFill>
        <p:spPr>
          <a:xfrm>
            <a:off x="6492240" y="411480"/>
            <a:ext cx="5257800" cy="6035040"/>
          </a:xfrm>
          <a:prstGeom prst="rect">
            <a:avLst/>
          </a:prstGeom>
        </p:spPr>
      </p:pic>
      <p:sp>
        <p:nvSpPr>
          <p:cNvPr id="5" name="Text 2"/>
          <p:cNvSpPr/>
          <p:nvPr/>
        </p:nvSpPr>
        <p:spPr>
          <a:xfrm>
            <a:off x="640080" y="822960"/>
            <a:ext cx="5577840" cy="1645920"/>
          </a:xfrm>
          <a:prstGeom prst="rect">
            <a:avLst/>
          </a:prstGeom>
          <a:noFill/>
          <a:ln/>
        </p:spPr>
        <p:txBody>
          <a:bodyPr wrap="square" lIns="0" tIns="0" rIns="0" bIns="0" rtlCol="0" anchor="ctr">
            <a:normAutofit/>
          </a:bodyPr>
          <a:lstStyle/>
          <a:p>
            <a:pPr marL="0" indent="0">
              <a:buNone/>
            </a:pPr>
            <a:r>
              <a:rPr lang="en-US" sz="3400" b="1" dirty="0">
                <a:solidFill>
                  <a:srgbClr val="16324F"/>
                </a:solidFill>
                <a:latin typeface="Aptos Display" pitchFamily="34" charset="0"/>
                <a:ea typeface="Aptos Display" pitchFamily="34" charset="-122"/>
                <a:cs typeface="Aptos Display" pitchFamily="34" charset="-120"/>
              </a:rPr>
              <a:t>Psycholinguistic Cues</a:t>
            </a:r>
            <a:endParaRPr lang="en-US" sz="3400" dirty="0"/>
          </a:p>
          <a:p>
            <a:pPr marL="0" indent="0">
              <a:buNone/>
            </a:pPr>
            <a:r>
              <a:rPr lang="en-US" sz="3400" b="1" dirty="0">
                <a:solidFill>
                  <a:srgbClr val="16324F"/>
                </a:solidFill>
                <a:latin typeface="Aptos Display" pitchFamily="34" charset="0"/>
                <a:ea typeface="Aptos Display" pitchFamily="34" charset="-122"/>
                <a:cs typeface="Aptos Display" pitchFamily="34" charset="-120"/>
              </a:rPr>
              <a:t>in AI-Authorship Perception</a:t>
            </a:r>
            <a:endParaRPr lang="en-US" sz="3400" dirty="0"/>
          </a:p>
          <a:p>
            <a:pPr marL="0" indent="0">
              <a:buNone/>
            </a:pPr>
            <a:r>
              <a:rPr lang="en-US" sz="3400" b="1" dirty="0">
                <a:solidFill>
                  <a:srgbClr val="16324F"/>
                </a:solidFill>
                <a:latin typeface="Aptos Display" pitchFamily="34" charset="0"/>
                <a:ea typeface="Aptos Display" pitchFamily="34" charset="-122"/>
                <a:cs typeface="Aptos Display" pitchFamily="34" charset="-120"/>
              </a:rPr>
              <a:t>and L2 Text Memory</a:t>
            </a:r>
            <a:endParaRPr lang="en-US" sz="3400" dirty="0"/>
          </a:p>
        </p:txBody>
      </p:sp>
      <p:sp>
        <p:nvSpPr>
          <p:cNvPr id="6" name="Text 3"/>
          <p:cNvSpPr/>
          <p:nvPr/>
        </p:nvSpPr>
        <p:spPr>
          <a:xfrm>
            <a:off x="658368" y="2788920"/>
            <a:ext cx="5120640" cy="320040"/>
          </a:xfrm>
          <a:prstGeom prst="rect">
            <a:avLst/>
          </a:prstGeom>
          <a:noFill/>
          <a:ln/>
        </p:spPr>
        <p:txBody>
          <a:bodyPr wrap="square" lIns="0" tIns="0" rIns="0" bIns="0" rtlCol="0" anchor="ctr"/>
          <a:lstStyle/>
          <a:p>
            <a:pPr marL="0" indent="0">
              <a:buNone/>
            </a:pPr>
            <a:r>
              <a:rPr lang="en-US" sz="1700" dirty="0">
                <a:solidFill>
                  <a:srgbClr val="52616B"/>
                </a:solidFill>
              </a:rPr>
              <a:t>Original research proposal based on psychology of language</a:t>
            </a:r>
            <a:endParaRPr lang="en-US" sz="1700" dirty="0"/>
          </a:p>
        </p:txBody>
      </p:sp>
      <p:sp>
        <p:nvSpPr>
          <p:cNvPr id="7" name="Shape 4"/>
          <p:cNvSpPr/>
          <p:nvPr/>
        </p:nvSpPr>
        <p:spPr>
          <a:xfrm>
            <a:off x="658368" y="3383280"/>
            <a:ext cx="2880360" cy="347472"/>
          </a:xfrm>
          <a:prstGeom prst="roundRect">
            <a:avLst>
              <a:gd name="adj" fmla="val 18421"/>
            </a:avLst>
          </a:prstGeom>
          <a:solidFill>
            <a:srgbClr val="127C56">
              <a:alpha val="93000"/>
            </a:srgbClr>
          </a:solidFill>
          <a:ln w="12700">
            <a:solidFill>
              <a:srgbClr val="127C56">
                <a:alpha val="0"/>
              </a:srgbClr>
            </a:solidFill>
            <a:prstDash val="solid"/>
          </a:ln>
        </p:spPr>
      </p:sp>
      <p:sp>
        <p:nvSpPr>
          <p:cNvPr id="8" name="Text 5"/>
          <p:cNvSpPr/>
          <p:nvPr/>
        </p:nvSpPr>
        <p:spPr>
          <a:xfrm>
            <a:off x="749808" y="3456432"/>
            <a:ext cx="2697480" cy="146304"/>
          </a:xfrm>
          <a:prstGeom prst="rect">
            <a:avLst/>
          </a:prstGeom>
          <a:noFill/>
          <a:ln/>
        </p:spPr>
        <p:txBody>
          <a:bodyPr wrap="square" lIns="0" tIns="0" rIns="0" bIns="0" rtlCol="0" anchor="ctr"/>
          <a:lstStyle/>
          <a:p>
            <a:pPr marL="0" indent="0" algn="ctr">
              <a:buNone/>
            </a:pPr>
            <a:r>
              <a:rPr lang="en-US" sz="1350" b="1" dirty="0">
                <a:solidFill>
                  <a:srgbClr val="FFFFFF"/>
                </a:solidFill>
              </a:rPr>
              <a:t>Option 3: Original Research Idea</a:t>
            </a:r>
            <a:endParaRPr lang="en-US" sz="1350" dirty="0"/>
          </a:p>
        </p:txBody>
      </p:sp>
      <p:sp>
        <p:nvSpPr>
          <p:cNvPr id="9" name="Text 6"/>
          <p:cNvSpPr/>
          <p:nvPr/>
        </p:nvSpPr>
        <p:spPr>
          <a:xfrm>
            <a:off x="658368" y="3977640"/>
            <a:ext cx="5074920" cy="1097280"/>
          </a:xfrm>
          <a:prstGeom prst="rect">
            <a:avLst/>
          </a:prstGeom>
          <a:noFill/>
          <a:ln/>
        </p:spPr>
        <p:txBody>
          <a:bodyPr wrap="square" lIns="0" tIns="0" rIns="0" bIns="0" rtlCol="0" anchor="ctr">
            <a:normAutofit/>
          </a:bodyPr>
          <a:lstStyle/>
          <a:p>
            <a:pPr marL="0" indent="0">
              <a:buNone/>
            </a:pPr>
            <a:r>
              <a:rPr lang="en-US" sz="2200" dirty="0">
                <a:solidFill>
                  <a:srgbClr val="17202A"/>
                </a:solidFill>
              </a:rPr>
              <a:t>Key focus: how bilingual readers use linguistic style to infer authorship and encode English texts in memory.</a:t>
            </a:r>
            <a:endParaRPr lang="en-US" sz="2200" dirty="0"/>
          </a:p>
        </p:txBody>
      </p:sp>
      <p:sp>
        <p:nvSpPr>
          <p:cNvPr id="10" name="Text 7"/>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4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4FF"/>
          </a:solidFill>
          <a:ln w="12700">
            <a:solidFill>
              <a:srgbClr val="EAF4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Presentation Route</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Meeting the showcase requirement clearly</a:t>
            </a:r>
            <a:endParaRPr lang="en-US" sz="1450" dirty="0"/>
          </a:p>
        </p:txBody>
      </p:sp>
      <p:sp>
        <p:nvSpPr>
          <p:cNvPr id="6" name="Text 4"/>
          <p:cNvSpPr/>
          <p:nvPr/>
        </p:nvSpPr>
        <p:spPr>
          <a:xfrm>
            <a:off x="685800" y="1417320"/>
            <a:ext cx="10789920" cy="365760"/>
          </a:xfrm>
          <a:prstGeom prst="rect">
            <a:avLst/>
          </a:prstGeom>
          <a:noFill/>
          <a:ln/>
        </p:spPr>
        <p:txBody>
          <a:bodyPr wrap="square" lIns="0" tIns="0" rIns="0" bIns="0" rtlCol="0" anchor="ctr"/>
          <a:lstStyle/>
          <a:p>
            <a:pPr marL="0" indent="0">
              <a:buNone/>
            </a:pPr>
            <a:r>
              <a:rPr lang="en-US" sz="2400" b="1" dirty="0">
                <a:solidFill>
                  <a:srgbClr val="16324F"/>
                </a:solidFill>
              </a:rPr>
              <a:t>I am choosing Option 3: an original research proposal.</a:t>
            </a:r>
            <a:endParaRPr lang="en-US" sz="2400" dirty="0"/>
          </a:p>
        </p:txBody>
      </p:sp>
      <p:sp>
        <p:nvSpPr>
          <p:cNvPr id="7" name="Text 5"/>
          <p:cNvSpPr/>
          <p:nvPr/>
        </p:nvSpPr>
        <p:spPr>
          <a:xfrm>
            <a:off x="868680" y="2148840"/>
            <a:ext cx="2377440" cy="685800"/>
          </a:xfrm>
          <a:prstGeom prst="rect">
            <a:avLst/>
          </a:prstGeom>
          <a:noFill/>
          <a:ln/>
        </p:spPr>
        <p:txBody>
          <a:bodyPr wrap="square" lIns="0" tIns="0" rIns="0" bIns="0" rtlCol="0" anchor="ctr"/>
          <a:lstStyle/>
          <a:p>
            <a:pPr marL="0" indent="0" algn="ctr">
              <a:buNone/>
            </a:pPr>
            <a:r>
              <a:rPr lang="en-US" sz="3800" b="1" dirty="0">
                <a:solidFill>
                  <a:srgbClr val="2B6CB0"/>
                </a:solidFill>
                <a:latin typeface="Aptos Display" pitchFamily="34" charset="0"/>
                <a:ea typeface="Aptos Display" pitchFamily="34" charset="-122"/>
                <a:cs typeface="Aptos Display" pitchFamily="34" charset="-120"/>
              </a:rPr>
              <a:t>1</a:t>
            </a:r>
            <a:endParaRPr lang="en-US" sz="3800" dirty="0"/>
          </a:p>
        </p:txBody>
      </p:sp>
      <p:sp>
        <p:nvSpPr>
          <p:cNvPr id="8" name="Text 6"/>
          <p:cNvSpPr/>
          <p:nvPr/>
        </p:nvSpPr>
        <p:spPr>
          <a:xfrm>
            <a:off x="868680" y="2862072"/>
            <a:ext cx="2377440" cy="548640"/>
          </a:xfrm>
          <a:prstGeom prst="rect">
            <a:avLst/>
          </a:prstGeom>
          <a:noFill/>
          <a:ln/>
        </p:spPr>
        <p:txBody>
          <a:bodyPr wrap="square" lIns="0" tIns="0" rIns="0" bIns="0" rtlCol="0" anchor="ctr">
            <a:normAutofit/>
          </a:bodyPr>
          <a:lstStyle/>
          <a:p>
            <a:pPr marL="0" indent="0" algn="ctr">
              <a:buNone/>
            </a:pPr>
            <a:r>
              <a:rPr lang="en-US" sz="1500" dirty="0">
                <a:solidFill>
                  <a:srgbClr val="17202A"/>
                </a:solidFill>
              </a:rPr>
              <a:t>Course-based idea</a:t>
            </a:r>
            <a:endParaRPr lang="en-US" sz="1500" dirty="0"/>
          </a:p>
          <a:p>
            <a:pPr marL="0" indent="0" algn="ctr">
              <a:buNone/>
            </a:pPr>
            <a:r>
              <a:rPr lang="en-US" sz="1500" dirty="0">
                <a:solidFill>
                  <a:srgbClr val="17202A"/>
                </a:solidFill>
              </a:rPr>
              <a:t>psycholinguistics + AI writing</a:t>
            </a:r>
            <a:endParaRPr lang="en-US" sz="1500" dirty="0"/>
          </a:p>
        </p:txBody>
      </p:sp>
      <p:sp>
        <p:nvSpPr>
          <p:cNvPr id="9" name="Text 7"/>
          <p:cNvSpPr/>
          <p:nvPr/>
        </p:nvSpPr>
        <p:spPr>
          <a:xfrm>
            <a:off x="3657600" y="2148840"/>
            <a:ext cx="2377440" cy="685800"/>
          </a:xfrm>
          <a:prstGeom prst="rect">
            <a:avLst/>
          </a:prstGeom>
          <a:noFill/>
          <a:ln/>
        </p:spPr>
        <p:txBody>
          <a:bodyPr wrap="square" lIns="0" tIns="0" rIns="0" bIns="0" rtlCol="0" anchor="ctr"/>
          <a:lstStyle/>
          <a:p>
            <a:pPr marL="0" indent="0" algn="ctr">
              <a:buNone/>
            </a:pPr>
            <a:r>
              <a:rPr lang="en-US" sz="3800" b="1" dirty="0">
                <a:solidFill>
                  <a:srgbClr val="127C56"/>
                </a:solidFill>
                <a:latin typeface="Aptos Display" pitchFamily="34" charset="0"/>
                <a:ea typeface="Aptos Display" pitchFamily="34" charset="-122"/>
                <a:cs typeface="Aptos Display" pitchFamily="34" charset="-120"/>
              </a:rPr>
              <a:t>2</a:t>
            </a:r>
            <a:endParaRPr lang="en-US" sz="3800" dirty="0"/>
          </a:p>
        </p:txBody>
      </p:sp>
      <p:sp>
        <p:nvSpPr>
          <p:cNvPr id="10" name="Text 8"/>
          <p:cNvSpPr/>
          <p:nvPr/>
        </p:nvSpPr>
        <p:spPr>
          <a:xfrm>
            <a:off x="3657600" y="2862072"/>
            <a:ext cx="2377440" cy="548640"/>
          </a:xfrm>
          <a:prstGeom prst="rect">
            <a:avLst/>
          </a:prstGeom>
          <a:noFill/>
          <a:ln/>
        </p:spPr>
        <p:txBody>
          <a:bodyPr wrap="square" lIns="0" tIns="0" rIns="0" bIns="0" rtlCol="0" anchor="ctr">
            <a:normAutofit/>
          </a:bodyPr>
          <a:lstStyle/>
          <a:p>
            <a:pPr marL="0" indent="0" algn="ctr">
              <a:buNone/>
            </a:pPr>
            <a:r>
              <a:rPr lang="en-US" sz="1500" dirty="0">
                <a:solidFill>
                  <a:srgbClr val="17202A"/>
                </a:solidFill>
              </a:rPr>
              <a:t>Literature gap</a:t>
            </a:r>
            <a:endParaRPr lang="en-US" sz="1500" dirty="0"/>
          </a:p>
          <a:p>
            <a:pPr marL="0" indent="0" algn="ctr">
              <a:buNone/>
            </a:pPr>
            <a:r>
              <a:rPr lang="en-US" sz="1500" dirty="0">
                <a:solidFill>
                  <a:srgbClr val="17202A"/>
                </a:solidFill>
              </a:rPr>
              <a:t>what cues guide judgment?</a:t>
            </a:r>
            <a:endParaRPr lang="en-US" sz="1500" dirty="0"/>
          </a:p>
        </p:txBody>
      </p:sp>
      <p:sp>
        <p:nvSpPr>
          <p:cNvPr id="11" name="Text 9"/>
          <p:cNvSpPr/>
          <p:nvPr/>
        </p:nvSpPr>
        <p:spPr>
          <a:xfrm>
            <a:off x="6446520" y="2148840"/>
            <a:ext cx="2377440" cy="685800"/>
          </a:xfrm>
          <a:prstGeom prst="rect">
            <a:avLst/>
          </a:prstGeom>
          <a:noFill/>
          <a:ln/>
        </p:spPr>
        <p:txBody>
          <a:bodyPr wrap="square" lIns="0" tIns="0" rIns="0" bIns="0" rtlCol="0" anchor="ctr"/>
          <a:lstStyle/>
          <a:p>
            <a:pPr marL="0" indent="0" algn="ctr">
              <a:buNone/>
            </a:pPr>
            <a:r>
              <a:rPr lang="en-US" sz="3800" b="1" dirty="0">
                <a:solidFill>
                  <a:srgbClr val="B7791F"/>
                </a:solidFill>
                <a:latin typeface="Aptos Display" pitchFamily="34" charset="0"/>
                <a:ea typeface="Aptos Display" pitchFamily="34" charset="-122"/>
                <a:cs typeface="Aptos Display" pitchFamily="34" charset="-120"/>
              </a:rPr>
              <a:t>3</a:t>
            </a:r>
            <a:endParaRPr lang="en-US" sz="3800" dirty="0"/>
          </a:p>
        </p:txBody>
      </p:sp>
      <p:sp>
        <p:nvSpPr>
          <p:cNvPr id="12" name="Text 10"/>
          <p:cNvSpPr/>
          <p:nvPr/>
        </p:nvSpPr>
        <p:spPr>
          <a:xfrm>
            <a:off x="6446520" y="2862072"/>
            <a:ext cx="2377440" cy="548640"/>
          </a:xfrm>
          <a:prstGeom prst="rect">
            <a:avLst/>
          </a:prstGeom>
          <a:noFill/>
          <a:ln/>
        </p:spPr>
        <p:txBody>
          <a:bodyPr wrap="square" lIns="0" tIns="0" rIns="0" bIns="0" rtlCol="0" anchor="ctr">
            <a:normAutofit fontScale="92500"/>
          </a:bodyPr>
          <a:lstStyle/>
          <a:p>
            <a:pPr marL="0" indent="0" algn="ctr">
              <a:buNone/>
            </a:pPr>
            <a:r>
              <a:rPr lang="en-US" sz="1500" dirty="0">
                <a:solidFill>
                  <a:srgbClr val="17202A"/>
                </a:solidFill>
              </a:rPr>
              <a:t>Three tasks</a:t>
            </a:r>
            <a:endParaRPr lang="en-US" sz="1500" dirty="0"/>
          </a:p>
          <a:p>
            <a:pPr marL="0" indent="0" algn="ctr">
              <a:buNone/>
            </a:pPr>
            <a:r>
              <a:rPr lang="en-US" sz="1500" dirty="0">
                <a:solidFill>
                  <a:srgbClr val="17202A"/>
                </a:solidFill>
              </a:rPr>
              <a:t>judgment → cues → L2 memory</a:t>
            </a:r>
            <a:endParaRPr lang="en-US" sz="1500" dirty="0"/>
          </a:p>
        </p:txBody>
      </p:sp>
      <p:sp>
        <p:nvSpPr>
          <p:cNvPr id="13" name="Text 11"/>
          <p:cNvSpPr/>
          <p:nvPr/>
        </p:nvSpPr>
        <p:spPr>
          <a:xfrm>
            <a:off x="9235440" y="2148840"/>
            <a:ext cx="2377440" cy="685800"/>
          </a:xfrm>
          <a:prstGeom prst="rect">
            <a:avLst/>
          </a:prstGeom>
          <a:noFill/>
          <a:ln/>
        </p:spPr>
        <p:txBody>
          <a:bodyPr wrap="square" lIns="0" tIns="0" rIns="0" bIns="0" rtlCol="0" anchor="ctr"/>
          <a:lstStyle/>
          <a:p>
            <a:pPr marL="0" indent="0" algn="ctr">
              <a:buNone/>
            </a:pPr>
            <a:r>
              <a:rPr lang="en-US" sz="3800" b="1" dirty="0">
                <a:solidFill>
                  <a:srgbClr val="2B6CB0"/>
                </a:solidFill>
                <a:latin typeface="Aptos Display" pitchFamily="34" charset="0"/>
                <a:ea typeface="Aptos Display" pitchFamily="34" charset="-122"/>
                <a:cs typeface="Aptos Display" pitchFamily="34" charset="-120"/>
              </a:rPr>
              <a:t>4</a:t>
            </a:r>
            <a:endParaRPr lang="en-US" sz="3800" dirty="0"/>
          </a:p>
        </p:txBody>
      </p:sp>
      <p:sp>
        <p:nvSpPr>
          <p:cNvPr id="14" name="Text 12"/>
          <p:cNvSpPr/>
          <p:nvPr/>
        </p:nvSpPr>
        <p:spPr>
          <a:xfrm>
            <a:off x="9235440" y="2862072"/>
            <a:ext cx="2377440" cy="548640"/>
          </a:xfrm>
          <a:prstGeom prst="rect">
            <a:avLst/>
          </a:prstGeom>
          <a:noFill/>
          <a:ln/>
        </p:spPr>
        <p:txBody>
          <a:bodyPr wrap="square" lIns="0" tIns="0" rIns="0" bIns="0" rtlCol="0" anchor="ctr">
            <a:normAutofit/>
          </a:bodyPr>
          <a:lstStyle/>
          <a:p>
            <a:pPr marL="0" indent="0" algn="ctr">
              <a:buNone/>
            </a:pPr>
            <a:r>
              <a:rPr lang="en-US" sz="1500" dirty="0">
                <a:solidFill>
                  <a:srgbClr val="17202A"/>
                </a:solidFill>
              </a:rPr>
              <a:t>Implementation</a:t>
            </a:r>
            <a:endParaRPr lang="en-US" sz="1500" dirty="0"/>
          </a:p>
          <a:p>
            <a:pPr marL="0" indent="0" algn="ctr">
              <a:buNone/>
            </a:pPr>
            <a:r>
              <a:rPr lang="en-US" sz="1500" dirty="0">
                <a:solidFill>
                  <a:srgbClr val="17202A"/>
                </a:solidFill>
              </a:rPr>
              <a:t>web demo + small dataset</a:t>
            </a:r>
            <a:endParaRPr lang="en-US" sz="1500" dirty="0"/>
          </a:p>
        </p:txBody>
      </p:sp>
      <p:sp>
        <p:nvSpPr>
          <p:cNvPr id="15" name="Text 13"/>
          <p:cNvSpPr/>
          <p:nvPr/>
        </p:nvSpPr>
        <p:spPr>
          <a:xfrm>
            <a:off x="1143000" y="4754880"/>
            <a:ext cx="9875520" cy="731520"/>
          </a:xfrm>
          <a:prstGeom prst="rect">
            <a:avLst/>
          </a:prstGeom>
          <a:noFill/>
          <a:ln/>
        </p:spPr>
        <p:txBody>
          <a:bodyPr wrap="square" lIns="0" tIns="0" rIns="0" bIns="0" rtlCol="0" anchor="ctr">
            <a:normAutofit/>
          </a:bodyPr>
          <a:lstStyle/>
          <a:p>
            <a:pPr marL="0" indent="0" algn="ctr">
              <a:buNone/>
            </a:pPr>
            <a:r>
              <a:rPr lang="en-US" sz="2000" dirty="0">
                <a:solidFill>
                  <a:srgbClr val="17202A"/>
                </a:solidFill>
              </a:rPr>
              <a:t>The presentation is not a critical literature comparison. The literature is used to motivate a new research design.</a:t>
            </a:r>
            <a:endParaRPr lang="en-US" sz="2000" dirty="0"/>
          </a:p>
        </p:txBody>
      </p:sp>
      <p:sp>
        <p:nvSpPr>
          <p:cNvPr id="16" name="Text 14"/>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Why This Topic Matters</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From AI detection to authorship perception</a:t>
            </a:r>
            <a:endParaRPr lang="en-US" sz="1450" dirty="0"/>
          </a:p>
        </p:txBody>
      </p:sp>
      <p:pic>
        <p:nvPicPr>
          <p:cNvPr id="6" name="Image 0" descr="/mnt/data/a_wide_clean_digital_illustration_concept_art_s.png"/>
          <p:cNvPicPr>
            <a:picLocks noChangeAspect="1"/>
          </p:cNvPicPr>
          <p:nvPr/>
        </p:nvPicPr>
        <p:blipFill>
          <a:blip r:embed="rId3"/>
          <a:srcRect l="19586" r="19586"/>
          <a:stretch/>
        </p:blipFill>
        <p:spPr>
          <a:xfrm>
            <a:off x="6720840" y="1234440"/>
            <a:ext cx="4892040" cy="4526280"/>
          </a:xfrm>
          <a:prstGeom prst="rect">
            <a:avLst/>
          </a:prstGeom>
        </p:spPr>
      </p:pic>
      <p:sp>
        <p:nvSpPr>
          <p:cNvPr id="7" name="Text 4"/>
          <p:cNvSpPr/>
          <p:nvPr/>
        </p:nvSpPr>
        <p:spPr>
          <a:xfrm>
            <a:off x="685800" y="1417320"/>
            <a:ext cx="5440680" cy="411480"/>
          </a:xfrm>
          <a:prstGeom prst="rect">
            <a:avLst/>
          </a:prstGeom>
          <a:noFill/>
          <a:ln/>
        </p:spPr>
        <p:txBody>
          <a:bodyPr wrap="square" lIns="0" tIns="0" rIns="0" bIns="0" rtlCol="0" anchor="ctr"/>
          <a:lstStyle/>
          <a:p>
            <a:pPr marL="0" indent="0">
              <a:buNone/>
            </a:pPr>
            <a:r>
              <a:rPr lang="en-US" sz="2500" b="1" dirty="0">
                <a:solidFill>
                  <a:srgbClr val="16324F"/>
                </a:solidFill>
              </a:rPr>
              <a:t>People often say a text “sounds like AI.”</a:t>
            </a:r>
            <a:endParaRPr lang="en-US" sz="2500" dirty="0"/>
          </a:p>
        </p:txBody>
      </p:sp>
      <p:sp>
        <p:nvSpPr>
          <p:cNvPr id="8" name="Text 5"/>
          <p:cNvSpPr/>
          <p:nvPr/>
        </p:nvSpPr>
        <p:spPr>
          <a:xfrm>
            <a:off x="777240" y="2075688"/>
            <a:ext cx="182880" cy="228600"/>
          </a:xfrm>
          <a:prstGeom prst="rect">
            <a:avLst/>
          </a:prstGeom>
          <a:noFill/>
          <a:ln/>
        </p:spPr>
        <p:txBody>
          <a:bodyPr wrap="square" lIns="0" tIns="0" rIns="0" bIns="0" rtlCol="0" anchor="ctr"/>
          <a:lstStyle/>
          <a:p>
            <a:pPr marL="0" indent="0">
              <a:buNone/>
            </a:pPr>
            <a:r>
              <a:rPr lang="en-US" sz="1800" b="1" dirty="0">
                <a:solidFill>
                  <a:srgbClr val="2B6CB0"/>
                </a:solidFill>
              </a:rPr>
              <a:t>•</a:t>
            </a:r>
            <a:endParaRPr lang="en-US" sz="1800" dirty="0"/>
          </a:p>
        </p:txBody>
      </p:sp>
      <p:sp>
        <p:nvSpPr>
          <p:cNvPr id="9" name="Text 6"/>
          <p:cNvSpPr/>
          <p:nvPr/>
        </p:nvSpPr>
        <p:spPr>
          <a:xfrm>
            <a:off x="1051560" y="2057400"/>
            <a:ext cx="5029200" cy="320040"/>
          </a:xfrm>
          <a:prstGeom prst="rect">
            <a:avLst/>
          </a:prstGeom>
          <a:noFill/>
          <a:ln/>
        </p:spPr>
        <p:txBody>
          <a:bodyPr wrap="square" lIns="254" tIns="254" rIns="254" bIns="254" rtlCol="0" anchor="ctr">
            <a:normAutofit/>
          </a:bodyPr>
          <a:lstStyle/>
          <a:p>
            <a:pPr marL="0" indent="0">
              <a:buNone/>
            </a:pPr>
            <a:r>
              <a:rPr lang="en-US" sz="1800" dirty="0">
                <a:solidFill>
                  <a:srgbClr val="17202A"/>
                </a:solidFill>
              </a:rPr>
              <a:t>That judgment may not reflect actual authorship.</a:t>
            </a:r>
            <a:endParaRPr lang="en-US" sz="1800" dirty="0"/>
          </a:p>
        </p:txBody>
      </p:sp>
      <p:sp>
        <p:nvSpPr>
          <p:cNvPr id="10" name="Text 7"/>
          <p:cNvSpPr/>
          <p:nvPr/>
        </p:nvSpPr>
        <p:spPr>
          <a:xfrm>
            <a:off x="777240" y="2688336"/>
            <a:ext cx="182880" cy="228600"/>
          </a:xfrm>
          <a:prstGeom prst="rect">
            <a:avLst/>
          </a:prstGeom>
          <a:noFill/>
          <a:ln/>
        </p:spPr>
        <p:txBody>
          <a:bodyPr wrap="square" lIns="0" tIns="0" rIns="0" bIns="0" rtlCol="0" anchor="ctr"/>
          <a:lstStyle/>
          <a:p>
            <a:pPr marL="0" indent="0">
              <a:buNone/>
            </a:pPr>
            <a:r>
              <a:rPr lang="en-US" sz="1800" b="1" dirty="0">
                <a:solidFill>
                  <a:srgbClr val="2B6CB0"/>
                </a:solidFill>
              </a:rPr>
              <a:t>•</a:t>
            </a:r>
            <a:endParaRPr lang="en-US" sz="1800" dirty="0"/>
          </a:p>
        </p:txBody>
      </p:sp>
      <p:sp>
        <p:nvSpPr>
          <p:cNvPr id="11" name="Text 8"/>
          <p:cNvSpPr/>
          <p:nvPr/>
        </p:nvSpPr>
        <p:spPr>
          <a:xfrm>
            <a:off x="1051560" y="2670048"/>
            <a:ext cx="5029200" cy="320040"/>
          </a:xfrm>
          <a:prstGeom prst="rect">
            <a:avLst/>
          </a:prstGeom>
          <a:noFill/>
          <a:ln/>
        </p:spPr>
        <p:txBody>
          <a:bodyPr wrap="square" lIns="254" tIns="254" rIns="254" bIns="254" rtlCol="0" anchor="ctr">
            <a:normAutofit fontScale="62500" lnSpcReduction="20000"/>
          </a:bodyPr>
          <a:lstStyle/>
          <a:p>
            <a:pPr marL="0" indent="0">
              <a:buNone/>
            </a:pPr>
            <a:r>
              <a:rPr lang="en-US" sz="1800" dirty="0">
                <a:solidFill>
                  <a:srgbClr val="17202A"/>
                </a:solidFill>
              </a:rPr>
              <a:t>Readers may rely on surface cues: fluency, regular structure, generic tone, weak personal voice.</a:t>
            </a:r>
            <a:endParaRPr lang="en-US" sz="1800" dirty="0"/>
          </a:p>
        </p:txBody>
      </p:sp>
      <p:sp>
        <p:nvSpPr>
          <p:cNvPr id="12" name="Text 9"/>
          <p:cNvSpPr/>
          <p:nvPr/>
        </p:nvSpPr>
        <p:spPr>
          <a:xfrm>
            <a:off x="777240" y="3300984"/>
            <a:ext cx="182880" cy="228600"/>
          </a:xfrm>
          <a:prstGeom prst="rect">
            <a:avLst/>
          </a:prstGeom>
          <a:noFill/>
          <a:ln/>
        </p:spPr>
        <p:txBody>
          <a:bodyPr wrap="square" lIns="0" tIns="0" rIns="0" bIns="0" rtlCol="0" anchor="ctr"/>
          <a:lstStyle/>
          <a:p>
            <a:pPr marL="0" indent="0">
              <a:buNone/>
            </a:pPr>
            <a:r>
              <a:rPr lang="en-US" sz="1800" b="1" dirty="0">
                <a:solidFill>
                  <a:srgbClr val="2B6CB0"/>
                </a:solidFill>
              </a:rPr>
              <a:t>•</a:t>
            </a:r>
            <a:endParaRPr lang="en-US" sz="1800" dirty="0"/>
          </a:p>
        </p:txBody>
      </p:sp>
      <p:sp>
        <p:nvSpPr>
          <p:cNvPr id="13" name="Text 10"/>
          <p:cNvSpPr/>
          <p:nvPr/>
        </p:nvSpPr>
        <p:spPr>
          <a:xfrm>
            <a:off x="1051560" y="3282696"/>
            <a:ext cx="5029200" cy="320040"/>
          </a:xfrm>
          <a:prstGeom prst="rect">
            <a:avLst/>
          </a:prstGeom>
          <a:noFill/>
          <a:ln/>
        </p:spPr>
        <p:txBody>
          <a:bodyPr wrap="square" lIns="254" tIns="254" rIns="254" bIns="254" rtlCol="0" anchor="ctr">
            <a:normAutofit fontScale="62500" lnSpcReduction="20000"/>
          </a:bodyPr>
          <a:lstStyle/>
          <a:p>
            <a:pPr marL="0" indent="0">
              <a:buNone/>
            </a:pPr>
            <a:r>
              <a:rPr lang="en-US" sz="1800" dirty="0">
                <a:solidFill>
                  <a:srgbClr val="17202A"/>
                </a:solidFill>
              </a:rPr>
              <a:t>This turns AI writing into a psycholinguistic problem: language perception + pragmatic inference.</a:t>
            </a:r>
            <a:endParaRPr lang="en-US" sz="1800" dirty="0"/>
          </a:p>
        </p:txBody>
      </p:sp>
      <p:sp>
        <p:nvSpPr>
          <p:cNvPr id="14" name="Text 11"/>
          <p:cNvSpPr/>
          <p:nvPr/>
        </p:nvSpPr>
        <p:spPr>
          <a:xfrm>
            <a:off x="777240" y="4892040"/>
            <a:ext cx="5349240" cy="685800"/>
          </a:xfrm>
          <a:prstGeom prst="rect">
            <a:avLst/>
          </a:prstGeom>
          <a:noFill/>
          <a:ln/>
        </p:spPr>
        <p:txBody>
          <a:bodyPr wrap="square" lIns="0" tIns="0" rIns="0" bIns="0" rtlCol="0" anchor="ctr">
            <a:normAutofit fontScale="92500"/>
          </a:bodyPr>
          <a:lstStyle/>
          <a:p>
            <a:pPr marL="0" indent="0">
              <a:buNone/>
            </a:pPr>
            <a:r>
              <a:rPr lang="en-US" sz="1900" b="1" dirty="0">
                <a:solidFill>
                  <a:srgbClr val="2B6CB0"/>
                </a:solidFill>
              </a:rPr>
              <a:t>Core shift: from “Can people detect AI?” to “What language cues make text feel AI-generated?”</a:t>
            </a:r>
            <a:endParaRPr lang="en-US" sz="1900" dirty="0"/>
          </a:p>
        </p:txBody>
      </p:sp>
      <p:sp>
        <p:nvSpPr>
          <p:cNvPr id="15" name="Text 12"/>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Literature Foundation</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What previous peer-reviewed research suggests</a:t>
            </a:r>
            <a:endParaRPr lang="en-US" sz="1450" dirty="0"/>
          </a:p>
        </p:txBody>
      </p:sp>
      <p:sp>
        <p:nvSpPr>
          <p:cNvPr id="6" name="Shape 4"/>
          <p:cNvSpPr/>
          <p:nvPr/>
        </p:nvSpPr>
        <p:spPr>
          <a:xfrm>
            <a:off x="594360" y="1325880"/>
            <a:ext cx="5394960" cy="1600200"/>
          </a:xfrm>
          <a:prstGeom prst="roundRect">
            <a:avLst>
              <a:gd name="adj" fmla="val 4571"/>
            </a:avLst>
          </a:prstGeom>
          <a:solidFill>
            <a:srgbClr val="FFFFFF">
              <a:alpha val="0"/>
            </a:srgbClr>
          </a:solidFill>
          <a:ln w="12700">
            <a:solidFill>
              <a:srgbClr val="CBD5E1">
                <a:alpha val="80000"/>
              </a:srgbClr>
            </a:solidFill>
            <a:prstDash val="solid"/>
          </a:ln>
        </p:spPr>
      </p:sp>
      <p:sp>
        <p:nvSpPr>
          <p:cNvPr id="7" name="Text 5"/>
          <p:cNvSpPr/>
          <p:nvPr/>
        </p:nvSpPr>
        <p:spPr>
          <a:xfrm>
            <a:off x="822960" y="1508760"/>
            <a:ext cx="4937760" cy="274320"/>
          </a:xfrm>
          <a:prstGeom prst="rect">
            <a:avLst/>
          </a:prstGeom>
          <a:noFill/>
          <a:ln/>
        </p:spPr>
        <p:txBody>
          <a:bodyPr wrap="square" lIns="0" tIns="0" rIns="0" bIns="0" rtlCol="0" anchor="ctr"/>
          <a:lstStyle/>
          <a:p>
            <a:pPr marL="0" indent="0">
              <a:buNone/>
            </a:pPr>
            <a:r>
              <a:rPr lang="en-US" sz="1700" b="1" dirty="0">
                <a:solidFill>
                  <a:srgbClr val="2B6CB0"/>
                </a:solidFill>
              </a:rPr>
              <a:t>Human judgment</a:t>
            </a:r>
            <a:endParaRPr lang="en-US" sz="1700" dirty="0"/>
          </a:p>
        </p:txBody>
      </p:sp>
      <p:sp>
        <p:nvSpPr>
          <p:cNvPr id="8" name="Text 6"/>
          <p:cNvSpPr/>
          <p:nvPr/>
        </p:nvSpPr>
        <p:spPr>
          <a:xfrm>
            <a:off x="822960" y="196596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9" name="Text 7"/>
          <p:cNvSpPr/>
          <p:nvPr/>
        </p:nvSpPr>
        <p:spPr>
          <a:xfrm>
            <a:off x="1097280" y="1947672"/>
            <a:ext cx="4663440" cy="320040"/>
          </a:xfrm>
          <a:prstGeom prst="rect">
            <a:avLst/>
          </a:prstGeom>
          <a:noFill/>
          <a:ln/>
        </p:spPr>
        <p:txBody>
          <a:bodyPr wrap="square" lIns="254" tIns="254" rIns="254" bIns="254" rtlCol="0" anchor="ctr">
            <a:normAutofit fontScale="85000" lnSpcReduction="20000"/>
          </a:bodyPr>
          <a:lstStyle/>
          <a:p>
            <a:pPr marL="0" indent="0">
              <a:buNone/>
            </a:pPr>
            <a:r>
              <a:rPr lang="en-US" sz="1450" dirty="0">
                <a:solidFill>
                  <a:srgbClr val="17202A"/>
                </a:solidFill>
              </a:rPr>
              <a:t>Chein et al. (2024): people can distinguish AI vs human content above chance, but performance varies by individual.</a:t>
            </a:r>
            <a:endParaRPr lang="en-US" sz="1450" dirty="0"/>
          </a:p>
        </p:txBody>
      </p:sp>
      <p:sp>
        <p:nvSpPr>
          <p:cNvPr id="10" name="Text 8"/>
          <p:cNvSpPr/>
          <p:nvPr/>
        </p:nvSpPr>
        <p:spPr>
          <a:xfrm>
            <a:off x="822960" y="23317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1" name="Text 9"/>
          <p:cNvSpPr/>
          <p:nvPr/>
        </p:nvSpPr>
        <p:spPr>
          <a:xfrm>
            <a:off x="1097280" y="2313432"/>
            <a:ext cx="466344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Implication: human judgment is real but unstable.</a:t>
            </a:r>
            <a:endParaRPr lang="en-US" sz="1450" dirty="0"/>
          </a:p>
        </p:txBody>
      </p:sp>
      <p:sp>
        <p:nvSpPr>
          <p:cNvPr id="12" name="Shape 10"/>
          <p:cNvSpPr/>
          <p:nvPr/>
        </p:nvSpPr>
        <p:spPr>
          <a:xfrm>
            <a:off x="6199632" y="1325880"/>
            <a:ext cx="5394960" cy="1600200"/>
          </a:xfrm>
          <a:prstGeom prst="roundRect">
            <a:avLst>
              <a:gd name="adj" fmla="val 4571"/>
            </a:avLst>
          </a:prstGeom>
          <a:solidFill>
            <a:srgbClr val="FFFFFF">
              <a:alpha val="0"/>
            </a:srgbClr>
          </a:solidFill>
          <a:ln w="12700">
            <a:solidFill>
              <a:srgbClr val="CBD5E1">
                <a:alpha val="80000"/>
              </a:srgbClr>
            </a:solidFill>
            <a:prstDash val="solid"/>
          </a:ln>
        </p:spPr>
      </p:sp>
      <p:sp>
        <p:nvSpPr>
          <p:cNvPr id="13" name="Text 11"/>
          <p:cNvSpPr/>
          <p:nvPr/>
        </p:nvSpPr>
        <p:spPr>
          <a:xfrm>
            <a:off x="6428232" y="1508760"/>
            <a:ext cx="4937760" cy="274320"/>
          </a:xfrm>
          <a:prstGeom prst="rect">
            <a:avLst/>
          </a:prstGeom>
          <a:noFill/>
          <a:ln/>
        </p:spPr>
        <p:txBody>
          <a:bodyPr wrap="square" lIns="0" tIns="0" rIns="0" bIns="0" rtlCol="0" anchor="ctr"/>
          <a:lstStyle/>
          <a:p>
            <a:pPr marL="0" indent="0">
              <a:buNone/>
            </a:pPr>
            <a:r>
              <a:rPr lang="en-US" sz="1700" b="1" dirty="0">
                <a:solidFill>
                  <a:srgbClr val="127C56"/>
                </a:solidFill>
              </a:rPr>
              <a:t>AI-detection tools</a:t>
            </a:r>
            <a:endParaRPr lang="en-US" sz="1700" dirty="0"/>
          </a:p>
        </p:txBody>
      </p:sp>
      <p:sp>
        <p:nvSpPr>
          <p:cNvPr id="14" name="Text 12"/>
          <p:cNvSpPr/>
          <p:nvPr/>
        </p:nvSpPr>
        <p:spPr>
          <a:xfrm>
            <a:off x="6428232" y="196596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5" name="Text 13"/>
          <p:cNvSpPr/>
          <p:nvPr/>
        </p:nvSpPr>
        <p:spPr>
          <a:xfrm>
            <a:off x="6702552" y="1947672"/>
            <a:ext cx="4663440" cy="320040"/>
          </a:xfrm>
          <a:prstGeom prst="rect">
            <a:avLst/>
          </a:prstGeom>
          <a:noFill/>
          <a:ln/>
        </p:spPr>
        <p:txBody>
          <a:bodyPr wrap="square" lIns="254" tIns="254" rIns="254" bIns="254" rtlCol="0" anchor="ctr">
            <a:normAutofit fontScale="85000" lnSpcReduction="20000"/>
          </a:bodyPr>
          <a:lstStyle/>
          <a:p>
            <a:pPr marL="0" indent="0">
              <a:buNone/>
            </a:pPr>
            <a:r>
              <a:rPr lang="en-US" sz="1450" dirty="0">
                <a:solidFill>
                  <a:srgbClr val="17202A"/>
                </a:solidFill>
              </a:rPr>
              <a:t>Weber-Wulff et al. (2023): detection tools are not consistently reliable, especially for edited or obfuscated texts.</a:t>
            </a:r>
            <a:endParaRPr lang="en-US" sz="1450" dirty="0"/>
          </a:p>
        </p:txBody>
      </p:sp>
      <p:sp>
        <p:nvSpPr>
          <p:cNvPr id="16" name="Text 14"/>
          <p:cNvSpPr/>
          <p:nvPr/>
        </p:nvSpPr>
        <p:spPr>
          <a:xfrm>
            <a:off x="6428232" y="23317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7" name="Text 15"/>
          <p:cNvSpPr/>
          <p:nvPr/>
        </p:nvSpPr>
        <p:spPr>
          <a:xfrm>
            <a:off x="6702552" y="2313432"/>
            <a:ext cx="4663440" cy="320040"/>
          </a:xfrm>
          <a:prstGeom prst="rect">
            <a:avLst/>
          </a:prstGeom>
          <a:noFill/>
          <a:ln/>
        </p:spPr>
        <p:txBody>
          <a:bodyPr wrap="square" lIns="254" tIns="254" rIns="254" bIns="254" rtlCol="0" anchor="ctr">
            <a:normAutofit fontScale="85000" lnSpcReduction="20000"/>
          </a:bodyPr>
          <a:lstStyle/>
          <a:p>
            <a:pPr marL="0" indent="0">
              <a:buNone/>
            </a:pPr>
            <a:r>
              <a:rPr lang="en-US" sz="1450" dirty="0">
                <a:solidFill>
                  <a:srgbClr val="17202A"/>
                </a:solidFill>
              </a:rPr>
              <a:t>Elkhatat et al. (2023): tool performance changes across models and produces false positives.</a:t>
            </a:r>
            <a:endParaRPr lang="en-US" sz="1450" dirty="0"/>
          </a:p>
        </p:txBody>
      </p:sp>
      <p:sp>
        <p:nvSpPr>
          <p:cNvPr id="18" name="Shape 16"/>
          <p:cNvSpPr/>
          <p:nvPr/>
        </p:nvSpPr>
        <p:spPr>
          <a:xfrm>
            <a:off x="594360" y="3337560"/>
            <a:ext cx="11000232" cy="1572768"/>
          </a:xfrm>
          <a:prstGeom prst="roundRect">
            <a:avLst>
              <a:gd name="adj" fmla="val 4651"/>
            </a:avLst>
          </a:prstGeom>
          <a:solidFill>
            <a:srgbClr val="FFFFFF">
              <a:alpha val="0"/>
            </a:srgbClr>
          </a:solidFill>
          <a:ln w="12700">
            <a:solidFill>
              <a:srgbClr val="CBD5E1">
                <a:alpha val="80000"/>
              </a:srgbClr>
            </a:solidFill>
            <a:prstDash val="solid"/>
          </a:ln>
        </p:spPr>
      </p:sp>
      <p:sp>
        <p:nvSpPr>
          <p:cNvPr id="19" name="Text 17"/>
          <p:cNvSpPr/>
          <p:nvPr/>
        </p:nvSpPr>
        <p:spPr>
          <a:xfrm>
            <a:off x="822960" y="3520440"/>
            <a:ext cx="10543032" cy="274320"/>
          </a:xfrm>
          <a:prstGeom prst="rect">
            <a:avLst/>
          </a:prstGeom>
          <a:noFill/>
          <a:ln/>
        </p:spPr>
        <p:txBody>
          <a:bodyPr wrap="square" lIns="0" tIns="0" rIns="0" bIns="0" rtlCol="0" anchor="ctr"/>
          <a:lstStyle/>
          <a:p>
            <a:pPr marL="0" indent="0">
              <a:buNone/>
            </a:pPr>
            <a:r>
              <a:rPr lang="en-US" sz="1700" b="1" dirty="0">
                <a:solidFill>
                  <a:srgbClr val="B7791F"/>
                </a:solidFill>
              </a:rPr>
              <a:t>LLMs and language processing</a:t>
            </a:r>
            <a:endParaRPr lang="en-US" sz="1700" dirty="0"/>
          </a:p>
        </p:txBody>
      </p:sp>
      <p:sp>
        <p:nvSpPr>
          <p:cNvPr id="20" name="Text 18"/>
          <p:cNvSpPr/>
          <p:nvPr/>
        </p:nvSpPr>
        <p:spPr>
          <a:xfrm>
            <a:off x="822960" y="397764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1" name="Text 19"/>
          <p:cNvSpPr/>
          <p:nvPr/>
        </p:nvSpPr>
        <p:spPr>
          <a:xfrm>
            <a:off x="1097280" y="3959352"/>
            <a:ext cx="10268712"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Goldstein et al. (2025): LLMs are increasingly used as computational models for human language processing.</a:t>
            </a:r>
            <a:endParaRPr lang="en-US" sz="1450" dirty="0"/>
          </a:p>
        </p:txBody>
      </p:sp>
      <p:sp>
        <p:nvSpPr>
          <p:cNvPr id="22" name="Text 20"/>
          <p:cNvSpPr/>
          <p:nvPr/>
        </p:nvSpPr>
        <p:spPr>
          <a:xfrm>
            <a:off x="822960" y="4343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3" name="Text 21"/>
          <p:cNvSpPr/>
          <p:nvPr/>
        </p:nvSpPr>
        <p:spPr>
          <a:xfrm>
            <a:off x="1097280" y="4325112"/>
            <a:ext cx="10268712"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Implication: AI text is relevant to psycholinguistic research, not only academic integrity.</a:t>
            </a:r>
            <a:endParaRPr lang="en-US" sz="1450" dirty="0"/>
          </a:p>
        </p:txBody>
      </p:sp>
      <p:sp>
        <p:nvSpPr>
          <p:cNvPr id="24" name="Text 22"/>
          <p:cNvSpPr/>
          <p:nvPr/>
        </p:nvSpPr>
        <p:spPr>
          <a:xfrm>
            <a:off x="914400" y="5559552"/>
            <a:ext cx="10287000" cy="411480"/>
          </a:xfrm>
          <a:prstGeom prst="rect">
            <a:avLst/>
          </a:prstGeom>
          <a:noFill/>
          <a:ln/>
        </p:spPr>
        <p:txBody>
          <a:bodyPr wrap="square" lIns="0" tIns="0" rIns="0" bIns="0" rtlCol="0" anchor="ctr">
            <a:normAutofit fontScale="77500" lnSpcReduction="20000"/>
          </a:bodyPr>
          <a:lstStyle/>
          <a:p>
            <a:pPr marL="0" indent="0" algn="ctr">
              <a:buNone/>
            </a:pPr>
            <a:r>
              <a:rPr lang="en-US" sz="2000" b="1" dirty="0">
                <a:solidFill>
                  <a:srgbClr val="16324F"/>
                </a:solidFill>
              </a:rPr>
              <a:t>Gap: less is known about which linguistic cues bilingual readers use — and whether AI vs human texts affect L2 memory encoding.</a:t>
            </a:r>
            <a:endParaRPr lang="en-US" sz="2000" dirty="0"/>
          </a:p>
        </p:txBody>
      </p:sp>
      <p:sp>
        <p:nvSpPr>
          <p:cNvPr id="25" name="Text 23"/>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4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4FF"/>
          </a:solidFill>
          <a:ln w="12700">
            <a:solidFill>
              <a:srgbClr val="EAF4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Research Contribution</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How my project extends the literature</a:t>
            </a:r>
            <a:endParaRPr lang="en-US" sz="1450" dirty="0"/>
          </a:p>
        </p:txBody>
      </p:sp>
      <p:sp>
        <p:nvSpPr>
          <p:cNvPr id="6" name="Text 4"/>
          <p:cNvSpPr/>
          <p:nvPr/>
        </p:nvSpPr>
        <p:spPr>
          <a:xfrm>
            <a:off x="960120" y="1417320"/>
            <a:ext cx="3291840" cy="365760"/>
          </a:xfrm>
          <a:prstGeom prst="rect">
            <a:avLst/>
          </a:prstGeom>
          <a:noFill/>
          <a:ln/>
        </p:spPr>
        <p:txBody>
          <a:bodyPr wrap="square" rtlCol="0" anchor="ctr"/>
          <a:lstStyle/>
          <a:p>
            <a:pPr marL="0" indent="0" algn="ctr">
              <a:buNone/>
            </a:pPr>
            <a:r>
              <a:rPr lang="en-US" sz="2200" b="1" dirty="0">
                <a:solidFill>
                  <a:srgbClr val="16324F"/>
                </a:solidFill>
              </a:rPr>
              <a:t>Existing work</a:t>
            </a:r>
            <a:endParaRPr lang="en-US" sz="2200" dirty="0"/>
          </a:p>
        </p:txBody>
      </p:sp>
      <p:sp>
        <p:nvSpPr>
          <p:cNvPr id="7" name="Text 5"/>
          <p:cNvSpPr/>
          <p:nvPr/>
        </p:nvSpPr>
        <p:spPr>
          <a:xfrm>
            <a:off x="7360920" y="1417320"/>
            <a:ext cx="3291840" cy="365760"/>
          </a:xfrm>
          <a:prstGeom prst="rect">
            <a:avLst/>
          </a:prstGeom>
          <a:noFill/>
          <a:ln/>
        </p:spPr>
        <p:txBody>
          <a:bodyPr wrap="square" rtlCol="0" anchor="ctr"/>
          <a:lstStyle/>
          <a:p>
            <a:pPr marL="0" indent="0" algn="ctr">
              <a:buNone/>
            </a:pPr>
            <a:r>
              <a:rPr lang="en-US" sz="2200" b="1" dirty="0">
                <a:solidFill>
                  <a:srgbClr val="16324F"/>
                </a:solidFill>
              </a:rPr>
              <a:t>My study</a:t>
            </a:r>
            <a:endParaRPr lang="en-US" sz="2200" dirty="0"/>
          </a:p>
        </p:txBody>
      </p:sp>
      <p:sp>
        <p:nvSpPr>
          <p:cNvPr id="8" name="Shape 6"/>
          <p:cNvSpPr/>
          <p:nvPr/>
        </p:nvSpPr>
        <p:spPr>
          <a:xfrm>
            <a:off x="777240" y="1874520"/>
            <a:ext cx="3749040" cy="1097280"/>
          </a:xfrm>
          <a:prstGeom prst="roundRect">
            <a:avLst>
              <a:gd name="adj" fmla="val 6667"/>
            </a:avLst>
          </a:prstGeom>
          <a:solidFill>
            <a:srgbClr val="FFFFFF">
              <a:alpha val="0"/>
            </a:srgbClr>
          </a:solidFill>
          <a:ln w="12700">
            <a:solidFill>
              <a:srgbClr val="CBD5E1">
                <a:alpha val="80000"/>
              </a:srgbClr>
            </a:solidFill>
            <a:prstDash val="solid"/>
          </a:ln>
        </p:spPr>
      </p:sp>
      <p:sp>
        <p:nvSpPr>
          <p:cNvPr id="9" name="Text 7"/>
          <p:cNvSpPr/>
          <p:nvPr/>
        </p:nvSpPr>
        <p:spPr>
          <a:xfrm>
            <a:off x="1005840" y="2057400"/>
            <a:ext cx="3291840" cy="274320"/>
          </a:xfrm>
          <a:prstGeom prst="rect">
            <a:avLst/>
          </a:prstGeom>
          <a:noFill/>
          <a:ln/>
        </p:spPr>
        <p:txBody>
          <a:bodyPr wrap="square" lIns="0" tIns="0" rIns="0" bIns="0" rtlCol="0" anchor="ctr"/>
          <a:lstStyle/>
          <a:p>
            <a:pPr marL="0" indent="0">
              <a:buNone/>
            </a:pPr>
            <a:r>
              <a:rPr lang="en-US" sz="1700" b="1" dirty="0">
                <a:solidFill>
                  <a:srgbClr val="2B6CB0"/>
                </a:solidFill>
              </a:rPr>
              <a:t>Accuracy problem</a:t>
            </a:r>
            <a:endParaRPr lang="en-US" sz="1700" dirty="0"/>
          </a:p>
        </p:txBody>
      </p:sp>
      <p:sp>
        <p:nvSpPr>
          <p:cNvPr id="10" name="Text 8"/>
          <p:cNvSpPr/>
          <p:nvPr/>
        </p:nvSpPr>
        <p:spPr>
          <a:xfrm>
            <a:off x="1005840" y="25146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1" name="Text 9"/>
          <p:cNvSpPr/>
          <p:nvPr/>
        </p:nvSpPr>
        <p:spPr>
          <a:xfrm>
            <a:off x="1280160" y="2496312"/>
            <a:ext cx="3017520" cy="320040"/>
          </a:xfrm>
          <a:prstGeom prst="rect">
            <a:avLst/>
          </a:prstGeom>
          <a:noFill/>
          <a:ln/>
        </p:spPr>
        <p:txBody>
          <a:bodyPr wrap="square" lIns="254" tIns="254" rIns="254" bIns="254" rtlCol="0" anchor="ctr">
            <a:normAutofit fontScale="92500"/>
          </a:bodyPr>
          <a:lstStyle/>
          <a:p>
            <a:pPr marL="0" indent="0">
              <a:buNone/>
            </a:pPr>
            <a:r>
              <a:rPr lang="en-US" sz="1450" dirty="0">
                <a:solidFill>
                  <a:srgbClr val="17202A"/>
                </a:solidFill>
              </a:rPr>
              <a:t>Can people or tools distinguish AI writing?</a:t>
            </a:r>
            <a:endParaRPr lang="en-US" sz="1450" dirty="0"/>
          </a:p>
        </p:txBody>
      </p:sp>
      <p:sp>
        <p:nvSpPr>
          <p:cNvPr id="12" name="Shape 10"/>
          <p:cNvSpPr/>
          <p:nvPr/>
        </p:nvSpPr>
        <p:spPr>
          <a:xfrm>
            <a:off x="5074920" y="2212848"/>
            <a:ext cx="914400" cy="411480"/>
          </a:xfrm>
          <a:prstGeom prst="chevron">
            <a:avLst/>
          </a:prstGeom>
          <a:solidFill>
            <a:srgbClr val="2B6CB0"/>
          </a:solidFill>
          <a:ln w="12700">
            <a:solidFill>
              <a:srgbClr val="2B6CB0"/>
            </a:solidFill>
            <a:prstDash val="solid"/>
          </a:ln>
        </p:spPr>
      </p:sp>
      <p:sp>
        <p:nvSpPr>
          <p:cNvPr id="13" name="Shape 11"/>
          <p:cNvSpPr/>
          <p:nvPr/>
        </p:nvSpPr>
        <p:spPr>
          <a:xfrm>
            <a:off x="6400800" y="1874520"/>
            <a:ext cx="4526280" cy="1097280"/>
          </a:xfrm>
          <a:prstGeom prst="roundRect">
            <a:avLst>
              <a:gd name="adj" fmla="val 6667"/>
            </a:avLst>
          </a:prstGeom>
          <a:solidFill>
            <a:srgbClr val="FFFFFF">
              <a:alpha val="0"/>
            </a:srgbClr>
          </a:solidFill>
          <a:ln w="12700">
            <a:solidFill>
              <a:srgbClr val="CBD5E1">
                <a:alpha val="80000"/>
              </a:srgbClr>
            </a:solidFill>
            <a:prstDash val="solid"/>
          </a:ln>
        </p:spPr>
      </p:sp>
      <p:sp>
        <p:nvSpPr>
          <p:cNvPr id="14" name="Text 12"/>
          <p:cNvSpPr/>
          <p:nvPr/>
        </p:nvSpPr>
        <p:spPr>
          <a:xfrm>
            <a:off x="6629400" y="2057400"/>
            <a:ext cx="4069080" cy="274320"/>
          </a:xfrm>
          <a:prstGeom prst="rect">
            <a:avLst/>
          </a:prstGeom>
          <a:noFill/>
          <a:ln/>
        </p:spPr>
        <p:txBody>
          <a:bodyPr wrap="square" lIns="0" tIns="0" rIns="0" bIns="0" rtlCol="0" anchor="ctr"/>
          <a:lstStyle/>
          <a:p>
            <a:pPr marL="0" indent="0">
              <a:buNone/>
            </a:pPr>
            <a:r>
              <a:rPr lang="en-US" sz="1700" b="1" dirty="0">
                <a:solidFill>
                  <a:srgbClr val="127C56"/>
                </a:solidFill>
              </a:rPr>
              <a:t>Mechanism problem</a:t>
            </a:r>
            <a:endParaRPr lang="en-US" sz="1700" dirty="0"/>
          </a:p>
        </p:txBody>
      </p:sp>
      <p:sp>
        <p:nvSpPr>
          <p:cNvPr id="15" name="Text 13"/>
          <p:cNvSpPr/>
          <p:nvPr/>
        </p:nvSpPr>
        <p:spPr>
          <a:xfrm>
            <a:off x="6629400" y="25146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6" name="Text 14"/>
          <p:cNvSpPr/>
          <p:nvPr/>
        </p:nvSpPr>
        <p:spPr>
          <a:xfrm>
            <a:off x="6903720" y="2496312"/>
            <a:ext cx="3794760" cy="320040"/>
          </a:xfrm>
          <a:prstGeom prst="rect">
            <a:avLst/>
          </a:prstGeom>
          <a:noFill/>
          <a:ln/>
        </p:spPr>
        <p:txBody>
          <a:bodyPr wrap="square" lIns="254" tIns="254" rIns="254" bIns="254" rtlCol="0" anchor="ctr">
            <a:normAutofit fontScale="85000" lnSpcReduction="20000"/>
          </a:bodyPr>
          <a:lstStyle/>
          <a:p>
            <a:pPr marL="0" indent="0">
              <a:buNone/>
            </a:pPr>
            <a:r>
              <a:rPr lang="en-US" sz="1450" dirty="0">
                <a:solidFill>
                  <a:srgbClr val="17202A"/>
                </a:solidFill>
              </a:rPr>
              <a:t>Which linguistic cues guide human authorship perception?</a:t>
            </a:r>
            <a:endParaRPr lang="en-US" sz="1450" dirty="0"/>
          </a:p>
        </p:txBody>
      </p:sp>
      <p:sp>
        <p:nvSpPr>
          <p:cNvPr id="17" name="Shape 15"/>
          <p:cNvSpPr/>
          <p:nvPr/>
        </p:nvSpPr>
        <p:spPr>
          <a:xfrm>
            <a:off x="777240" y="3337560"/>
            <a:ext cx="3749040" cy="1097280"/>
          </a:xfrm>
          <a:prstGeom prst="roundRect">
            <a:avLst>
              <a:gd name="adj" fmla="val 6667"/>
            </a:avLst>
          </a:prstGeom>
          <a:solidFill>
            <a:srgbClr val="FFFFFF">
              <a:alpha val="0"/>
            </a:srgbClr>
          </a:solidFill>
          <a:ln w="12700">
            <a:solidFill>
              <a:srgbClr val="CBD5E1">
                <a:alpha val="80000"/>
              </a:srgbClr>
            </a:solidFill>
            <a:prstDash val="solid"/>
          </a:ln>
        </p:spPr>
      </p:sp>
      <p:sp>
        <p:nvSpPr>
          <p:cNvPr id="18" name="Text 16"/>
          <p:cNvSpPr/>
          <p:nvPr/>
        </p:nvSpPr>
        <p:spPr>
          <a:xfrm>
            <a:off x="1005840" y="3520440"/>
            <a:ext cx="3291840" cy="274320"/>
          </a:xfrm>
          <a:prstGeom prst="rect">
            <a:avLst/>
          </a:prstGeom>
          <a:noFill/>
          <a:ln/>
        </p:spPr>
        <p:txBody>
          <a:bodyPr wrap="square" lIns="0" tIns="0" rIns="0" bIns="0" rtlCol="0" anchor="ctr"/>
          <a:lstStyle/>
          <a:p>
            <a:pPr marL="0" indent="0">
              <a:buNone/>
            </a:pPr>
            <a:r>
              <a:rPr lang="en-US" sz="1700" b="1" dirty="0">
                <a:solidFill>
                  <a:srgbClr val="2B6CB0"/>
                </a:solidFill>
              </a:rPr>
              <a:t>Detection focus</a:t>
            </a:r>
            <a:endParaRPr lang="en-US" sz="1700" dirty="0"/>
          </a:p>
        </p:txBody>
      </p:sp>
      <p:sp>
        <p:nvSpPr>
          <p:cNvPr id="19" name="Text 17"/>
          <p:cNvSpPr/>
          <p:nvPr/>
        </p:nvSpPr>
        <p:spPr>
          <a:xfrm>
            <a:off x="1005840" y="397764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0" name="Text 18"/>
          <p:cNvSpPr/>
          <p:nvPr/>
        </p:nvSpPr>
        <p:spPr>
          <a:xfrm>
            <a:off x="1280160" y="3959352"/>
            <a:ext cx="301752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Correct or incorrect classification</a:t>
            </a:r>
            <a:endParaRPr lang="en-US" sz="1450" dirty="0"/>
          </a:p>
        </p:txBody>
      </p:sp>
      <p:sp>
        <p:nvSpPr>
          <p:cNvPr id="21" name="Shape 19"/>
          <p:cNvSpPr/>
          <p:nvPr/>
        </p:nvSpPr>
        <p:spPr>
          <a:xfrm>
            <a:off x="5074920" y="3675888"/>
            <a:ext cx="914400" cy="411480"/>
          </a:xfrm>
          <a:prstGeom prst="chevron">
            <a:avLst/>
          </a:prstGeom>
          <a:solidFill>
            <a:srgbClr val="2B6CB0"/>
          </a:solidFill>
          <a:ln w="12700">
            <a:solidFill>
              <a:srgbClr val="2B6CB0"/>
            </a:solidFill>
            <a:prstDash val="solid"/>
          </a:ln>
        </p:spPr>
      </p:sp>
      <p:sp>
        <p:nvSpPr>
          <p:cNvPr id="22" name="Shape 20"/>
          <p:cNvSpPr/>
          <p:nvPr/>
        </p:nvSpPr>
        <p:spPr>
          <a:xfrm>
            <a:off x="6400800" y="3337560"/>
            <a:ext cx="4526280" cy="1097280"/>
          </a:xfrm>
          <a:prstGeom prst="roundRect">
            <a:avLst>
              <a:gd name="adj" fmla="val 6667"/>
            </a:avLst>
          </a:prstGeom>
          <a:solidFill>
            <a:srgbClr val="FFFFFF">
              <a:alpha val="0"/>
            </a:srgbClr>
          </a:solidFill>
          <a:ln w="12700">
            <a:solidFill>
              <a:srgbClr val="CBD5E1">
                <a:alpha val="80000"/>
              </a:srgbClr>
            </a:solidFill>
            <a:prstDash val="solid"/>
          </a:ln>
        </p:spPr>
      </p:sp>
      <p:sp>
        <p:nvSpPr>
          <p:cNvPr id="23" name="Text 21"/>
          <p:cNvSpPr/>
          <p:nvPr/>
        </p:nvSpPr>
        <p:spPr>
          <a:xfrm>
            <a:off x="6629400" y="3520440"/>
            <a:ext cx="4069080" cy="274320"/>
          </a:xfrm>
          <a:prstGeom prst="rect">
            <a:avLst/>
          </a:prstGeom>
          <a:noFill/>
          <a:ln/>
        </p:spPr>
        <p:txBody>
          <a:bodyPr wrap="square" lIns="0" tIns="0" rIns="0" bIns="0" rtlCol="0" anchor="ctr"/>
          <a:lstStyle/>
          <a:p>
            <a:pPr marL="0" indent="0">
              <a:buNone/>
            </a:pPr>
            <a:r>
              <a:rPr lang="en-US" sz="1700" b="1" dirty="0">
                <a:solidFill>
                  <a:srgbClr val="127C56"/>
                </a:solidFill>
              </a:rPr>
              <a:t>Psycholinguistic focus</a:t>
            </a:r>
            <a:endParaRPr lang="en-US" sz="1700" dirty="0"/>
          </a:p>
        </p:txBody>
      </p:sp>
      <p:sp>
        <p:nvSpPr>
          <p:cNvPr id="24" name="Text 22"/>
          <p:cNvSpPr/>
          <p:nvPr/>
        </p:nvSpPr>
        <p:spPr>
          <a:xfrm>
            <a:off x="6629400" y="397764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5" name="Text 23"/>
          <p:cNvSpPr/>
          <p:nvPr/>
        </p:nvSpPr>
        <p:spPr>
          <a:xfrm>
            <a:off x="6903720" y="3959352"/>
            <a:ext cx="3794760" cy="320040"/>
          </a:xfrm>
          <a:prstGeom prst="rect">
            <a:avLst/>
          </a:prstGeom>
          <a:noFill/>
          <a:ln/>
        </p:spPr>
        <p:txBody>
          <a:bodyPr wrap="square" lIns="254" tIns="254" rIns="254" bIns="254" rtlCol="0" anchor="ctr">
            <a:normAutofit fontScale="92500"/>
          </a:bodyPr>
          <a:lstStyle/>
          <a:p>
            <a:pPr marL="0" indent="0">
              <a:buNone/>
            </a:pPr>
            <a:r>
              <a:rPr lang="en-US" sz="1450" dirty="0">
                <a:solidFill>
                  <a:srgbClr val="17202A"/>
                </a:solidFill>
              </a:rPr>
              <a:t>Judgment, perceived cues, and L2 memory encoding</a:t>
            </a:r>
            <a:endParaRPr lang="en-US" sz="1450" dirty="0"/>
          </a:p>
        </p:txBody>
      </p:sp>
      <p:sp>
        <p:nvSpPr>
          <p:cNvPr id="26" name="Text 24"/>
          <p:cNvSpPr/>
          <p:nvPr/>
        </p:nvSpPr>
        <p:spPr>
          <a:xfrm>
            <a:off x="1143000" y="5349240"/>
            <a:ext cx="9875520" cy="411480"/>
          </a:xfrm>
          <a:prstGeom prst="rect">
            <a:avLst/>
          </a:prstGeom>
          <a:noFill/>
          <a:ln/>
        </p:spPr>
        <p:txBody>
          <a:bodyPr wrap="square" lIns="0" tIns="0" rIns="0" bIns="0" rtlCol="0" anchor="ctr"/>
          <a:lstStyle/>
          <a:p>
            <a:pPr marL="0" indent="0" algn="ctr">
              <a:buNone/>
            </a:pPr>
            <a:r>
              <a:rPr lang="en-US" sz="2300" b="1" dirty="0">
                <a:solidFill>
                  <a:srgbClr val="16324F"/>
                </a:solidFill>
              </a:rPr>
              <a:t>Originality: linking AI-authorship perception with second-language memory tasks.</a:t>
            </a:r>
            <a:endParaRPr lang="en-US" sz="2300" dirty="0"/>
          </a:p>
        </p:txBody>
      </p:sp>
      <p:sp>
        <p:nvSpPr>
          <p:cNvPr id="27" name="Text 25"/>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Research Questions and Variables</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A measurable design, not just a general idea</a:t>
            </a:r>
            <a:endParaRPr lang="en-US" sz="1450" dirty="0"/>
          </a:p>
        </p:txBody>
      </p:sp>
      <p:sp>
        <p:nvSpPr>
          <p:cNvPr id="6" name="Text 4"/>
          <p:cNvSpPr/>
          <p:nvPr/>
        </p:nvSpPr>
        <p:spPr>
          <a:xfrm>
            <a:off x="777240" y="1417320"/>
            <a:ext cx="10607040" cy="347472"/>
          </a:xfrm>
          <a:prstGeom prst="rect">
            <a:avLst/>
          </a:prstGeom>
          <a:noFill/>
          <a:ln/>
        </p:spPr>
        <p:txBody>
          <a:bodyPr wrap="square" lIns="0" tIns="0" rIns="0" bIns="0" rtlCol="0" anchor="ctr"/>
          <a:lstStyle/>
          <a:p>
            <a:pPr marL="0" indent="0">
              <a:buNone/>
            </a:pPr>
            <a:r>
              <a:rPr lang="en-US" sz="2100" b="1" dirty="0">
                <a:solidFill>
                  <a:srgbClr val="16324F"/>
                </a:solidFill>
              </a:rPr>
              <a:t>RQ1: What linguistic cues make an English text sound AI-generated?</a:t>
            </a:r>
            <a:endParaRPr lang="en-US" sz="2100" dirty="0"/>
          </a:p>
        </p:txBody>
      </p:sp>
      <p:sp>
        <p:nvSpPr>
          <p:cNvPr id="7" name="Text 5"/>
          <p:cNvSpPr/>
          <p:nvPr/>
        </p:nvSpPr>
        <p:spPr>
          <a:xfrm>
            <a:off x="777240" y="1828800"/>
            <a:ext cx="10607040" cy="347472"/>
          </a:xfrm>
          <a:prstGeom prst="rect">
            <a:avLst/>
          </a:prstGeom>
          <a:noFill/>
          <a:ln/>
        </p:spPr>
        <p:txBody>
          <a:bodyPr wrap="square" lIns="0" tIns="0" rIns="0" bIns="0" rtlCol="0" anchor="ctr"/>
          <a:lstStyle/>
          <a:p>
            <a:pPr marL="0" indent="0">
              <a:buNone/>
            </a:pPr>
            <a:r>
              <a:rPr lang="en-US" sz="2100" b="1" dirty="0">
                <a:solidFill>
                  <a:srgbClr val="16324F"/>
                </a:solidFill>
              </a:rPr>
              <a:t>RQ2: Do AI-generated and human-written texts differ in L2 memory encoding?</a:t>
            </a:r>
            <a:endParaRPr lang="en-US" sz="2100" dirty="0"/>
          </a:p>
        </p:txBody>
      </p:sp>
      <p:sp>
        <p:nvSpPr>
          <p:cNvPr id="8" name="Shape 6"/>
          <p:cNvSpPr/>
          <p:nvPr/>
        </p:nvSpPr>
        <p:spPr>
          <a:xfrm>
            <a:off x="685800" y="2606040"/>
            <a:ext cx="3611880" cy="2011680"/>
          </a:xfrm>
          <a:prstGeom prst="roundRect">
            <a:avLst>
              <a:gd name="adj" fmla="val 3636"/>
            </a:avLst>
          </a:prstGeom>
          <a:solidFill>
            <a:srgbClr val="FFFFFF">
              <a:alpha val="0"/>
            </a:srgbClr>
          </a:solidFill>
          <a:ln w="12700">
            <a:solidFill>
              <a:srgbClr val="CBD5E1">
                <a:alpha val="80000"/>
              </a:srgbClr>
            </a:solidFill>
            <a:prstDash val="solid"/>
          </a:ln>
        </p:spPr>
      </p:sp>
      <p:sp>
        <p:nvSpPr>
          <p:cNvPr id="9" name="Text 7"/>
          <p:cNvSpPr/>
          <p:nvPr/>
        </p:nvSpPr>
        <p:spPr>
          <a:xfrm>
            <a:off x="914400" y="2788920"/>
            <a:ext cx="3154680" cy="274320"/>
          </a:xfrm>
          <a:prstGeom prst="rect">
            <a:avLst/>
          </a:prstGeom>
          <a:noFill/>
          <a:ln/>
        </p:spPr>
        <p:txBody>
          <a:bodyPr wrap="square" lIns="0" tIns="0" rIns="0" bIns="0" rtlCol="0" anchor="ctr"/>
          <a:lstStyle/>
          <a:p>
            <a:pPr marL="0" indent="0">
              <a:buNone/>
            </a:pPr>
            <a:r>
              <a:rPr lang="en-US" sz="1700" b="1" dirty="0">
                <a:solidFill>
                  <a:srgbClr val="2B6CB0"/>
                </a:solidFill>
              </a:rPr>
              <a:t>Independent variable</a:t>
            </a:r>
            <a:endParaRPr lang="en-US" sz="1700" dirty="0"/>
          </a:p>
        </p:txBody>
      </p:sp>
      <p:sp>
        <p:nvSpPr>
          <p:cNvPr id="10" name="Text 8"/>
          <p:cNvSpPr/>
          <p:nvPr/>
        </p:nvSpPr>
        <p:spPr>
          <a:xfrm>
            <a:off x="914400" y="32461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1" name="Text 9"/>
          <p:cNvSpPr/>
          <p:nvPr/>
        </p:nvSpPr>
        <p:spPr>
          <a:xfrm>
            <a:off x="1188720" y="3227832"/>
            <a:ext cx="2880360" cy="320040"/>
          </a:xfrm>
          <a:prstGeom prst="rect">
            <a:avLst/>
          </a:prstGeom>
          <a:noFill/>
          <a:ln/>
        </p:spPr>
        <p:txBody>
          <a:bodyPr wrap="square" lIns="254" tIns="254" rIns="254" bIns="254" rtlCol="0" anchor="ctr">
            <a:normAutofit fontScale="85000" lnSpcReduction="20000"/>
          </a:bodyPr>
          <a:lstStyle/>
          <a:p>
            <a:pPr marL="0" indent="0">
              <a:buNone/>
            </a:pPr>
            <a:r>
              <a:rPr lang="en-US" sz="1450" dirty="0">
                <a:solidFill>
                  <a:srgbClr val="17202A"/>
                </a:solidFill>
              </a:rPr>
              <a:t>Text type: human-written, AI-generated, human-AI hybrid</a:t>
            </a:r>
            <a:endParaRPr lang="en-US" sz="1450" dirty="0"/>
          </a:p>
        </p:txBody>
      </p:sp>
      <p:sp>
        <p:nvSpPr>
          <p:cNvPr id="12" name="Shape 10"/>
          <p:cNvSpPr/>
          <p:nvPr/>
        </p:nvSpPr>
        <p:spPr>
          <a:xfrm>
            <a:off x="4434840" y="2606040"/>
            <a:ext cx="3749040" cy="2011680"/>
          </a:xfrm>
          <a:prstGeom prst="roundRect">
            <a:avLst>
              <a:gd name="adj" fmla="val 3636"/>
            </a:avLst>
          </a:prstGeom>
          <a:solidFill>
            <a:srgbClr val="FFFFFF">
              <a:alpha val="0"/>
            </a:srgbClr>
          </a:solidFill>
          <a:ln w="12700">
            <a:solidFill>
              <a:srgbClr val="CBD5E1">
                <a:alpha val="80000"/>
              </a:srgbClr>
            </a:solidFill>
            <a:prstDash val="solid"/>
          </a:ln>
        </p:spPr>
      </p:sp>
      <p:sp>
        <p:nvSpPr>
          <p:cNvPr id="13" name="Text 11"/>
          <p:cNvSpPr/>
          <p:nvPr/>
        </p:nvSpPr>
        <p:spPr>
          <a:xfrm>
            <a:off x="4663440" y="2788920"/>
            <a:ext cx="3291840" cy="274320"/>
          </a:xfrm>
          <a:prstGeom prst="rect">
            <a:avLst/>
          </a:prstGeom>
          <a:noFill/>
          <a:ln/>
        </p:spPr>
        <p:txBody>
          <a:bodyPr wrap="square" lIns="0" tIns="0" rIns="0" bIns="0" rtlCol="0" anchor="ctr"/>
          <a:lstStyle/>
          <a:p>
            <a:pPr marL="0" indent="0">
              <a:buNone/>
            </a:pPr>
            <a:r>
              <a:rPr lang="en-US" sz="1700" b="1" dirty="0">
                <a:solidFill>
                  <a:srgbClr val="127C56"/>
                </a:solidFill>
              </a:rPr>
              <a:t>Dependent variables</a:t>
            </a:r>
            <a:endParaRPr lang="en-US" sz="1700" dirty="0"/>
          </a:p>
        </p:txBody>
      </p:sp>
      <p:sp>
        <p:nvSpPr>
          <p:cNvPr id="14" name="Text 12"/>
          <p:cNvSpPr/>
          <p:nvPr/>
        </p:nvSpPr>
        <p:spPr>
          <a:xfrm>
            <a:off x="4663440" y="32461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5" name="Text 13"/>
          <p:cNvSpPr/>
          <p:nvPr/>
        </p:nvSpPr>
        <p:spPr>
          <a:xfrm>
            <a:off x="4937760" y="3227832"/>
            <a:ext cx="301752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Authorship judgment accuracy</a:t>
            </a:r>
            <a:endParaRPr lang="en-US" sz="1450" dirty="0"/>
          </a:p>
        </p:txBody>
      </p:sp>
      <p:sp>
        <p:nvSpPr>
          <p:cNvPr id="16" name="Text 14"/>
          <p:cNvSpPr/>
          <p:nvPr/>
        </p:nvSpPr>
        <p:spPr>
          <a:xfrm>
            <a:off x="4663440" y="361188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7" name="Text 15"/>
          <p:cNvSpPr/>
          <p:nvPr/>
        </p:nvSpPr>
        <p:spPr>
          <a:xfrm>
            <a:off x="4937760" y="3593592"/>
            <a:ext cx="301752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AI-likelihood rating</a:t>
            </a:r>
            <a:endParaRPr lang="en-US" sz="1450" dirty="0"/>
          </a:p>
        </p:txBody>
      </p:sp>
      <p:sp>
        <p:nvSpPr>
          <p:cNvPr id="18" name="Text 16"/>
          <p:cNvSpPr/>
          <p:nvPr/>
        </p:nvSpPr>
        <p:spPr>
          <a:xfrm>
            <a:off x="4663440" y="397764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9" name="Text 17"/>
          <p:cNvSpPr/>
          <p:nvPr/>
        </p:nvSpPr>
        <p:spPr>
          <a:xfrm>
            <a:off x="4937760" y="3959352"/>
            <a:ext cx="3017520" cy="320040"/>
          </a:xfrm>
          <a:prstGeom prst="rect">
            <a:avLst/>
          </a:prstGeom>
          <a:noFill/>
          <a:ln/>
        </p:spPr>
        <p:txBody>
          <a:bodyPr wrap="square" lIns="254" tIns="254" rIns="254" bIns="254" rtlCol="0" anchor="ctr">
            <a:normAutofit fontScale="85000" lnSpcReduction="10000"/>
          </a:bodyPr>
          <a:lstStyle/>
          <a:p>
            <a:pPr marL="0" indent="0">
              <a:buNone/>
            </a:pPr>
            <a:r>
              <a:rPr lang="en-US" sz="1450" dirty="0">
                <a:solidFill>
                  <a:srgbClr val="17202A"/>
                </a:solidFill>
              </a:rPr>
              <a:t>Cue ratings: fluency, structure, emotion, voice</a:t>
            </a:r>
            <a:endParaRPr lang="en-US" sz="1450" dirty="0"/>
          </a:p>
        </p:txBody>
      </p:sp>
      <p:sp>
        <p:nvSpPr>
          <p:cNvPr id="20" name="Text 18"/>
          <p:cNvSpPr/>
          <p:nvPr/>
        </p:nvSpPr>
        <p:spPr>
          <a:xfrm>
            <a:off x="4663440" y="4343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1" name="Text 19"/>
          <p:cNvSpPr/>
          <p:nvPr/>
        </p:nvSpPr>
        <p:spPr>
          <a:xfrm>
            <a:off x="4937760" y="4325112"/>
            <a:ext cx="301752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L2 memory accuracy + reaction time</a:t>
            </a:r>
            <a:endParaRPr lang="en-US" sz="1450" dirty="0"/>
          </a:p>
        </p:txBody>
      </p:sp>
      <p:sp>
        <p:nvSpPr>
          <p:cNvPr id="22" name="Shape 20"/>
          <p:cNvSpPr/>
          <p:nvPr/>
        </p:nvSpPr>
        <p:spPr>
          <a:xfrm>
            <a:off x="8321040" y="2606040"/>
            <a:ext cx="3246120" cy="2011680"/>
          </a:xfrm>
          <a:prstGeom prst="roundRect">
            <a:avLst>
              <a:gd name="adj" fmla="val 3636"/>
            </a:avLst>
          </a:prstGeom>
          <a:solidFill>
            <a:srgbClr val="FFFFFF">
              <a:alpha val="0"/>
            </a:srgbClr>
          </a:solidFill>
          <a:ln w="12700">
            <a:solidFill>
              <a:srgbClr val="CBD5E1">
                <a:alpha val="80000"/>
              </a:srgbClr>
            </a:solidFill>
            <a:prstDash val="solid"/>
          </a:ln>
        </p:spPr>
      </p:sp>
      <p:sp>
        <p:nvSpPr>
          <p:cNvPr id="23" name="Text 21"/>
          <p:cNvSpPr/>
          <p:nvPr/>
        </p:nvSpPr>
        <p:spPr>
          <a:xfrm>
            <a:off x="8549640" y="2788920"/>
            <a:ext cx="2788920" cy="274320"/>
          </a:xfrm>
          <a:prstGeom prst="rect">
            <a:avLst/>
          </a:prstGeom>
          <a:noFill/>
          <a:ln/>
        </p:spPr>
        <p:txBody>
          <a:bodyPr wrap="square" lIns="0" tIns="0" rIns="0" bIns="0" rtlCol="0" anchor="ctr"/>
          <a:lstStyle/>
          <a:p>
            <a:pPr marL="0" indent="0">
              <a:buNone/>
            </a:pPr>
            <a:r>
              <a:rPr lang="en-US" sz="1700" b="1" dirty="0">
                <a:solidFill>
                  <a:srgbClr val="B7791F"/>
                </a:solidFill>
              </a:rPr>
              <a:t>Control variables</a:t>
            </a:r>
            <a:endParaRPr lang="en-US" sz="1700" dirty="0"/>
          </a:p>
        </p:txBody>
      </p:sp>
      <p:sp>
        <p:nvSpPr>
          <p:cNvPr id="24" name="Text 22"/>
          <p:cNvSpPr/>
          <p:nvPr/>
        </p:nvSpPr>
        <p:spPr>
          <a:xfrm>
            <a:off x="8549640" y="32461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5" name="Text 23"/>
          <p:cNvSpPr/>
          <p:nvPr/>
        </p:nvSpPr>
        <p:spPr>
          <a:xfrm>
            <a:off x="8823960" y="3227832"/>
            <a:ext cx="251460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English only</a:t>
            </a:r>
            <a:endParaRPr lang="en-US" sz="1450" dirty="0"/>
          </a:p>
        </p:txBody>
      </p:sp>
      <p:sp>
        <p:nvSpPr>
          <p:cNvPr id="26" name="Text 24"/>
          <p:cNvSpPr/>
          <p:nvPr/>
        </p:nvSpPr>
        <p:spPr>
          <a:xfrm>
            <a:off x="8549640" y="361188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7" name="Text 25"/>
          <p:cNvSpPr/>
          <p:nvPr/>
        </p:nvSpPr>
        <p:spPr>
          <a:xfrm>
            <a:off x="8823960" y="3593592"/>
            <a:ext cx="251460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80–120 words per text</a:t>
            </a:r>
            <a:endParaRPr lang="en-US" sz="1450" dirty="0"/>
          </a:p>
        </p:txBody>
      </p:sp>
      <p:sp>
        <p:nvSpPr>
          <p:cNvPr id="28" name="Text 26"/>
          <p:cNvSpPr/>
          <p:nvPr/>
        </p:nvSpPr>
        <p:spPr>
          <a:xfrm>
            <a:off x="8549640" y="397764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9" name="Text 27"/>
          <p:cNvSpPr/>
          <p:nvPr/>
        </p:nvSpPr>
        <p:spPr>
          <a:xfrm>
            <a:off x="8823960" y="3959352"/>
            <a:ext cx="2514600" cy="320040"/>
          </a:xfrm>
          <a:prstGeom prst="rect">
            <a:avLst/>
          </a:prstGeom>
          <a:noFill/>
          <a:ln/>
        </p:spPr>
        <p:txBody>
          <a:bodyPr wrap="square" lIns="254" tIns="254" rIns="254" bIns="254" rtlCol="0" anchor="ctr">
            <a:normAutofit fontScale="92500"/>
          </a:bodyPr>
          <a:lstStyle/>
          <a:p>
            <a:pPr marL="0" indent="0">
              <a:buNone/>
            </a:pPr>
            <a:r>
              <a:rPr lang="en-US" sz="1450" dirty="0">
                <a:solidFill>
                  <a:srgbClr val="17202A"/>
                </a:solidFill>
              </a:rPr>
              <a:t>Matched topic and vocabulary level</a:t>
            </a:r>
            <a:endParaRPr lang="en-US" sz="1450" dirty="0"/>
          </a:p>
        </p:txBody>
      </p:sp>
      <p:sp>
        <p:nvSpPr>
          <p:cNvPr id="30" name="Text 28"/>
          <p:cNvSpPr/>
          <p:nvPr/>
        </p:nvSpPr>
        <p:spPr>
          <a:xfrm>
            <a:off x="8549640" y="4343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31" name="Text 29"/>
          <p:cNvSpPr/>
          <p:nvPr/>
        </p:nvSpPr>
        <p:spPr>
          <a:xfrm>
            <a:off x="8823960" y="4325112"/>
            <a:ext cx="2514600" cy="320040"/>
          </a:xfrm>
          <a:prstGeom prst="rect">
            <a:avLst/>
          </a:prstGeom>
          <a:noFill/>
          <a:ln/>
        </p:spPr>
        <p:txBody>
          <a:bodyPr wrap="square" lIns="254" tIns="254" rIns="254" bIns="254" rtlCol="0" anchor="ctr">
            <a:normAutofit fontScale="85000" lnSpcReduction="20000"/>
          </a:bodyPr>
          <a:lstStyle/>
          <a:p>
            <a:pPr marL="0" indent="0">
              <a:buNone/>
            </a:pPr>
            <a:r>
              <a:rPr lang="en-US" sz="1450" dirty="0">
                <a:solidFill>
                  <a:srgbClr val="17202A"/>
                </a:solidFill>
              </a:rPr>
              <a:t>Bilingual background and English proficiency recorded</a:t>
            </a:r>
            <a:endParaRPr lang="en-US" sz="1450" dirty="0"/>
          </a:p>
        </p:txBody>
      </p:sp>
      <p:sp>
        <p:nvSpPr>
          <p:cNvPr id="32" name="Text 30"/>
          <p:cNvSpPr/>
          <p:nvPr/>
        </p:nvSpPr>
        <p:spPr>
          <a:xfrm>
            <a:off x="914400" y="5486400"/>
            <a:ext cx="10424160" cy="329184"/>
          </a:xfrm>
          <a:prstGeom prst="rect">
            <a:avLst/>
          </a:prstGeom>
          <a:noFill/>
          <a:ln/>
        </p:spPr>
        <p:txBody>
          <a:bodyPr wrap="square" lIns="0" tIns="0" rIns="0" bIns="0" rtlCol="0" anchor="ctr"/>
          <a:lstStyle/>
          <a:p>
            <a:pPr marL="0" indent="0" algn="ctr">
              <a:buNone/>
            </a:pPr>
            <a:r>
              <a:rPr lang="en-US" sz="2000" b="1" dirty="0">
                <a:solidFill>
                  <a:srgbClr val="2B6CB0"/>
                </a:solidFill>
              </a:rPr>
              <a:t>Design logic: text type → perceived linguistic cues → authorship judgment → L2 memory performance</a:t>
            </a:r>
            <a:endParaRPr lang="en-US" sz="2000" dirty="0"/>
          </a:p>
        </p:txBody>
      </p:sp>
      <p:sp>
        <p:nvSpPr>
          <p:cNvPr id="33" name="Text 31"/>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Materials and Stimulus Control</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Short English passages matched in pairs</a:t>
            </a:r>
            <a:endParaRPr lang="en-US" sz="1450" dirty="0"/>
          </a:p>
        </p:txBody>
      </p:sp>
      <p:pic>
        <p:nvPicPr>
          <p:cNvPr id="6" name="Image 0" descr="/mnt/data/a_clean_conceptual_infographic_style_illustration.png"/>
          <p:cNvPicPr>
            <a:picLocks noChangeAspect="1"/>
          </p:cNvPicPr>
          <p:nvPr/>
        </p:nvPicPr>
        <p:blipFill>
          <a:blip r:embed="rId3"/>
          <a:srcRect l="13993" r="13993"/>
          <a:stretch/>
        </p:blipFill>
        <p:spPr>
          <a:xfrm>
            <a:off x="6217920" y="1417320"/>
            <a:ext cx="5440680" cy="4251960"/>
          </a:xfrm>
          <a:prstGeom prst="rect">
            <a:avLst/>
          </a:prstGeom>
        </p:spPr>
      </p:pic>
      <p:sp>
        <p:nvSpPr>
          <p:cNvPr id="7" name="Text 4"/>
          <p:cNvSpPr/>
          <p:nvPr/>
        </p:nvSpPr>
        <p:spPr>
          <a:xfrm>
            <a:off x="731520" y="1417320"/>
            <a:ext cx="5303520" cy="347472"/>
          </a:xfrm>
          <a:prstGeom prst="rect">
            <a:avLst/>
          </a:prstGeom>
          <a:noFill/>
          <a:ln/>
        </p:spPr>
        <p:txBody>
          <a:bodyPr wrap="square" lIns="0" tIns="0" rIns="0" bIns="0" rtlCol="0" anchor="ctr"/>
          <a:lstStyle/>
          <a:p>
            <a:pPr marL="0" indent="0">
              <a:buNone/>
            </a:pPr>
            <a:r>
              <a:rPr lang="en-US" sz="2200" b="1" dirty="0">
                <a:solidFill>
                  <a:srgbClr val="16324F"/>
                </a:solidFill>
              </a:rPr>
              <a:t>English passages: 80–120 words</a:t>
            </a:r>
            <a:endParaRPr lang="en-US" sz="2200" dirty="0"/>
          </a:p>
        </p:txBody>
      </p:sp>
      <p:sp>
        <p:nvSpPr>
          <p:cNvPr id="8" name="Text 5"/>
          <p:cNvSpPr/>
          <p:nvPr/>
        </p:nvSpPr>
        <p:spPr>
          <a:xfrm>
            <a:off x="822960" y="2029968"/>
            <a:ext cx="182880" cy="228600"/>
          </a:xfrm>
          <a:prstGeom prst="rect">
            <a:avLst/>
          </a:prstGeom>
          <a:noFill/>
          <a:ln/>
        </p:spPr>
        <p:txBody>
          <a:bodyPr wrap="square" lIns="0" tIns="0" rIns="0" bIns="0" rtlCol="0" anchor="ctr"/>
          <a:lstStyle/>
          <a:p>
            <a:pPr marL="0" indent="0">
              <a:buNone/>
            </a:pPr>
            <a:r>
              <a:rPr lang="en-US" sz="1750" b="1" dirty="0">
                <a:solidFill>
                  <a:srgbClr val="2B6CB0"/>
                </a:solidFill>
              </a:rPr>
              <a:t>•</a:t>
            </a:r>
            <a:endParaRPr lang="en-US" sz="1750" dirty="0"/>
          </a:p>
        </p:txBody>
      </p:sp>
      <p:sp>
        <p:nvSpPr>
          <p:cNvPr id="9" name="Text 6"/>
          <p:cNvSpPr/>
          <p:nvPr/>
        </p:nvSpPr>
        <p:spPr>
          <a:xfrm>
            <a:off x="1097280" y="2011680"/>
            <a:ext cx="4709160" cy="320040"/>
          </a:xfrm>
          <a:prstGeom prst="rect">
            <a:avLst/>
          </a:prstGeom>
          <a:noFill/>
          <a:ln/>
        </p:spPr>
        <p:txBody>
          <a:bodyPr wrap="square" lIns="254" tIns="254" rIns="254" bIns="254" rtlCol="0" anchor="ctr">
            <a:normAutofit/>
          </a:bodyPr>
          <a:lstStyle/>
          <a:p>
            <a:pPr marL="0" indent="0">
              <a:buNone/>
            </a:pPr>
            <a:r>
              <a:rPr lang="en-US" sz="1750" dirty="0">
                <a:solidFill>
                  <a:srgbClr val="17202A"/>
                </a:solidFill>
              </a:rPr>
              <a:t>Human-written baseline on neutral topics</a:t>
            </a:r>
            <a:endParaRPr lang="en-US" sz="1750" dirty="0"/>
          </a:p>
        </p:txBody>
      </p:sp>
      <p:sp>
        <p:nvSpPr>
          <p:cNvPr id="10" name="Text 7"/>
          <p:cNvSpPr/>
          <p:nvPr/>
        </p:nvSpPr>
        <p:spPr>
          <a:xfrm>
            <a:off x="822960" y="2560320"/>
            <a:ext cx="182880" cy="228600"/>
          </a:xfrm>
          <a:prstGeom prst="rect">
            <a:avLst/>
          </a:prstGeom>
          <a:noFill/>
          <a:ln/>
        </p:spPr>
        <p:txBody>
          <a:bodyPr wrap="square" lIns="0" tIns="0" rIns="0" bIns="0" rtlCol="0" anchor="ctr"/>
          <a:lstStyle/>
          <a:p>
            <a:pPr marL="0" indent="0">
              <a:buNone/>
            </a:pPr>
            <a:r>
              <a:rPr lang="en-US" sz="1750" b="1" dirty="0">
                <a:solidFill>
                  <a:srgbClr val="2B6CB0"/>
                </a:solidFill>
              </a:rPr>
              <a:t>•</a:t>
            </a:r>
            <a:endParaRPr lang="en-US" sz="1750" dirty="0"/>
          </a:p>
        </p:txBody>
      </p:sp>
      <p:sp>
        <p:nvSpPr>
          <p:cNvPr id="11" name="Text 8"/>
          <p:cNvSpPr/>
          <p:nvPr/>
        </p:nvSpPr>
        <p:spPr>
          <a:xfrm>
            <a:off x="1097280" y="2542032"/>
            <a:ext cx="4709160" cy="320040"/>
          </a:xfrm>
          <a:prstGeom prst="rect">
            <a:avLst/>
          </a:prstGeom>
          <a:noFill/>
          <a:ln/>
        </p:spPr>
        <p:txBody>
          <a:bodyPr wrap="square" lIns="254" tIns="254" rIns="254" bIns="254" rtlCol="0" anchor="ctr">
            <a:normAutofit fontScale="77500" lnSpcReduction="20000"/>
          </a:bodyPr>
          <a:lstStyle/>
          <a:p>
            <a:pPr marL="0" indent="0">
              <a:buNone/>
            </a:pPr>
            <a:r>
              <a:rPr lang="en-US" sz="1750" dirty="0">
                <a:solidFill>
                  <a:srgbClr val="17202A"/>
                </a:solidFill>
              </a:rPr>
              <a:t>AI-generated version with same topic and length constraint</a:t>
            </a:r>
            <a:endParaRPr lang="en-US" sz="1750" dirty="0"/>
          </a:p>
        </p:txBody>
      </p:sp>
      <p:sp>
        <p:nvSpPr>
          <p:cNvPr id="12" name="Text 9"/>
          <p:cNvSpPr/>
          <p:nvPr/>
        </p:nvSpPr>
        <p:spPr>
          <a:xfrm>
            <a:off x="822960" y="3090672"/>
            <a:ext cx="182880" cy="228600"/>
          </a:xfrm>
          <a:prstGeom prst="rect">
            <a:avLst/>
          </a:prstGeom>
          <a:noFill/>
          <a:ln/>
        </p:spPr>
        <p:txBody>
          <a:bodyPr wrap="square" lIns="0" tIns="0" rIns="0" bIns="0" rtlCol="0" anchor="ctr"/>
          <a:lstStyle/>
          <a:p>
            <a:pPr marL="0" indent="0">
              <a:buNone/>
            </a:pPr>
            <a:r>
              <a:rPr lang="en-US" sz="1750" b="1" dirty="0">
                <a:solidFill>
                  <a:srgbClr val="2B6CB0"/>
                </a:solidFill>
              </a:rPr>
              <a:t>•</a:t>
            </a:r>
            <a:endParaRPr lang="en-US" sz="1750" dirty="0"/>
          </a:p>
        </p:txBody>
      </p:sp>
      <p:sp>
        <p:nvSpPr>
          <p:cNvPr id="13" name="Text 10"/>
          <p:cNvSpPr/>
          <p:nvPr/>
        </p:nvSpPr>
        <p:spPr>
          <a:xfrm>
            <a:off x="1097280" y="3072384"/>
            <a:ext cx="4709160" cy="320040"/>
          </a:xfrm>
          <a:prstGeom prst="rect">
            <a:avLst/>
          </a:prstGeom>
          <a:noFill/>
          <a:ln/>
        </p:spPr>
        <p:txBody>
          <a:bodyPr wrap="square" lIns="254" tIns="254" rIns="254" bIns="254" rtlCol="0" anchor="ctr">
            <a:normAutofit/>
          </a:bodyPr>
          <a:lstStyle/>
          <a:p>
            <a:pPr marL="0" indent="0">
              <a:buNone/>
            </a:pPr>
            <a:r>
              <a:rPr lang="en-US" sz="1750" dirty="0">
                <a:solidFill>
                  <a:srgbClr val="17202A"/>
                </a:solidFill>
              </a:rPr>
              <a:t>Human-AI hybrid version using a fixed editing rule</a:t>
            </a:r>
            <a:endParaRPr lang="en-US" sz="1750" dirty="0"/>
          </a:p>
        </p:txBody>
      </p:sp>
      <p:sp>
        <p:nvSpPr>
          <p:cNvPr id="14" name="Text 11"/>
          <p:cNvSpPr/>
          <p:nvPr/>
        </p:nvSpPr>
        <p:spPr>
          <a:xfrm>
            <a:off x="822960" y="3621024"/>
            <a:ext cx="182880" cy="228600"/>
          </a:xfrm>
          <a:prstGeom prst="rect">
            <a:avLst/>
          </a:prstGeom>
          <a:noFill/>
          <a:ln/>
        </p:spPr>
        <p:txBody>
          <a:bodyPr wrap="square" lIns="0" tIns="0" rIns="0" bIns="0" rtlCol="0" anchor="ctr"/>
          <a:lstStyle/>
          <a:p>
            <a:pPr marL="0" indent="0">
              <a:buNone/>
            </a:pPr>
            <a:r>
              <a:rPr lang="en-US" sz="1750" b="1" dirty="0">
                <a:solidFill>
                  <a:srgbClr val="2B6CB0"/>
                </a:solidFill>
              </a:rPr>
              <a:t>•</a:t>
            </a:r>
            <a:endParaRPr lang="en-US" sz="1750" dirty="0"/>
          </a:p>
        </p:txBody>
      </p:sp>
      <p:sp>
        <p:nvSpPr>
          <p:cNvPr id="15" name="Text 12"/>
          <p:cNvSpPr/>
          <p:nvPr/>
        </p:nvSpPr>
        <p:spPr>
          <a:xfrm>
            <a:off x="1097280" y="3602736"/>
            <a:ext cx="4709160" cy="320040"/>
          </a:xfrm>
          <a:prstGeom prst="rect">
            <a:avLst/>
          </a:prstGeom>
          <a:noFill/>
          <a:ln/>
        </p:spPr>
        <p:txBody>
          <a:bodyPr wrap="square" lIns="254" tIns="254" rIns="254" bIns="254" rtlCol="0" anchor="ctr">
            <a:normAutofit fontScale="70000" lnSpcReduction="20000"/>
          </a:bodyPr>
          <a:lstStyle/>
          <a:p>
            <a:pPr marL="0" indent="0">
              <a:buNone/>
            </a:pPr>
            <a:r>
              <a:rPr lang="en-US" sz="1750" dirty="0">
                <a:solidFill>
                  <a:srgbClr val="17202A"/>
                </a:solidFill>
              </a:rPr>
              <a:t>Topics: school pressure, social media, language learning, memory</a:t>
            </a:r>
            <a:endParaRPr lang="en-US" sz="1750" dirty="0"/>
          </a:p>
        </p:txBody>
      </p:sp>
      <p:sp>
        <p:nvSpPr>
          <p:cNvPr id="16" name="Text 13"/>
          <p:cNvSpPr/>
          <p:nvPr/>
        </p:nvSpPr>
        <p:spPr>
          <a:xfrm>
            <a:off x="822960" y="4846320"/>
            <a:ext cx="5029200" cy="566928"/>
          </a:xfrm>
          <a:prstGeom prst="rect">
            <a:avLst/>
          </a:prstGeom>
          <a:noFill/>
          <a:ln/>
        </p:spPr>
        <p:txBody>
          <a:bodyPr wrap="square" lIns="0" tIns="0" rIns="0" bIns="0" rtlCol="0" anchor="ctr">
            <a:normAutofit lnSpcReduction="10000"/>
          </a:bodyPr>
          <a:lstStyle/>
          <a:p>
            <a:pPr marL="0" indent="0">
              <a:buNone/>
            </a:pPr>
            <a:r>
              <a:rPr lang="en-US" sz="1900" b="1" dirty="0">
                <a:solidFill>
                  <a:srgbClr val="2B6CB0"/>
                </a:solidFill>
              </a:rPr>
              <a:t>Why control matters: results should reflect linguistic style, not topic difficulty or length.</a:t>
            </a:r>
            <a:endParaRPr lang="en-US" sz="1900" dirty="0"/>
          </a:p>
        </p:txBody>
      </p:sp>
      <p:sp>
        <p:nvSpPr>
          <p:cNvPr id="17" name="Text 14"/>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4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4FF"/>
          </a:solidFill>
          <a:ln w="12700">
            <a:solidFill>
              <a:srgbClr val="EAF4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Experiment 1: AI-Authorship Judgment</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Measuring intuitive classification of text source</a:t>
            </a:r>
            <a:endParaRPr lang="en-US" sz="1450" dirty="0"/>
          </a:p>
        </p:txBody>
      </p:sp>
      <p:sp>
        <p:nvSpPr>
          <p:cNvPr id="6" name="Shape 4"/>
          <p:cNvSpPr/>
          <p:nvPr/>
        </p:nvSpPr>
        <p:spPr>
          <a:xfrm>
            <a:off x="777240" y="1417320"/>
            <a:ext cx="4709160" cy="2743200"/>
          </a:xfrm>
          <a:prstGeom prst="roundRect">
            <a:avLst>
              <a:gd name="adj" fmla="val 2667"/>
            </a:avLst>
          </a:prstGeom>
          <a:solidFill>
            <a:srgbClr val="FFFFFF">
              <a:alpha val="0"/>
            </a:srgbClr>
          </a:solidFill>
          <a:ln w="12700">
            <a:solidFill>
              <a:srgbClr val="CBD5E1">
                <a:alpha val="80000"/>
              </a:srgbClr>
            </a:solidFill>
            <a:prstDash val="solid"/>
          </a:ln>
        </p:spPr>
      </p:sp>
      <p:sp>
        <p:nvSpPr>
          <p:cNvPr id="7" name="Text 5"/>
          <p:cNvSpPr/>
          <p:nvPr/>
        </p:nvSpPr>
        <p:spPr>
          <a:xfrm>
            <a:off x="1005840" y="1600200"/>
            <a:ext cx="4251960" cy="274320"/>
          </a:xfrm>
          <a:prstGeom prst="rect">
            <a:avLst/>
          </a:prstGeom>
          <a:noFill/>
          <a:ln/>
        </p:spPr>
        <p:txBody>
          <a:bodyPr wrap="square" lIns="0" tIns="0" rIns="0" bIns="0" rtlCol="0" anchor="ctr"/>
          <a:lstStyle/>
          <a:p>
            <a:pPr marL="0" indent="0">
              <a:buNone/>
            </a:pPr>
            <a:r>
              <a:rPr lang="en-US" sz="1700" b="1" dirty="0">
                <a:solidFill>
                  <a:srgbClr val="2B6CB0"/>
                </a:solidFill>
              </a:rPr>
              <a:t>Task</a:t>
            </a:r>
            <a:endParaRPr lang="en-US" sz="1700" dirty="0"/>
          </a:p>
        </p:txBody>
      </p:sp>
      <p:sp>
        <p:nvSpPr>
          <p:cNvPr id="8" name="Text 6"/>
          <p:cNvSpPr/>
          <p:nvPr/>
        </p:nvSpPr>
        <p:spPr>
          <a:xfrm>
            <a:off x="1005840" y="2057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9" name="Text 7"/>
          <p:cNvSpPr/>
          <p:nvPr/>
        </p:nvSpPr>
        <p:spPr>
          <a:xfrm>
            <a:off x="1280160" y="2039112"/>
            <a:ext cx="397764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Read one English passage</a:t>
            </a:r>
            <a:endParaRPr lang="en-US" sz="1450" dirty="0"/>
          </a:p>
        </p:txBody>
      </p:sp>
      <p:sp>
        <p:nvSpPr>
          <p:cNvPr id="10" name="Text 8"/>
          <p:cNvSpPr/>
          <p:nvPr/>
        </p:nvSpPr>
        <p:spPr>
          <a:xfrm>
            <a:off x="1005840" y="242316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1" name="Text 9"/>
          <p:cNvSpPr/>
          <p:nvPr/>
        </p:nvSpPr>
        <p:spPr>
          <a:xfrm>
            <a:off x="1280160" y="2404872"/>
            <a:ext cx="3977640" cy="320040"/>
          </a:xfrm>
          <a:prstGeom prst="rect">
            <a:avLst/>
          </a:prstGeom>
          <a:noFill/>
          <a:ln/>
        </p:spPr>
        <p:txBody>
          <a:bodyPr wrap="square" lIns="254" tIns="254" rIns="254" bIns="254" rtlCol="0" anchor="ctr">
            <a:normAutofit fontScale="85000" lnSpcReduction="20000"/>
          </a:bodyPr>
          <a:lstStyle/>
          <a:p>
            <a:pPr marL="0" indent="0">
              <a:buNone/>
            </a:pPr>
            <a:r>
              <a:rPr lang="en-US" sz="1450" dirty="0">
                <a:solidFill>
                  <a:srgbClr val="17202A"/>
                </a:solidFill>
              </a:rPr>
              <a:t>Choose: human-written / AI-generated / human with AI editing / not sure</a:t>
            </a:r>
            <a:endParaRPr lang="en-US" sz="1450" dirty="0"/>
          </a:p>
        </p:txBody>
      </p:sp>
      <p:sp>
        <p:nvSpPr>
          <p:cNvPr id="12" name="Text 10"/>
          <p:cNvSpPr/>
          <p:nvPr/>
        </p:nvSpPr>
        <p:spPr>
          <a:xfrm>
            <a:off x="1005840" y="27889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3" name="Text 11"/>
          <p:cNvSpPr/>
          <p:nvPr/>
        </p:nvSpPr>
        <p:spPr>
          <a:xfrm>
            <a:off x="1280160" y="2770632"/>
            <a:ext cx="397764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Rate AI-likelihood from 1 to 5</a:t>
            </a:r>
            <a:endParaRPr lang="en-US" sz="1450" dirty="0"/>
          </a:p>
        </p:txBody>
      </p:sp>
      <p:sp>
        <p:nvSpPr>
          <p:cNvPr id="14" name="Shape 12"/>
          <p:cNvSpPr/>
          <p:nvPr/>
        </p:nvSpPr>
        <p:spPr>
          <a:xfrm>
            <a:off x="6675120" y="1417320"/>
            <a:ext cx="4526280" cy="2743200"/>
          </a:xfrm>
          <a:prstGeom prst="roundRect">
            <a:avLst>
              <a:gd name="adj" fmla="val 2667"/>
            </a:avLst>
          </a:prstGeom>
          <a:solidFill>
            <a:srgbClr val="FFFFFF">
              <a:alpha val="0"/>
            </a:srgbClr>
          </a:solidFill>
          <a:ln w="12700">
            <a:solidFill>
              <a:srgbClr val="CBD5E1">
                <a:alpha val="80000"/>
              </a:srgbClr>
            </a:solidFill>
            <a:prstDash val="solid"/>
          </a:ln>
        </p:spPr>
      </p:sp>
      <p:sp>
        <p:nvSpPr>
          <p:cNvPr id="15" name="Text 13"/>
          <p:cNvSpPr/>
          <p:nvPr/>
        </p:nvSpPr>
        <p:spPr>
          <a:xfrm>
            <a:off x="6903720" y="1600200"/>
            <a:ext cx="4069080" cy="274320"/>
          </a:xfrm>
          <a:prstGeom prst="rect">
            <a:avLst/>
          </a:prstGeom>
          <a:noFill/>
          <a:ln/>
        </p:spPr>
        <p:txBody>
          <a:bodyPr wrap="square" lIns="0" tIns="0" rIns="0" bIns="0" rtlCol="0" anchor="ctr"/>
          <a:lstStyle/>
          <a:p>
            <a:pPr marL="0" indent="0">
              <a:buNone/>
            </a:pPr>
            <a:r>
              <a:rPr lang="en-US" sz="1700" b="1" dirty="0">
                <a:solidFill>
                  <a:srgbClr val="127C56"/>
                </a:solidFill>
              </a:rPr>
              <a:t>Measures</a:t>
            </a:r>
            <a:endParaRPr lang="en-US" sz="1700" dirty="0"/>
          </a:p>
        </p:txBody>
      </p:sp>
      <p:sp>
        <p:nvSpPr>
          <p:cNvPr id="16" name="Text 14"/>
          <p:cNvSpPr/>
          <p:nvPr/>
        </p:nvSpPr>
        <p:spPr>
          <a:xfrm>
            <a:off x="6903720" y="2057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7" name="Text 15"/>
          <p:cNvSpPr/>
          <p:nvPr/>
        </p:nvSpPr>
        <p:spPr>
          <a:xfrm>
            <a:off x="7178040" y="2039112"/>
            <a:ext cx="379476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Judgment accuracy</a:t>
            </a:r>
            <a:endParaRPr lang="en-US" sz="1450" dirty="0"/>
          </a:p>
        </p:txBody>
      </p:sp>
      <p:sp>
        <p:nvSpPr>
          <p:cNvPr id="18" name="Text 16"/>
          <p:cNvSpPr/>
          <p:nvPr/>
        </p:nvSpPr>
        <p:spPr>
          <a:xfrm>
            <a:off x="6903720" y="242316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9" name="Text 17"/>
          <p:cNvSpPr/>
          <p:nvPr/>
        </p:nvSpPr>
        <p:spPr>
          <a:xfrm>
            <a:off x="7178040" y="2404872"/>
            <a:ext cx="379476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Misclassification rate</a:t>
            </a:r>
            <a:endParaRPr lang="en-US" sz="1450" dirty="0"/>
          </a:p>
        </p:txBody>
      </p:sp>
      <p:sp>
        <p:nvSpPr>
          <p:cNvPr id="20" name="Text 18"/>
          <p:cNvSpPr/>
          <p:nvPr/>
        </p:nvSpPr>
        <p:spPr>
          <a:xfrm>
            <a:off x="6903720" y="27889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1" name="Text 19"/>
          <p:cNvSpPr/>
          <p:nvPr/>
        </p:nvSpPr>
        <p:spPr>
          <a:xfrm>
            <a:off x="7178040" y="2770632"/>
            <a:ext cx="379476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Proportion judged as AI-generated</a:t>
            </a:r>
            <a:endParaRPr lang="en-US" sz="1450" dirty="0"/>
          </a:p>
        </p:txBody>
      </p:sp>
      <p:sp>
        <p:nvSpPr>
          <p:cNvPr id="22" name="Text 20"/>
          <p:cNvSpPr/>
          <p:nvPr/>
        </p:nvSpPr>
        <p:spPr>
          <a:xfrm>
            <a:off x="1097280" y="5166360"/>
            <a:ext cx="9875520" cy="457200"/>
          </a:xfrm>
          <a:prstGeom prst="rect">
            <a:avLst/>
          </a:prstGeom>
          <a:noFill/>
          <a:ln/>
        </p:spPr>
        <p:txBody>
          <a:bodyPr wrap="square" lIns="0" tIns="0" rIns="0" bIns="0" rtlCol="0" anchor="ctr">
            <a:normAutofit fontScale="85000" lnSpcReduction="10000"/>
          </a:bodyPr>
          <a:lstStyle/>
          <a:p>
            <a:pPr marL="0" indent="0" algn="ctr">
              <a:buNone/>
            </a:pPr>
            <a:r>
              <a:rPr lang="en-US" sz="2300" b="1" dirty="0">
                <a:solidFill>
                  <a:srgbClr val="16324F"/>
                </a:solidFill>
              </a:rPr>
              <a:t>Key question: Do readers identify true authorship, or classify texts by “AI-like” style?</a:t>
            </a:r>
            <a:endParaRPr lang="en-US" sz="2300" dirty="0"/>
          </a:p>
        </p:txBody>
      </p:sp>
      <p:sp>
        <p:nvSpPr>
          <p:cNvPr id="23" name="Text 21"/>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Experiment 2: Linguistic Cue Rating</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Turning “AI feeling” into measurable variables</a:t>
            </a:r>
            <a:endParaRPr lang="en-US" sz="1450" dirty="0"/>
          </a:p>
        </p:txBody>
      </p:sp>
      <p:sp>
        <p:nvSpPr>
          <p:cNvPr id="6" name="Text 4"/>
          <p:cNvSpPr/>
          <p:nvPr/>
        </p:nvSpPr>
        <p:spPr>
          <a:xfrm>
            <a:off x="777240" y="1371600"/>
            <a:ext cx="10698480" cy="320040"/>
          </a:xfrm>
          <a:prstGeom prst="rect">
            <a:avLst/>
          </a:prstGeom>
          <a:noFill/>
          <a:ln/>
        </p:spPr>
        <p:txBody>
          <a:bodyPr wrap="square" lIns="0" tIns="0" rIns="0" bIns="0" rtlCol="0" anchor="ctr"/>
          <a:lstStyle/>
          <a:p>
            <a:pPr marL="0" indent="0">
              <a:buNone/>
            </a:pPr>
            <a:r>
              <a:rPr lang="en-US" sz="2100" b="1" dirty="0">
                <a:solidFill>
                  <a:srgbClr val="16324F"/>
                </a:solidFill>
              </a:rPr>
              <a:t>Participants rate each passage on a 1–5 Likert scale.</a:t>
            </a:r>
            <a:endParaRPr lang="en-US" sz="2100" dirty="0"/>
          </a:p>
        </p:txBody>
      </p:sp>
      <p:sp>
        <p:nvSpPr>
          <p:cNvPr id="7" name="Text 5"/>
          <p:cNvSpPr/>
          <p:nvPr/>
        </p:nvSpPr>
        <p:spPr>
          <a:xfrm>
            <a:off x="822960" y="2057400"/>
            <a:ext cx="3291840" cy="274320"/>
          </a:xfrm>
          <a:prstGeom prst="rect">
            <a:avLst/>
          </a:prstGeom>
          <a:noFill/>
          <a:ln/>
        </p:spPr>
        <p:txBody>
          <a:bodyPr wrap="square" lIns="0" tIns="0" rIns="0" bIns="0" rtlCol="0" anchor="ctr"/>
          <a:lstStyle/>
          <a:p>
            <a:pPr marL="0" indent="0">
              <a:buNone/>
            </a:pPr>
            <a:r>
              <a:rPr lang="en-US" sz="1700" b="1" dirty="0">
                <a:solidFill>
                  <a:srgbClr val="2B6CB0"/>
                </a:solidFill>
              </a:rPr>
              <a:t>Fluency</a:t>
            </a:r>
            <a:endParaRPr lang="en-US" sz="1700" dirty="0"/>
          </a:p>
        </p:txBody>
      </p:sp>
      <p:sp>
        <p:nvSpPr>
          <p:cNvPr id="8" name="Text 6"/>
          <p:cNvSpPr/>
          <p:nvPr/>
        </p:nvSpPr>
        <p:spPr>
          <a:xfrm>
            <a:off x="822960" y="2377440"/>
            <a:ext cx="3291840" cy="274320"/>
          </a:xfrm>
          <a:prstGeom prst="rect">
            <a:avLst/>
          </a:prstGeom>
          <a:noFill/>
          <a:ln/>
        </p:spPr>
        <p:txBody>
          <a:bodyPr wrap="square" lIns="0" tIns="0" rIns="0" bIns="0" rtlCol="0" anchor="ctr">
            <a:normAutofit/>
          </a:bodyPr>
          <a:lstStyle/>
          <a:p>
            <a:pPr marL="0" indent="0">
              <a:buNone/>
            </a:pPr>
            <a:r>
              <a:rPr lang="en-US" sz="1350" dirty="0">
                <a:solidFill>
                  <a:srgbClr val="52616B"/>
                </a:solidFill>
              </a:rPr>
              <a:t>How smoothly does it read?</a:t>
            </a:r>
            <a:endParaRPr lang="en-US" sz="1350" dirty="0"/>
          </a:p>
        </p:txBody>
      </p:sp>
      <p:sp>
        <p:nvSpPr>
          <p:cNvPr id="9" name="Text 7"/>
          <p:cNvSpPr/>
          <p:nvPr/>
        </p:nvSpPr>
        <p:spPr>
          <a:xfrm>
            <a:off x="4526280" y="2057400"/>
            <a:ext cx="3291840" cy="274320"/>
          </a:xfrm>
          <a:prstGeom prst="rect">
            <a:avLst/>
          </a:prstGeom>
          <a:noFill/>
          <a:ln/>
        </p:spPr>
        <p:txBody>
          <a:bodyPr wrap="square" lIns="0" tIns="0" rIns="0" bIns="0" rtlCol="0" anchor="ctr"/>
          <a:lstStyle/>
          <a:p>
            <a:pPr marL="0" indent="0">
              <a:buNone/>
            </a:pPr>
            <a:r>
              <a:rPr lang="en-US" sz="1700" b="1" dirty="0">
                <a:solidFill>
                  <a:srgbClr val="2B6CB0"/>
                </a:solidFill>
              </a:rPr>
              <a:t>Structure</a:t>
            </a:r>
            <a:endParaRPr lang="en-US" sz="1700" dirty="0"/>
          </a:p>
        </p:txBody>
      </p:sp>
      <p:sp>
        <p:nvSpPr>
          <p:cNvPr id="10" name="Text 8"/>
          <p:cNvSpPr/>
          <p:nvPr/>
        </p:nvSpPr>
        <p:spPr>
          <a:xfrm>
            <a:off x="4526280" y="2377440"/>
            <a:ext cx="3291840" cy="274320"/>
          </a:xfrm>
          <a:prstGeom prst="rect">
            <a:avLst/>
          </a:prstGeom>
          <a:noFill/>
          <a:ln/>
        </p:spPr>
        <p:txBody>
          <a:bodyPr wrap="square" lIns="0" tIns="0" rIns="0" bIns="0" rtlCol="0" anchor="ctr">
            <a:normAutofit/>
          </a:bodyPr>
          <a:lstStyle/>
          <a:p>
            <a:pPr marL="0" indent="0">
              <a:buNone/>
            </a:pPr>
            <a:r>
              <a:rPr lang="en-US" sz="1350" dirty="0">
                <a:solidFill>
                  <a:srgbClr val="52616B"/>
                </a:solidFill>
              </a:rPr>
              <a:t>How predictable is the organization?</a:t>
            </a:r>
            <a:endParaRPr lang="en-US" sz="1350" dirty="0"/>
          </a:p>
        </p:txBody>
      </p:sp>
      <p:sp>
        <p:nvSpPr>
          <p:cNvPr id="11" name="Text 9"/>
          <p:cNvSpPr/>
          <p:nvPr/>
        </p:nvSpPr>
        <p:spPr>
          <a:xfrm>
            <a:off x="8229600" y="2057400"/>
            <a:ext cx="3291840" cy="274320"/>
          </a:xfrm>
          <a:prstGeom prst="rect">
            <a:avLst/>
          </a:prstGeom>
          <a:noFill/>
          <a:ln/>
        </p:spPr>
        <p:txBody>
          <a:bodyPr wrap="square" lIns="0" tIns="0" rIns="0" bIns="0" rtlCol="0" anchor="ctr"/>
          <a:lstStyle/>
          <a:p>
            <a:pPr marL="0" indent="0">
              <a:buNone/>
            </a:pPr>
            <a:r>
              <a:rPr lang="en-US" sz="1700" b="1" dirty="0">
                <a:solidFill>
                  <a:srgbClr val="2B6CB0"/>
                </a:solidFill>
              </a:rPr>
              <a:t>Clarity</a:t>
            </a:r>
            <a:endParaRPr lang="en-US" sz="1700" dirty="0"/>
          </a:p>
        </p:txBody>
      </p:sp>
      <p:sp>
        <p:nvSpPr>
          <p:cNvPr id="12" name="Text 10"/>
          <p:cNvSpPr/>
          <p:nvPr/>
        </p:nvSpPr>
        <p:spPr>
          <a:xfrm>
            <a:off x="8229600" y="2377440"/>
            <a:ext cx="3291840" cy="274320"/>
          </a:xfrm>
          <a:prstGeom prst="rect">
            <a:avLst/>
          </a:prstGeom>
          <a:noFill/>
          <a:ln/>
        </p:spPr>
        <p:txBody>
          <a:bodyPr wrap="square" lIns="0" tIns="0" rIns="0" bIns="0" rtlCol="0" anchor="ctr">
            <a:normAutofit/>
          </a:bodyPr>
          <a:lstStyle/>
          <a:p>
            <a:pPr marL="0" indent="0">
              <a:buNone/>
            </a:pPr>
            <a:r>
              <a:rPr lang="en-US" sz="1350" dirty="0">
                <a:solidFill>
                  <a:srgbClr val="52616B"/>
                </a:solidFill>
              </a:rPr>
              <a:t>How easy is it to understand?</a:t>
            </a:r>
            <a:endParaRPr lang="en-US" sz="1350" dirty="0"/>
          </a:p>
        </p:txBody>
      </p:sp>
      <p:sp>
        <p:nvSpPr>
          <p:cNvPr id="13" name="Text 11"/>
          <p:cNvSpPr/>
          <p:nvPr/>
        </p:nvSpPr>
        <p:spPr>
          <a:xfrm>
            <a:off x="822960" y="3063240"/>
            <a:ext cx="3291840" cy="274320"/>
          </a:xfrm>
          <a:prstGeom prst="rect">
            <a:avLst/>
          </a:prstGeom>
          <a:noFill/>
          <a:ln/>
        </p:spPr>
        <p:txBody>
          <a:bodyPr wrap="square" lIns="0" tIns="0" rIns="0" bIns="0" rtlCol="0" anchor="ctr"/>
          <a:lstStyle/>
          <a:p>
            <a:pPr marL="0" indent="0">
              <a:buNone/>
            </a:pPr>
            <a:r>
              <a:rPr lang="en-US" sz="1700" b="1" dirty="0">
                <a:solidFill>
                  <a:srgbClr val="2B6CB0"/>
                </a:solidFill>
              </a:rPr>
              <a:t>Emotion</a:t>
            </a:r>
            <a:endParaRPr lang="en-US" sz="1700" dirty="0"/>
          </a:p>
        </p:txBody>
      </p:sp>
      <p:sp>
        <p:nvSpPr>
          <p:cNvPr id="14" name="Text 12"/>
          <p:cNvSpPr/>
          <p:nvPr/>
        </p:nvSpPr>
        <p:spPr>
          <a:xfrm>
            <a:off x="822960" y="3383280"/>
            <a:ext cx="3291840" cy="274320"/>
          </a:xfrm>
          <a:prstGeom prst="rect">
            <a:avLst/>
          </a:prstGeom>
          <a:noFill/>
          <a:ln/>
        </p:spPr>
        <p:txBody>
          <a:bodyPr wrap="square" lIns="0" tIns="0" rIns="0" bIns="0" rtlCol="0" anchor="ctr">
            <a:normAutofit/>
          </a:bodyPr>
          <a:lstStyle/>
          <a:p>
            <a:pPr marL="0" indent="0">
              <a:buNone/>
            </a:pPr>
            <a:r>
              <a:rPr lang="en-US" sz="1350" dirty="0">
                <a:solidFill>
                  <a:srgbClr val="52616B"/>
                </a:solidFill>
              </a:rPr>
              <a:t>Does it express feeling?</a:t>
            </a:r>
            <a:endParaRPr lang="en-US" sz="1350" dirty="0"/>
          </a:p>
        </p:txBody>
      </p:sp>
      <p:sp>
        <p:nvSpPr>
          <p:cNvPr id="15" name="Text 13"/>
          <p:cNvSpPr/>
          <p:nvPr/>
        </p:nvSpPr>
        <p:spPr>
          <a:xfrm>
            <a:off x="4526280" y="3063240"/>
            <a:ext cx="3291840" cy="274320"/>
          </a:xfrm>
          <a:prstGeom prst="rect">
            <a:avLst/>
          </a:prstGeom>
          <a:noFill/>
          <a:ln/>
        </p:spPr>
        <p:txBody>
          <a:bodyPr wrap="square" lIns="0" tIns="0" rIns="0" bIns="0" rtlCol="0" anchor="ctr"/>
          <a:lstStyle/>
          <a:p>
            <a:pPr marL="0" indent="0">
              <a:buNone/>
            </a:pPr>
            <a:r>
              <a:rPr lang="en-US" sz="1700" b="1" dirty="0">
                <a:solidFill>
                  <a:srgbClr val="2B6CB0"/>
                </a:solidFill>
              </a:rPr>
              <a:t>Personal voice</a:t>
            </a:r>
            <a:endParaRPr lang="en-US" sz="1700" dirty="0"/>
          </a:p>
        </p:txBody>
      </p:sp>
      <p:sp>
        <p:nvSpPr>
          <p:cNvPr id="16" name="Text 14"/>
          <p:cNvSpPr/>
          <p:nvPr/>
        </p:nvSpPr>
        <p:spPr>
          <a:xfrm>
            <a:off x="4526280" y="3383280"/>
            <a:ext cx="3291840" cy="274320"/>
          </a:xfrm>
          <a:prstGeom prst="rect">
            <a:avLst/>
          </a:prstGeom>
          <a:noFill/>
          <a:ln/>
        </p:spPr>
        <p:txBody>
          <a:bodyPr wrap="square" lIns="0" tIns="0" rIns="0" bIns="0" rtlCol="0" anchor="ctr">
            <a:normAutofit/>
          </a:bodyPr>
          <a:lstStyle/>
          <a:p>
            <a:pPr marL="0" indent="0">
              <a:buNone/>
            </a:pPr>
            <a:r>
              <a:rPr lang="en-US" sz="1350" dirty="0">
                <a:solidFill>
                  <a:srgbClr val="52616B"/>
                </a:solidFill>
              </a:rPr>
              <a:t>Does it sound like a real writer?</a:t>
            </a:r>
            <a:endParaRPr lang="en-US" sz="1350" dirty="0"/>
          </a:p>
        </p:txBody>
      </p:sp>
      <p:sp>
        <p:nvSpPr>
          <p:cNvPr id="17" name="Text 15"/>
          <p:cNvSpPr/>
          <p:nvPr/>
        </p:nvSpPr>
        <p:spPr>
          <a:xfrm>
            <a:off x="8229600" y="3063240"/>
            <a:ext cx="3291840" cy="274320"/>
          </a:xfrm>
          <a:prstGeom prst="rect">
            <a:avLst/>
          </a:prstGeom>
          <a:noFill/>
          <a:ln/>
        </p:spPr>
        <p:txBody>
          <a:bodyPr wrap="square" lIns="0" tIns="0" rIns="0" bIns="0" rtlCol="0" anchor="ctr"/>
          <a:lstStyle/>
          <a:p>
            <a:pPr marL="0" indent="0">
              <a:buNone/>
            </a:pPr>
            <a:r>
              <a:rPr lang="en-US" sz="1700" b="1" dirty="0">
                <a:solidFill>
                  <a:srgbClr val="2B6CB0"/>
                </a:solidFill>
              </a:rPr>
              <a:t>Genericness</a:t>
            </a:r>
            <a:endParaRPr lang="en-US" sz="1700" dirty="0"/>
          </a:p>
        </p:txBody>
      </p:sp>
      <p:sp>
        <p:nvSpPr>
          <p:cNvPr id="18" name="Text 16"/>
          <p:cNvSpPr/>
          <p:nvPr/>
        </p:nvSpPr>
        <p:spPr>
          <a:xfrm>
            <a:off x="8229600" y="3383280"/>
            <a:ext cx="3291840" cy="274320"/>
          </a:xfrm>
          <a:prstGeom prst="rect">
            <a:avLst/>
          </a:prstGeom>
          <a:noFill/>
          <a:ln/>
        </p:spPr>
        <p:txBody>
          <a:bodyPr wrap="square" lIns="0" tIns="0" rIns="0" bIns="0" rtlCol="0" anchor="ctr">
            <a:normAutofit/>
          </a:bodyPr>
          <a:lstStyle/>
          <a:p>
            <a:pPr marL="0" indent="0">
              <a:buNone/>
            </a:pPr>
            <a:r>
              <a:rPr lang="en-US" sz="1350" dirty="0">
                <a:solidFill>
                  <a:srgbClr val="52616B"/>
                </a:solidFill>
              </a:rPr>
              <a:t>Does it feel template-like?</a:t>
            </a:r>
            <a:endParaRPr lang="en-US" sz="1350" dirty="0"/>
          </a:p>
        </p:txBody>
      </p:sp>
      <p:sp>
        <p:nvSpPr>
          <p:cNvPr id="19" name="Text 17"/>
          <p:cNvSpPr/>
          <p:nvPr/>
        </p:nvSpPr>
        <p:spPr>
          <a:xfrm>
            <a:off x="822960" y="4069080"/>
            <a:ext cx="3291840" cy="274320"/>
          </a:xfrm>
          <a:prstGeom prst="rect">
            <a:avLst/>
          </a:prstGeom>
          <a:noFill/>
          <a:ln/>
        </p:spPr>
        <p:txBody>
          <a:bodyPr wrap="square" lIns="0" tIns="0" rIns="0" bIns="0" rtlCol="0" anchor="ctr"/>
          <a:lstStyle/>
          <a:p>
            <a:pPr marL="0" indent="0">
              <a:buNone/>
            </a:pPr>
            <a:r>
              <a:rPr lang="en-US" sz="1700" b="1" dirty="0">
                <a:solidFill>
                  <a:srgbClr val="2B6CB0"/>
                </a:solidFill>
              </a:rPr>
              <a:t>Naturalness</a:t>
            </a:r>
            <a:endParaRPr lang="en-US" sz="1700" dirty="0"/>
          </a:p>
        </p:txBody>
      </p:sp>
      <p:sp>
        <p:nvSpPr>
          <p:cNvPr id="20" name="Text 18"/>
          <p:cNvSpPr/>
          <p:nvPr/>
        </p:nvSpPr>
        <p:spPr>
          <a:xfrm>
            <a:off x="822960" y="4389120"/>
            <a:ext cx="3291840" cy="274320"/>
          </a:xfrm>
          <a:prstGeom prst="rect">
            <a:avLst/>
          </a:prstGeom>
          <a:noFill/>
          <a:ln/>
        </p:spPr>
        <p:txBody>
          <a:bodyPr wrap="square" lIns="0" tIns="0" rIns="0" bIns="0" rtlCol="0" anchor="ctr">
            <a:normAutofit/>
          </a:bodyPr>
          <a:lstStyle/>
          <a:p>
            <a:pPr marL="0" indent="0">
              <a:buNone/>
            </a:pPr>
            <a:r>
              <a:rPr lang="en-US" sz="1350" dirty="0">
                <a:solidFill>
                  <a:srgbClr val="52616B"/>
                </a:solidFill>
              </a:rPr>
              <a:t>Does it sound natural?</a:t>
            </a:r>
            <a:endParaRPr lang="en-US" sz="1350" dirty="0"/>
          </a:p>
        </p:txBody>
      </p:sp>
      <p:sp>
        <p:nvSpPr>
          <p:cNvPr id="21" name="Text 19"/>
          <p:cNvSpPr/>
          <p:nvPr/>
        </p:nvSpPr>
        <p:spPr>
          <a:xfrm>
            <a:off x="914400" y="5394960"/>
            <a:ext cx="10332720" cy="457200"/>
          </a:xfrm>
          <a:prstGeom prst="rect">
            <a:avLst/>
          </a:prstGeom>
          <a:noFill/>
          <a:ln/>
        </p:spPr>
        <p:txBody>
          <a:bodyPr wrap="square" lIns="0" tIns="0" rIns="0" bIns="0" rtlCol="0" anchor="ctr">
            <a:normAutofit fontScale="85000" lnSpcReduction="20000"/>
          </a:bodyPr>
          <a:lstStyle/>
          <a:p>
            <a:pPr marL="0" indent="0" algn="ctr">
              <a:buNone/>
            </a:pPr>
            <a:r>
              <a:rPr lang="en-US" sz="2000" b="1" dirty="0">
                <a:solidFill>
                  <a:srgbClr val="16324F"/>
                </a:solidFill>
              </a:rPr>
              <a:t>Analysis: correlate cue ratings with AI-likelihood ratings to identify which cues drive AI-authorship perception.</a:t>
            </a:r>
            <a:endParaRPr lang="en-US" sz="2000" dirty="0"/>
          </a:p>
        </p:txBody>
      </p:sp>
      <p:sp>
        <p:nvSpPr>
          <p:cNvPr id="22" name="Text 20"/>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Experiment 3: L2 Text Memory Task</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Testing second-language encoding and working memory</a:t>
            </a:r>
            <a:endParaRPr lang="en-US" sz="1450" dirty="0"/>
          </a:p>
        </p:txBody>
      </p:sp>
      <p:sp>
        <p:nvSpPr>
          <p:cNvPr id="6" name="Shape 4"/>
          <p:cNvSpPr/>
          <p:nvPr/>
        </p:nvSpPr>
        <p:spPr>
          <a:xfrm>
            <a:off x="777240" y="1417320"/>
            <a:ext cx="3703320" cy="3383280"/>
          </a:xfrm>
          <a:prstGeom prst="roundRect">
            <a:avLst>
              <a:gd name="adj" fmla="val 2162"/>
            </a:avLst>
          </a:prstGeom>
          <a:solidFill>
            <a:srgbClr val="FFFFFF">
              <a:alpha val="0"/>
            </a:srgbClr>
          </a:solidFill>
          <a:ln w="12700">
            <a:solidFill>
              <a:srgbClr val="CBD5E1">
                <a:alpha val="80000"/>
              </a:srgbClr>
            </a:solidFill>
            <a:prstDash val="solid"/>
          </a:ln>
        </p:spPr>
      </p:sp>
      <p:sp>
        <p:nvSpPr>
          <p:cNvPr id="7" name="Text 5"/>
          <p:cNvSpPr/>
          <p:nvPr/>
        </p:nvSpPr>
        <p:spPr>
          <a:xfrm>
            <a:off x="1005840" y="1600200"/>
            <a:ext cx="3246120" cy="274320"/>
          </a:xfrm>
          <a:prstGeom prst="rect">
            <a:avLst/>
          </a:prstGeom>
          <a:noFill/>
          <a:ln/>
        </p:spPr>
        <p:txBody>
          <a:bodyPr wrap="square" lIns="0" tIns="0" rIns="0" bIns="0" rtlCol="0" anchor="ctr"/>
          <a:lstStyle/>
          <a:p>
            <a:pPr marL="0" indent="0">
              <a:buNone/>
            </a:pPr>
            <a:r>
              <a:rPr lang="en-US" sz="1700" b="1" dirty="0">
                <a:solidFill>
                  <a:srgbClr val="2B6CB0"/>
                </a:solidFill>
              </a:rPr>
              <a:t>Flow</a:t>
            </a:r>
            <a:endParaRPr lang="en-US" sz="1700" dirty="0"/>
          </a:p>
        </p:txBody>
      </p:sp>
      <p:sp>
        <p:nvSpPr>
          <p:cNvPr id="8" name="Text 6"/>
          <p:cNvSpPr/>
          <p:nvPr/>
        </p:nvSpPr>
        <p:spPr>
          <a:xfrm>
            <a:off x="1005840" y="2057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9" name="Text 7"/>
          <p:cNvSpPr/>
          <p:nvPr/>
        </p:nvSpPr>
        <p:spPr>
          <a:xfrm>
            <a:off x="1280160" y="2039112"/>
            <a:ext cx="297180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Read English passage</a:t>
            </a:r>
            <a:endParaRPr lang="en-US" sz="1450" dirty="0"/>
          </a:p>
        </p:txBody>
      </p:sp>
      <p:sp>
        <p:nvSpPr>
          <p:cNvPr id="10" name="Text 8"/>
          <p:cNvSpPr/>
          <p:nvPr/>
        </p:nvSpPr>
        <p:spPr>
          <a:xfrm>
            <a:off x="1005840" y="242316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1" name="Text 9"/>
          <p:cNvSpPr/>
          <p:nvPr/>
        </p:nvSpPr>
        <p:spPr>
          <a:xfrm>
            <a:off x="1280160" y="2404872"/>
            <a:ext cx="2971800" cy="320040"/>
          </a:xfrm>
          <a:prstGeom prst="rect">
            <a:avLst/>
          </a:prstGeom>
          <a:noFill/>
          <a:ln/>
        </p:spPr>
        <p:txBody>
          <a:bodyPr wrap="square" lIns="254" tIns="254" rIns="254" bIns="254" rtlCol="0" anchor="ctr">
            <a:normAutofit fontScale="92500"/>
          </a:bodyPr>
          <a:lstStyle/>
          <a:p>
            <a:pPr marL="0" indent="0">
              <a:buNone/>
            </a:pPr>
            <a:r>
              <a:rPr lang="en-US" sz="1450" dirty="0">
                <a:solidFill>
                  <a:srgbClr val="17202A"/>
                </a:solidFill>
              </a:rPr>
              <a:t>Short distractor task: odd/even judgment</a:t>
            </a:r>
            <a:endParaRPr lang="en-US" sz="1450" dirty="0"/>
          </a:p>
        </p:txBody>
      </p:sp>
      <p:sp>
        <p:nvSpPr>
          <p:cNvPr id="12" name="Text 10"/>
          <p:cNvSpPr/>
          <p:nvPr/>
        </p:nvSpPr>
        <p:spPr>
          <a:xfrm>
            <a:off x="1005840" y="27889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3" name="Text 11"/>
          <p:cNvSpPr/>
          <p:nvPr/>
        </p:nvSpPr>
        <p:spPr>
          <a:xfrm>
            <a:off x="1280160" y="2770632"/>
            <a:ext cx="297180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Sentence recognition</a:t>
            </a:r>
            <a:endParaRPr lang="en-US" sz="1450" dirty="0"/>
          </a:p>
        </p:txBody>
      </p:sp>
      <p:sp>
        <p:nvSpPr>
          <p:cNvPr id="14" name="Text 12"/>
          <p:cNvSpPr/>
          <p:nvPr/>
        </p:nvSpPr>
        <p:spPr>
          <a:xfrm>
            <a:off x="1005840" y="315468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5" name="Text 13"/>
          <p:cNvSpPr/>
          <p:nvPr/>
        </p:nvSpPr>
        <p:spPr>
          <a:xfrm>
            <a:off x="1280160" y="3136392"/>
            <a:ext cx="297180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Word-order reconstruction</a:t>
            </a:r>
            <a:endParaRPr lang="en-US" sz="1450" dirty="0"/>
          </a:p>
        </p:txBody>
      </p:sp>
      <p:sp>
        <p:nvSpPr>
          <p:cNvPr id="16" name="Shape 14"/>
          <p:cNvSpPr/>
          <p:nvPr/>
        </p:nvSpPr>
        <p:spPr>
          <a:xfrm>
            <a:off x="4480560" y="1417320"/>
            <a:ext cx="3017520" cy="3383280"/>
          </a:xfrm>
          <a:prstGeom prst="roundRect">
            <a:avLst>
              <a:gd name="adj" fmla="val 2424"/>
            </a:avLst>
          </a:prstGeom>
          <a:solidFill>
            <a:srgbClr val="FFFFFF">
              <a:alpha val="0"/>
            </a:srgbClr>
          </a:solidFill>
          <a:ln w="12700">
            <a:solidFill>
              <a:srgbClr val="CBD5E1">
                <a:alpha val="80000"/>
              </a:srgbClr>
            </a:solidFill>
            <a:prstDash val="solid"/>
          </a:ln>
        </p:spPr>
      </p:sp>
      <p:sp>
        <p:nvSpPr>
          <p:cNvPr id="17" name="Text 15"/>
          <p:cNvSpPr/>
          <p:nvPr/>
        </p:nvSpPr>
        <p:spPr>
          <a:xfrm>
            <a:off x="4709160" y="1600200"/>
            <a:ext cx="2560320" cy="274320"/>
          </a:xfrm>
          <a:prstGeom prst="rect">
            <a:avLst/>
          </a:prstGeom>
          <a:noFill/>
          <a:ln/>
        </p:spPr>
        <p:txBody>
          <a:bodyPr wrap="square" lIns="0" tIns="0" rIns="0" bIns="0" rtlCol="0" anchor="ctr"/>
          <a:lstStyle/>
          <a:p>
            <a:pPr marL="0" indent="0">
              <a:buNone/>
            </a:pPr>
            <a:r>
              <a:rPr lang="en-US" sz="1700" b="1" dirty="0">
                <a:solidFill>
                  <a:srgbClr val="127C56"/>
                </a:solidFill>
              </a:rPr>
              <a:t>Measures</a:t>
            </a:r>
            <a:endParaRPr lang="en-US" sz="1700" dirty="0"/>
          </a:p>
        </p:txBody>
      </p:sp>
      <p:sp>
        <p:nvSpPr>
          <p:cNvPr id="18" name="Text 16"/>
          <p:cNvSpPr/>
          <p:nvPr/>
        </p:nvSpPr>
        <p:spPr>
          <a:xfrm>
            <a:off x="4709160" y="2057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9" name="Text 17"/>
          <p:cNvSpPr/>
          <p:nvPr/>
        </p:nvSpPr>
        <p:spPr>
          <a:xfrm>
            <a:off x="4983480" y="2039112"/>
            <a:ext cx="228600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Recognition accuracy</a:t>
            </a:r>
            <a:endParaRPr lang="en-US" sz="1450" dirty="0"/>
          </a:p>
        </p:txBody>
      </p:sp>
      <p:sp>
        <p:nvSpPr>
          <p:cNvPr id="20" name="Text 18"/>
          <p:cNvSpPr/>
          <p:nvPr/>
        </p:nvSpPr>
        <p:spPr>
          <a:xfrm>
            <a:off x="4709160" y="242316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1" name="Text 19"/>
          <p:cNvSpPr/>
          <p:nvPr/>
        </p:nvSpPr>
        <p:spPr>
          <a:xfrm>
            <a:off x="4983480" y="2404872"/>
            <a:ext cx="228600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Reconstruction accuracy</a:t>
            </a:r>
            <a:endParaRPr lang="en-US" sz="1450" dirty="0"/>
          </a:p>
        </p:txBody>
      </p:sp>
      <p:sp>
        <p:nvSpPr>
          <p:cNvPr id="22" name="Text 20"/>
          <p:cNvSpPr/>
          <p:nvPr/>
        </p:nvSpPr>
        <p:spPr>
          <a:xfrm>
            <a:off x="4709160" y="27889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3" name="Text 21"/>
          <p:cNvSpPr/>
          <p:nvPr/>
        </p:nvSpPr>
        <p:spPr>
          <a:xfrm>
            <a:off x="4983480" y="2770632"/>
            <a:ext cx="228600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Reaction time</a:t>
            </a:r>
            <a:endParaRPr lang="en-US" sz="1450" dirty="0"/>
          </a:p>
        </p:txBody>
      </p:sp>
      <p:sp>
        <p:nvSpPr>
          <p:cNvPr id="24" name="Shape 22"/>
          <p:cNvSpPr/>
          <p:nvPr/>
        </p:nvSpPr>
        <p:spPr>
          <a:xfrm>
            <a:off x="7498080" y="1417320"/>
            <a:ext cx="3977640" cy="3383280"/>
          </a:xfrm>
          <a:prstGeom prst="roundRect">
            <a:avLst>
              <a:gd name="adj" fmla="val 2162"/>
            </a:avLst>
          </a:prstGeom>
          <a:solidFill>
            <a:srgbClr val="FFFFFF">
              <a:alpha val="0"/>
            </a:srgbClr>
          </a:solidFill>
          <a:ln w="12700">
            <a:solidFill>
              <a:srgbClr val="CBD5E1">
                <a:alpha val="80000"/>
              </a:srgbClr>
            </a:solidFill>
            <a:prstDash val="solid"/>
          </a:ln>
        </p:spPr>
      </p:sp>
      <p:sp>
        <p:nvSpPr>
          <p:cNvPr id="25" name="Text 23"/>
          <p:cNvSpPr/>
          <p:nvPr/>
        </p:nvSpPr>
        <p:spPr>
          <a:xfrm>
            <a:off x="7726680" y="1600200"/>
            <a:ext cx="3520440" cy="274320"/>
          </a:xfrm>
          <a:prstGeom prst="rect">
            <a:avLst/>
          </a:prstGeom>
          <a:noFill/>
          <a:ln/>
        </p:spPr>
        <p:txBody>
          <a:bodyPr wrap="square" lIns="0" tIns="0" rIns="0" bIns="0" rtlCol="0" anchor="ctr"/>
          <a:lstStyle/>
          <a:p>
            <a:pPr marL="0" indent="0">
              <a:buNone/>
            </a:pPr>
            <a:r>
              <a:rPr lang="en-US" sz="1700" b="1" dirty="0">
                <a:solidFill>
                  <a:srgbClr val="B7791F"/>
                </a:solidFill>
              </a:rPr>
              <a:t>Psycholinguistic meaning</a:t>
            </a:r>
            <a:endParaRPr lang="en-US" sz="1700" dirty="0"/>
          </a:p>
        </p:txBody>
      </p:sp>
      <p:sp>
        <p:nvSpPr>
          <p:cNvPr id="26" name="Text 24"/>
          <p:cNvSpPr/>
          <p:nvPr/>
        </p:nvSpPr>
        <p:spPr>
          <a:xfrm>
            <a:off x="7726680" y="2057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7" name="Text 25"/>
          <p:cNvSpPr/>
          <p:nvPr/>
        </p:nvSpPr>
        <p:spPr>
          <a:xfrm>
            <a:off x="8001000" y="2039112"/>
            <a:ext cx="3246120" cy="320040"/>
          </a:xfrm>
          <a:prstGeom prst="rect">
            <a:avLst/>
          </a:prstGeom>
          <a:noFill/>
          <a:ln/>
        </p:spPr>
        <p:txBody>
          <a:bodyPr wrap="square" lIns="254" tIns="254" rIns="254" bIns="254" rtlCol="0" anchor="ctr">
            <a:normAutofit fontScale="85000" lnSpcReduction="20000"/>
          </a:bodyPr>
          <a:lstStyle/>
          <a:p>
            <a:pPr marL="0" indent="0">
              <a:buNone/>
            </a:pPr>
            <a:r>
              <a:rPr lang="en-US" sz="1450" dirty="0">
                <a:solidFill>
                  <a:srgbClr val="17202A"/>
                </a:solidFill>
              </a:rPr>
              <a:t>AI text may be structurally regular and easy to process</a:t>
            </a:r>
            <a:endParaRPr lang="en-US" sz="1450" dirty="0"/>
          </a:p>
        </p:txBody>
      </p:sp>
      <p:sp>
        <p:nvSpPr>
          <p:cNvPr id="28" name="Text 26"/>
          <p:cNvSpPr/>
          <p:nvPr/>
        </p:nvSpPr>
        <p:spPr>
          <a:xfrm>
            <a:off x="7726680" y="242316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29" name="Text 27"/>
          <p:cNvSpPr/>
          <p:nvPr/>
        </p:nvSpPr>
        <p:spPr>
          <a:xfrm>
            <a:off x="8001000" y="2404872"/>
            <a:ext cx="3246120" cy="320040"/>
          </a:xfrm>
          <a:prstGeom prst="rect">
            <a:avLst/>
          </a:prstGeom>
          <a:noFill/>
          <a:ln/>
        </p:spPr>
        <p:txBody>
          <a:bodyPr wrap="square" lIns="254" tIns="254" rIns="254" bIns="254" rtlCol="0" anchor="ctr">
            <a:normAutofit fontScale="85000" lnSpcReduction="20000"/>
          </a:bodyPr>
          <a:lstStyle/>
          <a:p>
            <a:pPr marL="0" indent="0">
              <a:buNone/>
            </a:pPr>
            <a:r>
              <a:rPr lang="en-US" sz="1450" dirty="0">
                <a:solidFill>
                  <a:srgbClr val="17202A"/>
                </a:solidFill>
              </a:rPr>
              <a:t>Human text may contain more distinctive, emotional, or personal cues</a:t>
            </a:r>
            <a:endParaRPr lang="en-US" sz="1450" dirty="0"/>
          </a:p>
        </p:txBody>
      </p:sp>
      <p:sp>
        <p:nvSpPr>
          <p:cNvPr id="30" name="Text 28"/>
          <p:cNvSpPr/>
          <p:nvPr/>
        </p:nvSpPr>
        <p:spPr>
          <a:xfrm>
            <a:off x="7726680" y="27889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31" name="Text 29"/>
          <p:cNvSpPr/>
          <p:nvPr/>
        </p:nvSpPr>
        <p:spPr>
          <a:xfrm>
            <a:off x="8001000" y="2770632"/>
            <a:ext cx="3246120" cy="320040"/>
          </a:xfrm>
          <a:prstGeom prst="rect">
            <a:avLst/>
          </a:prstGeom>
          <a:noFill/>
          <a:ln/>
        </p:spPr>
        <p:txBody>
          <a:bodyPr wrap="square" lIns="254" tIns="254" rIns="254" bIns="254" rtlCol="0" anchor="ctr">
            <a:normAutofit fontScale="85000" lnSpcReduction="20000"/>
          </a:bodyPr>
          <a:lstStyle/>
          <a:p>
            <a:pPr marL="0" indent="0">
              <a:buNone/>
            </a:pPr>
            <a:r>
              <a:rPr lang="en-US" sz="1450" dirty="0">
                <a:solidFill>
                  <a:srgbClr val="17202A"/>
                </a:solidFill>
              </a:rPr>
              <a:t>These differences may affect L2 memory encoding</a:t>
            </a:r>
            <a:endParaRPr lang="en-US" sz="1450" dirty="0"/>
          </a:p>
        </p:txBody>
      </p:sp>
      <p:sp>
        <p:nvSpPr>
          <p:cNvPr id="32" name="Text 30"/>
          <p:cNvSpPr/>
          <p:nvPr/>
        </p:nvSpPr>
        <p:spPr>
          <a:xfrm>
            <a:off x="914400" y="5440680"/>
            <a:ext cx="10332720" cy="411480"/>
          </a:xfrm>
          <a:prstGeom prst="rect">
            <a:avLst/>
          </a:prstGeom>
          <a:noFill/>
          <a:ln/>
        </p:spPr>
        <p:txBody>
          <a:bodyPr wrap="square" lIns="0" tIns="0" rIns="0" bIns="0" rtlCol="0" anchor="ctr"/>
          <a:lstStyle/>
          <a:p>
            <a:pPr marL="0" indent="0" algn="ctr">
              <a:buNone/>
            </a:pPr>
            <a:r>
              <a:rPr lang="en-US" sz="2050" b="1" dirty="0">
                <a:solidFill>
                  <a:srgbClr val="2B6CB0"/>
                </a:solidFill>
              </a:rPr>
              <a:t>This moves the project beyond “detection” into L2 reading, sentence processing, and memory.</a:t>
            </a:r>
            <a:endParaRPr lang="en-US" sz="2050" dirty="0"/>
          </a:p>
        </p:txBody>
      </p:sp>
      <p:sp>
        <p:nvSpPr>
          <p:cNvPr id="33" name="Text 31"/>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4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4FF"/>
          </a:solidFill>
          <a:ln w="12700">
            <a:solidFill>
              <a:srgbClr val="EAF4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Web Demo</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Suggested live demonstration point</a:t>
            </a:r>
            <a:endParaRPr lang="en-US" sz="1450" dirty="0"/>
          </a:p>
        </p:txBody>
      </p:sp>
      <p:sp>
        <p:nvSpPr>
          <p:cNvPr id="6" name="Text 4"/>
          <p:cNvSpPr/>
          <p:nvPr/>
        </p:nvSpPr>
        <p:spPr>
          <a:xfrm>
            <a:off x="777240" y="1325880"/>
            <a:ext cx="10698480" cy="411480"/>
          </a:xfrm>
          <a:prstGeom prst="rect">
            <a:avLst/>
          </a:prstGeom>
          <a:noFill/>
          <a:ln/>
        </p:spPr>
        <p:txBody>
          <a:bodyPr wrap="square" lIns="0" tIns="0" rIns="0" bIns="0" rtlCol="0" anchor="ctr"/>
          <a:lstStyle/>
          <a:p>
            <a:pPr marL="0" indent="0" algn="ctr">
              <a:buNone/>
            </a:pPr>
            <a:r>
              <a:rPr lang="en-US" sz="2800" b="1" dirty="0">
                <a:solidFill>
                  <a:srgbClr val="16324F"/>
                </a:solidFill>
              </a:rPr>
              <a:t>Show the demo here for 60–90 seconds.</a:t>
            </a:r>
            <a:endParaRPr lang="en-US" sz="2800" dirty="0"/>
          </a:p>
        </p:txBody>
      </p:sp>
      <p:sp>
        <p:nvSpPr>
          <p:cNvPr id="7" name="Shape 5"/>
          <p:cNvSpPr/>
          <p:nvPr/>
        </p:nvSpPr>
        <p:spPr>
          <a:xfrm>
            <a:off x="868680" y="2057400"/>
            <a:ext cx="4937760" cy="3108960"/>
          </a:xfrm>
          <a:prstGeom prst="roundRect">
            <a:avLst>
              <a:gd name="adj" fmla="val 2353"/>
            </a:avLst>
          </a:prstGeom>
          <a:solidFill>
            <a:srgbClr val="FFFFFF">
              <a:alpha val="0"/>
            </a:srgbClr>
          </a:solidFill>
          <a:ln w="12700">
            <a:solidFill>
              <a:srgbClr val="CBD5E1">
                <a:alpha val="80000"/>
              </a:srgbClr>
            </a:solidFill>
            <a:prstDash val="solid"/>
          </a:ln>
        </p:spPr>
      </p:sp>
      <p:sp>
        <p:nvSpPr>
          <p:cNvPr id="8" name="Text 6"/>
          <p:cNvSpPr/>
          <p:nvPr/>
        </p:nvSpPr>
        <p:spPr>
          <a:xfrm>
            <a:off x="1097280" y="2240280"/>
            <a:ext cx="4480560" cy="274320"/>
          </a:xfrm>
          <a:prstGeom prst="rect">
            <a:avLst/>
          </a:prstGeom>
          <a:noFill/>
          <a:ln/>
        </p:spPr>
        <p:txBody>
          <a:bodyPr wrap="square" lIns="0" tIns="0" rIns="0" bIns="0" rtlCol="0" anchor="ctr"/>
          <a:lstStyle/>
          <a:p>
            <a:pPr marL="0" indent="0">
              <a:buNone/>
            </a:pPr>
            <a:r>
              <a:rPr lang="en-US" sz="1700" b="1" dirty="0">
                <a:solidFill>
                  <a:srgbClr val="2B6CB0"/>
                </a:solidFill>
              </a:rPr>
              <a:t>What to show</a:t>
            </a:r>
            <a:endParaRPr lang="en-US" sz="1700" dirty="0"/>
          </a:p>
        </p:txBody>
      </p:sp>
      <p:sp>
        <p:nvSpPr>
          <p:cNvPr id="9" name="Text 7"/>
          <p:cNvSpPr/>
          <p:nvPr/>
        </p:nvSpPr>
        <p:spPr>
          <a:xfrm>
            <a:off x="1097280" y="269748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0" name="Text 8"/>
          <p:cNvSpPr/>
          <p:nvPr/>
        </p:nvSpPr>
        <p:spPr>
          <a:xfrm>
            <a:off x="1371600" y="2679192"/>
            <a:ext cx="420624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1. Background survey</a:t>
            </a:r>
            <a:endParaRPr lang="en-US" sz="1450" dirty="0"/>
          </a:p>
        </p:txBody>
      </p:sp>
      <p:sp>
        <p:nvSpPr>
          <p:cNvPr id="11" name="Text 9"/>
          <p:cNvSpPr/>
          <p:nvPr/>
        </p:nvSpPr>
        <p:spPr>
          <a:xfrm>
            <a:off x="1097280" y="306324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2" name="Text 10"/>
          <p:cNvSpPr/>
          <p:nvPr/>
        </p:nvSpPr>
        <p:spPr>
          <a:xfrm>
            <a:off x="1371600" y="3044952"/>
            <a:ext cx="420624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2. Reading page + timer</a:t>
            </a:r>
            <a:endParaRPr lang="en-US" sz="1450" dirty="0"/>
          </a:p>
        </p:txBody>
      </p:sp>
      <p:sp>
        <p:nvSpPr>
          <p:cNvPr id="13" name="Text 11"/>
          <p:cNvSpPr/>
          <p:nvPr/>
        </p:nvSpPr>
        <p:spPr>
          <a:xfrm>
            <a:off x="1097280" y="34290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4" name="Text 12"/>
          <p:cNvSpPr/>
          <p:nvPr/>
        </p:nvSpPr>
        <p:spPr>
          <a:xfrm>
            <a:off x="1371600" y="3410712"/>
            <a:ext cx="420624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3. Authorship judgment + cue rating</a:t>
            </a:r>
            <a:endParaRPr lang="en-US" sz="1450" dirty="0"/>
          </a:p>
        </p:txBody>
      </p:sp>
      <p:sp>
        <p:nvSpPr>
          <p:cNvPr id="15" name="Text 13"/>
          <p:cNvSpPr/>
          <p:nvPr/>
        </p:nvSpPr>
        <p:spPr>
          <a:xfrm>
            <a:off x="1097280" y="379476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6" name="Text 14"/>
          <p:cNvSpPr/>
          <p:nvPr/>
        </p:nvSpPr>
        <p:spPr>
          <a:xfrm>
            <a:off x="1371600" y="3776472"/>
            <a:ext cx="420624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4. Distractor task</a:t>
            </a:r>
            <a:endParaRPr lang="en-US" sz="1450" dirty="0"/>
          </a:p>
        </p:txBody>
      </p:sp>
      <p:sp>
        <p:nvSpPr>
          <p:cNvPr id="17" name="Text 15"/>
          <p:cNvSpPr/>
          <p:nvPr/>
        </p:nvSpPr>
        <p:spPr>
          <a:xfrm>
            <a:off x="1097280" y="416052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8" name="Text 16"/>
          <p:cNvSpPr/>
          <p:nvPr/>
        </p:nvSpPr>
        <p:spPr>
          <a:xfrm>
            <a:off x="1371600" y="4142232"/>
            <a:ext cx="4206240" cy="320040"/>
          </a:xfrm>
          <a:prstGeom prst="rect">
            <a:avLst/>
          </a:prstGeom>
          <a:noFill/>
          <a:ln/>
        </p:spPr>
        <p:txBody>
          <a:bodyPr wrap="square" lIns="254" tIns="254" rIns="254" bIns="254" rtlCol="0" anchor="ctr">
            <a:normAutofit/>
          </a:bodyPr>
          <a:lstStyle/>
          <a:p>
            <a:pPr marL="0" indent="0">
              <a:buNone/>
            </a:pPr>
            <a:r>
              <a:rPr lang="en-US" sz="1450" dirty="0">
                <a:solidFill>
                  <a:srgbClr val="17202A"/>
                </a:solidFill>
              </a:rPr>
              <a:t>5. L2 memory task + CSV export</a:t>
            </a:r>
            <a:endParaRPr lang="en-US" sz="1450" dirty="0"/>
          </a:p>
        </p:txBody>
      </p:sp>
      <p:pic>
        <p:nvPicPr>
          <p:cNvPr id="19" name="Image 0" descr="/mnt/data/a_high_resolution_wide_angle_modern_infographic.png"/>
          <p:cNvPicPr>
            <a:picLocks noChangeAspect="1"/>
          </p:cNvPicPr>
          <p:nvPr/>
        </p:nvPicPr>
        <p:blipFill>
          <a:blip r:embed="rId3"/>
          <a:srcRect l="9069" r="9069"/>
          <a:stretch/>
        </p:blipFill>
        <p:spPr>
          <a:xfrm>
            <a:off x="6172200" y="1828800"/>
            <a:ext cx="5120640" cy="3520440"/>
          </a:xfrm>
          <a:prstGeom prst="rect">
            <a:avLst/>
          </a:prstGeom>
        </p:spPr>
      </p:pic>
      <p:sp>
        <p:nvSpPr>
          <p:cNvPr id="20" name="Text 17"/>
          <p:cNvSpPr/>
          <p:nvPr/>
        </p:nvSpPr>
        <p:spPr>
          <a:xfrm>
            <a:off x="1051560" y="5623560"/>
            <a:ext cx="10058400" cy="365760"/>
          </a:xfrm>
          <a:prstGeom prst="rect">
            <a:avLst/>
          </a:prstGeom>
          <a:noFill/>
          <a:ln/>
        </p:spPr>
        <p:txBody>
          <a:bodyPr wrap="square" lIns="0" tIns="0" rIns="0" bIns="0" rtlCol="0" anchor="ctr"/>
          <a:lstStyle/>
          <a:p>
            <a:pPr marL="0" indent="0" algn="ctr">
              <a:buNone/>
            </a:pPr>
            <a:r>
              <a:rPr lang="en-US" sz="1850" b="1" dirty="0">
                <a:solidFill>
                  <a:srgbClr val="16324F"/>
                </a:solidFill>
              </a:rPr>
              <a:t>Purpose: demonstrate feasibility — the design can collect judgments, ratings, reading time, memory accuracy, and reaction time.</a:t>
            </a:r>
            <a:endParaRPr lang="en-US" sz="1850" dirty="0"/>
          </a:p>
        </p:txBody>
      </p:sp>
      <p:sp>
        <p:nvSpPr>
          <p:cNvPr id="21" name="Text 18"/>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Expected Results and Analysis</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Three levels of evidence</a:t>
            </a:r>
            <a:endParaRPr lang="en-US" sz="1450" dirty="0"/>
          </a:p>
        </p:txBody>
      </p:sp>
      <p:sp>
        <p:nvSpPr>
          <p:cNvPr id="6" name="Shape 4"/>
          <p:cNvSpPr/>
          <p:nvPr/>
        </p:nvSpPr>
        <p:spPr>
          <a:xfrm>
            <a:off x="731520" y="1417320"/>
            <a:ext cx="3520440" cy="1828800"/>
          </a:xfrm>
          <a:prstGeom prst="roundRect">
            <a:avLst>
              <a:gd name="adj" fmla="val 4000"/>
            </a:avLst>
          </a:prstGeom>
          <a:solidFill>
            <a:srgbClr val="FFFFFF">
              <a:alpha val="0"/>
            </a:srgbClr>
          </a:solidFill>
          <a:ln w="12700">
            <a:solidFill>
              <a:srgbClr val="CBD5E1">
                <a:alpha val="80000"/>
              </a:srgbClr>
            </a:solidFill>
            <a:prstDash val="solid"/>
          </a:ln>
        </p:spPr>
      </p:sp>
      <p:sp>
        <p:nvSpPr>
          <p:cNvPr id="7" name="Text 5"/>
          <p:cNvSpPr/>
          <p:nvPr/>
        </p:nvSpPr>
        <p:spPr>
          <a:xfrm>
            <a:off x="960120" y="1600200"/>
            <a:ext cx="3063240" cy="274320"/>
          </a:xfrm>
          <a:prstGeom prst="rect">
            <a:avLst/>
          </a:prstGeom>
          <a:noFill/>
          <a:ln/>
        </p:spPr>
        <p:txBody>
          <a:bodyPr wrap="square" lIns="0" tIns="0" rIns="0" bIns="0" rtlCol="0" anchor="ctr"/>
          <a:lstStyle/>
          <a:p>
            <a:pPr marL="0" indent="0">
              <a:buNone/>
            </a:pPr>
            <a:r>
              <a:rPr lang="en-US" sz="1700" b="1" dirty="0">
                <a:solidFill>
                  <a:srgbClr val="2B6CB0"/>
                </a:solidFill>
              </a:rPr>
              <a:t>Judgment pattern</a:t>
            </a:r>
            <a:endParaRPr lang="en-US" sz="1700" dirty="0"/>
          </a:p>
        </p:txBody>
      </p:sp>
      <p:sp>
        <p:nvSpPr>
          <p:cNvPr id="8" name="Text 6"/>
          <p:cNvSpPr/>
          <p:nvPr/>
        </p:nvSpPr>
        <p:spPr>
          <a:xfrm>
            <a:off x="960120" y="2057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9" name="Text 7"/>
          <p:cNvSpPr/>
          <p:nvPr/>
        </p:nvSpPr>
        <p:spPr>
          <a:xfrm>
            <a:off x="1234440" y="2039112"/>
            <a:ext cx="2788920" cy="320040"/>
          </a:xfrm>
          <a:prstGeom prst="rect">
            <a:avLst/>
          </a:prstGeom>
          <a:noFill/>
          <a:ln/>
        </p:spPr>
        <p:txBody>
          <a:bodyPr wrap="square" lIns="254" tIns="254" rIns="254" bIns="254" rtlCol="0" anchor="ctr">
            <a:normAutofit fontScale="77500" lnSpcReduction="20000"/>
          </a:bodyPr>
          <a:lstStyle/>
          <a:p>
            <a:pPr marL="0" indent="0">
              <a:buNone/>
            </a:pPr>
            <a:r>
              <a:rPr lang="en-US" sz="1450" dirty="0">
                <a:solidFill>
                  <a:srgbClr val="17202A"/>
                </a:solidFill>
              </a:rPr>
              <a:t>Fluent, regular, generic, emotionally neutral texts may be judged as AI-generated.</a:t>
            </a:r>
            <a:endParaRPr lang="en-US" sz="1450" dirty="0"/>
          </a:p>
        </p:txBody>
      </p:sp>
      <p:sp>
        <p:nvSpPr>
          <p:cNvPr id="10" name="Shape 8"/>
          <p:cNvSpPr/>
          <p:nvPr/>
        </p:nvSpPr>
        <p:spPr>
          <a:xfrm>
            <a:off x="4343400" y="1417320"/>
            <a:ext cx="3520440" cy="1828800"/>
          </a:xfrm>
          <a:prstGeom prst="roundRect">
            <a:avLst>
              <a:gd name="adj" fmla="val 4000"/>
            </a:avLst>
          </a:prstGeom>
          <a:solidFill>
            <a:srgbClr val="FFFFFF">
              <a:alpha val="0"/>
            </a:srgbClr>
          </a:solidFill>
          <a:ln w="12700">
            <a:solidFill>
              <a:srgbClr val="CBD5E1">
                <a:alpha val="80000"/>
              </a:srgbClr>
            </a:solidFill>
            <a:prstDash val="solid"/>
          </a:ln>
        </p:spPr>
      </p:sp>
      <p:sp>
        <p:nvSpPr>
          <p:cNvPr id="11" name="Text 9"/>
          <p:cNvSpPr/>
          <p:nvPr/>
        </p:nvSpPr>
        <p:spPr>
          <a:xfrm>
            <a:off x="4572000" y="1600200"/>
            <a:ext cx="3063240" cy="274320"/>
          </a:xfrm>
          <a:prstGeom prst="rect">
            <a:avLst/>
          </a:prstGeom>
          <a:noFill/>
          <a:ln/>
        </p:spPr>
        <p:txBody>
          <a:bodyPr wrap="square" lIns="0" tIns="0" rIns="0" bIns="0" rtlCol="0" anchor="ctr"/>
          <a:lstStyle/>
          <a:p>
            <a:pPr marL="0" indent="0">
              <a:buNone/>
            </a:pPr>
            <a:r>
              <a:rPr lang="en-US" sz="1700" b="1" dirty="0">
                <a:solidFill>
                  <a:srgbClr val="127C56"/>
                </a:solidFill>
              </a:rPr>
              <a:t>Cue mechanism</a:t>
            </a:r>
            <a:endParaRPr lang="en-US" sz="1700" dirty="0"/>
          </a:p>
        </p:txBody>
      </p:sp>
      <p:sp>
        <p:nvSpPr>
          <p:cNvPr id="12" name="Text 10"/>
          <p:cNvSpPr/>
          <p:nvPr/>
        </p:nvSpPr>
        <p:spPr>
          <a:xfrm>
            <a:off x="4572000" y="2057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3" name="Text 11"/>
          <p:cNvSpPr/>
          <p:nvPr/>
        </p:nvSpPr>
        <p:spPr>
          <a:xfrm>
            <a:off x="4846320" y="2039112"/>
            <a:ext cx="2788920" cy="320040"/>
          </a:xfrm>
          <a:prstGeom prst="rect">
            <a:avLst/>
          </a:prstGeom>
          <a:noFill/>
          <a:ln/>
        </p:spPr>
        <p:txBody>
          <a:bodyPr wrap="square" lIns="254" tIns="254" rIns="254" bIns="254" rtlCol="0" anchor="ctr">
            <a:normAutofit fontScale="70000" lnSpcReduction="20000"/>
          </a:bodyPr>
          <a:lstStyle/>
          <a:p>
            <a:pPr marL="0" indent="0">
              <a:buNone/>
            </a:pPr>
            <a:r>
              <a:rPr lang="en-US" sz="1450" dirty="0">
                <a:solidFill>
                  <a:srgbClr val="17202A"/>
                </a:solidFill>
              </a:rPr>
              <a:t>AI-likeness may correlate with structure and genericness, and negatively with personal voice.</a:t>
            </a:r>
            <a:endParaRPr lang="en-US" sz="1450" dirty="0"/>
          </a:p>
        </p:txBody>
      </p:sp>
      <p:sp>
        <p:nvSpPr>
          <p:cNvPr id="14" name="Shape 12"/>
          <p:cNvSpPr/>
          <p:nvPr/>
        </p:nvSpPr>
        <p:spPr>
          <a:xfrm>
            <a:off x="7955280" y="1417320"/>
            <a:ext cx="3520440" cy="1828800"/>
          </a:xfrm>
          <a:prstGeom prst="roundRect">
            <a:avLst>
              <a:gd name="adj" fmla="val 4000"/>
            </a:avLst>
          </a:prstGeom>
          <a:solidFill>
            <a:srgbClr val="FFFFFF">
              <a:alpha val="0"/>
            </a:srgbClr>
          </a:solidFill>
          <a:ln w="12700">
            <a:solidFill>
              <a:srgbClr val="CBD5E1">
                <a:alpha val="80000"/>
              </a:srgbClr>
            </a:solidFill>
            <a:prstDash val="solid"/>
          </a:ln>
        </p:spPr>
      </p:sp>
      <p:sp>
        <p:nvSpPr>
          <p:cNvPr id="15" name="Text 13"/>
          <p:cNvSpPr/>
          <p:nvPr/>
        </p:nvSpPr>
        <p:spPr>
          <a:xfrm>
            <a:off x="8183880" y="1600200"/>
            <a:ext cx="3063240" cy="274320"/>
          </a:xfrm>
          <a:prstGeom prst="rect">
            <a:avLst/>
          </a:prstGeom>
          <a:noFill/>
          <a:ln/>
        </p:spPr>
        <p:txBody>
          <a:bodyPr wrap="square" lIns="0" tIns="0" rIns="0" bIns="0" rtlCol="0" anchor="ctr"/>
          <a:lstStyle/>
          <a:p>
            <a:pPr marL="0" indent="0">
              <a:buNone/>
            </a:pPr>
            <a:r>
              <a:rPr lang="en-US" sz="1700" b="1" dirty="0">
                <a:solidFill>
                  <a:srgbClr val="B7791F"/>
                </a:solidFill>
              </a:rPr>
              <a:t>Memory outcome</a:t>
            </a:r>
            <a:endParaRPr lang="en-US" sz="1700" dirty="0"/>
          </a:p>
        </p:txBody>
      </p:sp>
      <p:sp>
        <p:nvSpPr>
          <p:cNvPr id="16" name="Text 14"/>
          <p:cNvSpPr/>
          <p:nvPr/>
        </p:nvSpPr>
        <p:spPr>
          <a:xfrm>
            <a:off x="8183880" y="2057400"/>
            <a:ext cx="182880" cy="228600"/>
          </a:xfrm>
          <a:prstGeom prst="rect">
            <a:avLst/>
          </a:prstGeom>
          <a:noFill/>
          <a:ln/>
        </p:spPr>
        <p:txBody>
          <a:bodyPr wrap="square" lIns="0" tIns="0" rIns="0" bIns="0" rtlCol="0" anchor="ctr"/>
          <a:lstStyle/>
          <a:p>
            <a:pPr marL="0" indent="0">
              <a:buNone/>
            </a:pPr>
            <a:r>
              <a:rPr lang="en-US" sz="1450" b="1" dirty="0">
                <a:solidFill>
                  <a:srgbClr val="2B6CB0"/>
                </a:solidFill>
              </a:rPr>
              <a:t>•</a:t>
            </a:r>
            <a:endParaRPr lang="en-US" sz="1450" dirty="0"/>
          </a:p>
        </p:txBody>
      </p:sp>
      <p:sp>
        <p:nvSpPr>
          <p:cNvPr id="17" name="Text 15"/>
          <p:cNvSpPr/>
          <p:nvPr/>
        </p:nvSpPr>
        <p:spPr>
          <a:xfrm>
            <a:off x="8458200" y="2039112"/>
            <a:ext cx="2788920" cy="320040"/>
          </a:xfrm>
          <a:prstGeom prst="rect">
            <a:avLst/>
          </a:prstGeom>
          <a:noFill/>
          <a:ln/>
        </p:spPr>
        <p:txBody>
          <a:bodyPr wrap="square" lIns="254" tIns="254" rIns="254" bIns="254" rtlCol="0" anchor="ctr">
            <a:normAutofit fontScale="62500" lnSpcReduction="20000"/>
          </a:bodyPr>
          <a:lstStyle/>
          <a:p>
            <a:pPr marL="0" indent="0">
              <a:buNone/>
            </a:pPr>
            <a:r>
              <a:rPr lang="en-US" sz="1450" dirty="0">
                <a:solidFill>
                  <a:srgbClr val="17202A"/>
                </a:solidFill>
              </a:rPr>
              <a:t>AI texts may be processed smoothly, but human texts may be remembered better if they carry distinctive cues.</a:t>
            </a:r>
            <a:endParaRPr lang="en-US" sz="1450" dirty="0"/>
          </a:p>
        </p:txBody>
      </p:sp>
      <p:sp>
        <p:nvSpPr>
          <p:cNvPr id="18" name="Text 16"/>
          <p:cNvSpPr/>
          <p:nvPr/>
        </p:nvSpPr>
        <p:spPr>
          <a:xfrm>
            <a:off x="777240" y="3840480"/>
            <a:ext cx="10607040" cy="320040"/>
          </a:xfrm>
          <a:prstGeom prst="rect">
            <a:avLst/>
          </a:prstGeom>
          <a:noFill/>
          <a:ln/>
        </p:spPr>
        <p:txBody>
          <a:bodyPr wrap="square" lIns="0" tIns="0" rIns="0" bIns="0" rtlCol="0" anchor="ctr"/>
          <a:lstStyle/>
          <a:p>
            <a:pPr marL="0" indent="0">
              <a:buNone/>
            </a:pPr>
            <a:r>
              <a:rPr lang="en-US" sz="2300" b="1" dirty="0">
                <a:solidFill>
                  <a:srgbClr val="16324F"/>
                </a:solidFill>
              </a:rPr>
              <a:t>Basic analysis plan</a:t>
            </a:r>
            <a:endParaRPr lang="en-US" sz="2300" dirty="0"/>
          </a:p>
        </p:txBody>
      </p:sp>
      <p:sp>
        <p:nvSpPr>
          <p:cNvPr id="19" name="Text 17"/>
          <p:cNvSpPr/>
          <p:nvPr/>
        </p:nvSpPr>
        <p:spPr>
          <a:xfrm>
            <a:off x="914400" y="4453128"/>
            <a:ext cx="182880" cy="228600"/>
          </a:xfrm>
          <a:prstGeom prst="rect">
            <a:avLst/>
          </a:prstGeom>
          <a:noFill/>
          <a:ln/>
        </p:spPr>
        <p:txBody>
          <a:bodyPr wrap="square" lIns="0" tIns="0" rIns="0" bIns="0" rtlCol="0" anchor="ctr"/>
          <a:lstStyle/>
          <a:p>
            <a:pPr marL="0" indent="0">
              <a:buNone/>
            </a:pPr>
            <a:r>
              <a:rPr lang="en-US" sz="1800" b="1" dirty="0">
                <a:solidFill>
                  <a:srgbClr val="2B6CB0"/>
                </a:solidFill>
              </a:rPr>
              <a:t>•</a:t>
            </a:r>
            <a:endParaRPr lang="en-US" sz="1800" dirty="0"/>
          </a:p>
        </p:txBody>
      </p:sp>
      <p:sp>
        <p:nvSpPr>
          <p:cNvPr id="20" name="Text 18"/>
          <p:cNvSpPr/>
          <p:nvPr/>
        </p:nvSpPr>
        <p:spPr>
          <a:xfrm>
            <a:off x="1188720" y="4434840"/>
            <a:ext cx="9966960" cy="320040"/>
          </a:xfrm>
          <a:prstGeom prst="rect">
            <a:avLst/>
          </a:prstGeom>
          <a:noFill/>
          <a:ln/>
        </p:spPr>
        <p:txBody>
          <a:bodyPr wrap="square" lIns="254" tIns="254" rIns="254" bIns="254" rtlCol="0" anchor="ctr">
            <a:normAutofit/>
          </a:bodyPr>
          <a:lstStyle/>
          <a:p>
            <a:pPr marL="0" indent="0">
              <a:buNone/>
            </a:pPr>
            <a:r>
              <a:rPr lang="en-US" sz="1800" dirty="0">
                <a:solidFill>
                  <a:srgbClr val="17202A"/>
                </a:solidFill>
              </a:rPr>
              <a:t>Compare AI-likelihood ratings by text type</a:t>
            </a:r>
            <a:endParaRPr lang="en-US" sz="1800" dirty="0"/>
          </a:p>
        </p:txBody>
      </p:sp>
      <p:sp>
        <p:nvSpPr>
          <p:cNvPr id="21" name="Text 19"/>
          <p:cNvSpPr/>
          <p:nvPr/>
        </p:nvSpPr>
        <p:spPr>
          <a:xfrm>
            <a:off x="914400" y="4956048"/>
            <a:ext cx="182880" cy="228600"/>
          </a:xfrm>
          <a:prstGeom prst="rect">
            <a:avLst/>
          </a:prstGeom>
          <a:noFill/>
          <a:ln/>
        </p:spPr>
        <p:txBody>
          <a:bodyPr wrap="square" lIns="0" tIns="0" rIns="0" bIns="0" rtlCol="0" anchor="ctr"/>
          <a:lstStyle/>
          <a:p>
            <a:pPr marL="0" indent="0">
              <a:buNone/>
            </a:pPr>
            <a:r>
              <a:rPr lang="en-US" sz="1800" b="1" dirty="0">
                <a:solidFill>
                  <a:srgbClr val="2B6CB0"/>
                </a:solidFill>
              </a:rPr>
              <a:t>•</a:t>
            </a:r>
            <a:endParaRPr lang="en-US" sz="1800" dirty="0"/>
          </a:p>
        </p:txBody>
      </p:sp>
      <p:sp>
        <p:nvSpPr>
          <p:cNvPr id="22" name="Text 20"/>
          <p:cNvSpPr/>
          <p:nvPr/>
        </p:nvSpPr>
        <p:spPr>
          <a:xfrm>
            <a:off x="1188720" y="4937760"/>
            <a:ext cx="9966960" cy="320040"/>
          </a:xfrm>
          <a:prstGeom prst="rect">
            <a:avLst/>
          </a:prstGeom>
          <a:noFill/>
          <a:ln/>
        </p:spPr>
        <p:txBody>
          <a:bodyPr wrap="square" lIns="254" tIns="254" rIns="254" bIns="254" rtlCol="0" anchor="ctr">
            <a:normAutofit/>
          </a:bodyPr>
          <a:lstStyle/>
          <a:p>
            <a:pPr marL="0" indent="0">
              <a:buNone/>
            </a:pPr>
            <a:r>
              <a:rPr lang="en-US" sz="1800" dirty="0">
                <a:solidFill>
                  <a:srgbClr val="17202A"/>
                </a:solidFill>
              </a:rPr>
              <a:t>Correlate linguistic cue ratings with authorship judgments</a:t>
            </a:r>
            <a:endParaRPr lang="en-US" sz="1800" dirty="0"/>
          </a:p>
        </p:txBody>
      </p:sp>
      <p:sp>
        <p:nvSpPr>
          <p:cNvPr id="23" name="Text 21"/>
          <p:cNvSpPr/>
          <p:nvPr/>
        </p:nvSpPr>
        <p:spPr>
          <a:xfrm>
            <a:off x="914400" y="5458968"/>
            <a:ext cx="182880" cy="228600"/>
          </a:xfrm>
          <a:prstGeom prst="rect">
            <a:avLst/>
          </a:prstGeom>
          <a:noFill/>
          <a:ln/>
        </p:spPr>
        <p:txBody>
          <a:bodyPr wrap="square" lIns="0" tIns="0" rIns="0" bIns="0" rtlCol="0" anchor="ctr"/>
          <a:lstStyle/>
          <a:p>
            <a:pPr marL="0" indent="0">
              <a:buNone/>
            </a:pPr>
            <a:r>
              <a:rPr lang="en-US" sz="1800" b="1" dirty="0">
                <a:solidFill>
                  <a:srgbClr val="2B6CB0"/>
                </a:solidFill>
              </a:rPr>
              <a:t>•</a:t>
            </a:r>
            <a:endParaRPr lang="en-US" sz="1800" dirty="0"/>
          </a:p>
        </p:txBody>
      </p:sp>
      <p:sp>
        <p:nvSpPr>
          <p:cNvPr id="24" name="Text 22"/>
          <p:cNvSpPr/>
          <p:nvPr/>
        </p:nvSpPr>
        <p:spPr>
          <a:xfrm>
            <a:off x="1188720" y="5440680"/>
            <a:ext cx="9966960" cy="320040"/>
          </a:xfrm>
          <a:prstGeom prst="rect">
            <a:avLst/>
          </a:prstGeom>
          <a:noFill/>
          <a:ln/>
        </p:spPr>
        <p:txBody>
          <a:bodyPr wrap="square" lIns="254" tIns="254" rIns="254" bIns="254" rtlCol="0" anchor="ctr">
            <a:normAutofit/>
          </a:bodyPr>
          <a:lstStyle/>
          <a:p>
            <a:pPr marL="0" indent="0">
              <a:buNone/>
            </a:pPr>
            <a:r>
              <a:rPr lang="en-US" sz="1800" dirty="0">
                <a:solidFill>
                  <a:srgbClr val="17202A"/>
                </a:solidFill>
              </a:rPr>
              <a:t>Compare recognition and reconstruction accuracy by text type</a:t>
            </a:r>
            <a:endParaRPr lang="en-US" sz="1800" dirty="0"/>
          </a:p>
        </p:txBody>
      </p:sp>
      <p:sp>
        <p:nvSpPr>
          <p:cNvPr id="25" name="Text 23"/>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9728"/>
          </a:xfrm>
          <a:prstGeom prst="rect">
            <a:avLst/>
          </a:prstGeom>
          <a:solidFill>
            <a:srgbClr val="2B6CB0"/>
          </a:solidFill>
          <a:ln w="12700">
            <a:solidFill>
              <a:srgbClr val="2B6CB0"/>
            </a:solidFill>
            <a:prstDash val="solid"/>
          </a:ln>
        </p:spPr>
      </p:sp>
      <p:sp>
        <p:nvSpPr>
          <p:cNvPr id="4" name="Text 2"/>
          <p:cNvSpPr/>
          <p:nvPr/>
        </p:nvSpPr>
        <p:spPr>
          <a:xfrm>
            <a:off x="594360" y="384048"/>
            <a:ext cx="5486400" cy="502920"/>
          </a:xfrm>
          <a:prstGeom prst="rect">
            <a:avLst/>
          </a:prstGeom>
          <a:noFill/>
          <a:ln/>
        </p:spPr>
        <p:txBody>
          <a:bodyPr wrap="square" lIns="0" tIns="0" rIns="0" bIns="0" rtlCol="0" anchor="ctr"/>
          <a:lstStyle/>
          <a:p>
            <a:pPr marL="0" indent="0">
              <a:buNone/>
            </a:pPr>
            <a:r>
              <a:rPr lang="en-US" sz="3000" b="1" dirty="0">
                <a:solidFill>
                  <a:srgbClr val="16324F"/>
                </a:solidFill>
                <a:latin typeface="Aptos Display" pitchFamily="34" charset="0"/>
                <a:ea typeface="Aptos Display" pitchFamily="34" charset="-122"/>
                <a:cs typeface="Aptos Display" pitchFamily="34" charset="-120"/>
              </a:rPr>
              <a:t>Conclusion and References</a:t>
            </a:r>
            <a:endParaRPr lang="en-US" sz="3000" dirty="0"/>
          </a:p>
        </p:txBody>
      </p:sp>
      <p:sp>
        <p:nvSpPr>
          <p:cNvPr id="5" name="Text 3"/>
          <p:cNvSpPr/>
          <p:nvPr/>
        </p:nvSpPr>
        <p:spPr>
          <a:xfrm>
            <a:off x="621792" y="941832"/>
            <a:ext cx="5577840" cy="310896"/>
          </a:xfrm>
          <a:prstGeom prst="rect">
            <a:avLst/>
          </a:prstGeom>
          <a:noFill/>
          <a:ln/>
        </p:spPr>
        <p:txBody>
          <a:bodyPr wrap="square" lIns="0" tIns="0" rIns="0" bIns="0" rtlCol="0" anchor="ctr"/>
          <a:lstStyle/>
          <a:p>
            <a:pPr marL="0" indent="0">
              <a:buNone/>
            </a:pPr>
            <a:r>
              <a:rPr lang="en-US" sz="1450" dirty="0">
                <a:solidFill>
                  <a:srgbClr val="52616B"/>
                </a:solidFill>
              </a:rPr>
              <a:t>Meeting the requirement: original idea + literature support + implementation</a:t>
            </a:r>
            <a:endParaRPr lang="en-US" sz="1450" dirty="0"/>
          </a:p>
        </p:txBody>
      </p:sp>
      <p:sp>
        <p:nvSpPr>
          <p:cNvPr id="6" name="Text 4"/>
          <p:cNvSpPr/>
          <p:nvPr/>
        </p:nvSpPr>
        <p:spPr>
          <a:xfrm>
            <a:off x="685800" y="1325880"/>
            <a:ext cx="3657600" cy="320040"/>
          </a:xfrm>
          <a:prstGeom prst="rect">
            <a:avLst/>
          </a:prstGeom>
          <a:noFill/>
          <a:ln/>
        </p:spPr>
        <p:txBody>
          <a:bodyPr wrap="square" lIns="0" tIns="0" rIns="0" bIns="0" rtlCol="0" anchor="ctr"/>
          <a:lstStyle/>
          <a:p>
            <a:pPr marL="0" indent="0">
              <a:buNone/>
            </a:pPr>
            <a:r>
              <a:rPr lang="en-US" sz="2200" b="1" dirty="0">
                <a:solidFill>
                  <a:srgbClr val="16324F"/>
                </a:solidFill>
              </a:rPr>
              <a:t>Conclusion</a:t>
            </a:r>
            <a:endParaRPr lang="en-US" sz="2200" dirty="0"/>
          </a:p>
        </p:txBody>
      </p:sp>
      <p:sp>
        <p:nvSpPr>
          <p:cNvPr id="7" name="Text 5"/>
          <p:cNvSpPr/>
          <p:nvPr/>
        </p:nvSpPr>
        <p:spPr>
          <a:xfrm>
            <a:off x="777240" y="1801368"/>
            <a:ext cx="182880" cy="228600"/>
          </a:xfrm>
          <a:prstGeom prst="rect">
            <a:avLst/>
          </a:prstGeom>
          <a:noFill/>
          <a:ln/>
        </p:spPr>
        <p:txBody>
          <a:bodyPr wrap="square" lIns="0" tIns="0" rIns="0" bIns="0" rtlCol="0" anchor="ctr"/>
          <a:lstStyle/>
          <a:p>
            <a:pPr marL="0" indent="0">
              <a:buNone/>
            </a:pPr>
            <a:r>
              <a:rPr lang="en-US" sz="1650" b="1" dirty="0">
                <a:solidFill>
                  <a:srgbClr val="2B6CB0"/>
                </a:solidFill>
              </a:rPr>
              <a:t>•</a:t>
            </a:r>
            <a:endParaRPr lang="en-US" sz="1650" dirty="0"/>
          </a:p>
        </p:txBody>
      </p:sp>
      <p:sp>
        <p:nvSpPr>
          <p:cNvPr id="8" name="Text 6"/>
          <p:cNvSpPr/>
          <p:nvPr/>
        </p:nvSpPr>
        <p:spPr>
          <a:xfrm>
            <a:off x="1051560" y="1783080"/>
            <a:ext cx="4892040" cy="320040"/>
          </a:xfrm>
          <a:prstGeom prst="rect">
            <a:avLst/>
          </a:prstGeom>
          <a:noFill/>
          <a:ln/>
        </p:spPr>
        <p:txBody>
          <a:bodyPr wrap="square" lIns="254" tIns="254" rIns="254" bIns="254" rtlCol="0" anchor="ctr">
            <a:normAutofit fontScale="85000" lnSpcReduction="10000"/>
          </a:bodyPr>
          <a:lstStyle/>
          <a:p>
            <a:pPr marL="0" indent="0">
              <a:buNone/>
            </a:pPr>
            <a:r>
              <a:rPr lang="en-US" sz="1650" dirty="0">
                <a:solidFill>
                  <a:srgbClr val="17202A"/>
                </a:solidFill>
              </a:rPr>
              <a:t>The project reframes AI writing as a psycholinguistic question.</a:t>
            </a:r>
            <a:endParaRPr lang="en-US" sz="1650" dirty="0"/>
          </a:p>
        </p:txBody>
      </p:sp>
      <p:sp>
        <p:nvSpPr>
          <p:cNvPr id="9" name="Text 7"/>
          <p:cNvSpPr/>
          <p:nvPr/>
        </p:nvSpPr>
        <p:spPr>
          <a:xfrm>
            <a:off x="777240" y="2258568"/>
            <a:ext cx="182880" cy="228600"/>
          </a:xfrm>
          <a:prstGeom prst="rect">
            <a:avLst/>
          </a:prstGeom>
          <a:noFill/>
          <a:ln/>
        </p:spPr>
        <p:txBody>
          <a:bodyPr wrap="square" lIns="0" tIns="0" rIns="0" bIns="0" rtlCol="0" anchor="ctr"/>
          <a:lstStyle/>
          <a:p>
            <a:pPr marL="0" indent="0">
              <a:buNone/>
            </a:pPr>
            <a:r>
              <a:rPr lang="en-US" sz="1650" b="1" dirty="0">
                <a:solidFill>
                  <a:srgbClr val="2B6CB0"/>
                </a:solidFill>
              </a:rPr>
              <a:t>•</a:t>
            </a:r>
            <a:endParaRPr lang="en-US" sz="1650" dirty="0"/>
          </a:p>
        </p:txBody>
      </p:sp>
      <p:sp>
        <p:nvSpPr>
          <p:cNvPr id="10" name="Text 8"/>
          <p:cNvSpPr/>
          <p:nvPr/>
        </p:nvSpPr>
        <p:spPr>
          <a:xfrm>
            <a:off x="1051560" y="2240280"/>
            <a:ext cx="4892040" cy="320040"/>
          </a:xfrm>
          <a:prstGeom prst="rect">
            <a:avLst/>
          </a:prstGeom>
          <a:noFill/>
          <a:ln/>
        </p:spPr>
        <p:txBody>
          <a:bodyPr wrap="square" lIns="254" tIns="254" rIns="254" bIns="254" rtlCol="0" anchor="ctr">
            <a:normAutofit fontScale="92500"/>
          </a:bodyPr>
          <a:lstStyle/>
          <a:p>
            <a:pPr marL="0" indent="0">
              <a:buNone/>
            </a:pPr>
            <a:r>
              <a:rPr lang="en-US" sz="1650" dirty="0">
                <a:solidFill>
                  <a:srgbClr val="17202A"/>
                </a:solidFill>
              </a:rPr>
              <a:t>It studies how readers infer authorship from linguistic cues.</a:t>
            </a:r>
            <a:endParaRPr lang="en-US" sz="1650" dirty="0"/>
          </a:p>
        </p:txBody>
      </p:sp>
      <p:sp>
        <p:nvSpPr>
          <p:cNvPr id="11" name="Text 9"/>
          <p:cNvSpPr/>
          <p:nvPr/>
        </p:nvSpPr>
        <p:spPr>
          <a:xfrm>
            <a:off x="777240" y="2715768"/>
            <a:ext cx="182880" cy="228600"/>
          </a:xfrm>
          <a:prstGeom prst="rect">
            <a:avLst/>
          </a:prstGeom>
          <a:noFill/>
          <a:ln/>
        </p:spPr>
        <p:txBody>
          <a:bodyPr wrap="square" lIns="0" tIns="0" rIns="0" bIns="0" rtlCol="0" anchor="ctr"/>
          <a:lstStyle/>
          <a:p>
            <a:pPr marL="0" indent="0">
              <a:buNone/>
            </a:pPr>
            <a:r>
              <a:rPr lang="en-US" sz="1650" b="1" dirty="0">
                <a:solidFill>
                  <a:srgbClr val="2B6CB0"/>
                </a:solidFill>
              </a:rPr>
              <a:t>•</a:t>
            </a:r>
            <a:endParaRPr lang="en-US" sz="1650" dirty="0"/>
          </a:p>
        </p:txBody>
      </p:sp>
      <p:sp>
        <p:nvSpPr>
          <p:cNvPr id="12" name="Text 10"/>
          <p:cNvSpPr/>
          <p:nvPr/>
        </p:nvSpPr>
        <p:spPr>
          <a:xfrm>
            <a:off x="1051560" y="2697480"/>
            <a:ext cx="4892040" cy="320040"/>
          </a:xfrm>
          <a:prstGeom prst="rect">
            <a:avLst/>
          </a:prstGeom>
          <a:noFill/>
          <a:ln/>
        </p:spPr>
        <p:txBody>
          <a:bodyPr wrap="square" lIns="254" tIns="254" rIns="254" bIns="254" rtlCol="0" anchor="ctr">
            <a:normAutofit fontScale="77500" lnSpcReduction="20000"/>
          </a:bodyPr>
          <a:lstStyle/>
          <a:p>
            <a:pPr marL="0" indent="0">
              <a:buNone/>
            </a:pPr>
            <a:r>
              <a:rPr lang="en-US" sz="1650" dirty="0">
                <a:solidFill>
                  <a:srgbClr val="17202A"/>
                </a:solidFill>
              </a:rPr>
              <a:t>It also tests whether AI vs human texts affect L2 memory encoding.</a:t>
            </a:r>
            <a:endParaRPr lang="en-US" sz="1650" dirty="0"/>
          </a:p>
        </p:txBody>
      </p:sp>
      <p:sp>
        <p:nvSpPr>
          <p:cNvPr id="13" name="Text 11"/>
          <p:cNvSpPr/>
          <p:nvPr/>
        </p:nvSpPr>
        <p:spPr>
          <a:xfrm>
            <a:off x="6217920" y="1325880"/>
            <a:ext cx="3657600" cy="320040"/>
          </a:xfrm>
          <a:prstGeom prst="rect">
            <a:avLst/>
          </a:prstGeom>
          <a:noFill/>
          <a:ln/>
        </p:spPr>
        <p:txBody>
          <a:bodyPr wrap="square" lIns="0" tIns="0" rIns="0" bIns="0" rtlCol="0" anchor="ctr"/>
          <a:lstStyle/>
          <a:p>
            <a:pPr marL="0" indent="0">
              <a:buNone/>
            </a:pPr>
            <a:r>
              <a:rPr lang="en-US" sz="2200" b="1" dirty="0">
                <a:solidFill>
                  <a:srgbClr val="16324F"/>
                </a:solidFill>
              </a:rPr>
              <a:t>Key references</a:t>
            </a:r>
            <a:endParaRPr lang="en-US" sz="2200" dirty="0"/>
          </a:p>
        </p:txBody>
      </p:sp>
      <p:sp>
        <p:nvSpPr>
          <p:cNvPr id="22" name="Text 20"/>
          <p:cNvSpPr/>
          <p:nvPr/>
        </p:nvSpPr>
        <p:spPr>
          <a:xfrm>
            <a:off x="914400" y="5440680"/>
            <a:ext cx="10378440" cy="411480"/>
          </a:xfrm>
          <a:prstGeom prst="rect">
            <a:avLst/>
          </a:prstGeom>
          <a:noFill/>
          <a:ln/>
        </p:spPr>
        <p:txBody>
          <a:bodyPr wrap="square" lIns="0" tIns="0" rIns="0" bIns="0" rtlCol="0" anchor="ctr"/>
          <a:lstStyle/>
          <a:p>
            <a:pPr marL="0" indent="0" algn="ctr">
              <a:buNone/>
            </a:pPr>
            <a:r>
              <a:rPr lang="en-US" sz="2100" b="1" dirty="0">
                <a:solidFill>
                  <a:srgbClr val="2B6CB0"/>
                </a:solidFill>
              </a:rPr>
              <a:t>Final logic: linguistic cues → authorship perception → L2 reading and memory performance</a:t>
            </a:r>
            <a:endParaRPr lang="en-US" sz="2100" dirty="0"/>
          </a:p>
        </p:txBody>
      </p:sp>
      <p:sp>
        <p:nvSpPr>
          <p:cNvPr id="23" name="Text 21"/>
          <p:cNvSpPr/>
          <p:nvPr/>
        </p:nvSpPr>
        <p:spPr>
          <a:xfrm>
            <a:off x="347472" y="6437376"/>
            <a:ext cx="457200" cy="182880"/>
          </a:xfrm>
          <a:prstGeom prst="rect">
            <a:avLst/>
          </a:prstGeom>
          <a:noFill/>
          <a:ln/>
        </p:spPr>
        <p:txBody>
          <a:bodyPr wrap="square" lIns="0" tIns="0" rIns="0" bIns="0" rtlCol="0" anchor="ctr"/>
          <a:lstStyle/>
          <a:p>
            <a:pPr marL="0" indent="0" algn="l">
              <a:buNone/>
            </a:pPr>
            <a:r>
              <a:rPr lang="en-US" sz="1000" dirty="0">
                <a:solidFill>
                  <a:srgbClr val="52616B"/>
                </a:solidFill>
              </a:rPr>
              <a:t>13</a:t>
            </a:r>
            <a:endParaRPr lang="en-US" sz="1000" dirty="0"/>
          </a:p>
        </p:txBody>
      </p:sp>
      <p:sp>
        <p:nvSpPr>
          <p:cNvPr id="25" name="Text 8">
            <a:extLst>
              <a:ext uri="{FF2B5EF4-FFF2-40B4-BE49-F238E27FC236}">
                <a16:creationId xmlns:a16="http://schemas.microsoft.com/office/drawing/2014/main" id="{18181FF8-67B2-2522-76B8-1C7EC6CE8D1C}"/>
              </a:ext>
            </a:extLst>
          </p:cNvPr>
          <p:cNvSpPr/>
          <p:nvPr/>
        </p:nvSpPr>
        <p:spPr>
          <a:xfrm>
            <a:off x="6217920" y="1801368"/>
            <a:ext cx="5421989" cy="1143000"/>
          </a:xfrm>
          <a:prstGeom prst="rect">
            <a:avLst/>
          </a:prstGeom>
          <a:noFill/>
          <a:ln/>
        </p:spPr>
        <p:txBody>
          <a:bodyPr wrap="square" lIns="508" tIns="508" rIns="508" bIns="508" rtlCol="0" anchor="ctr">
            <a:normAutofit/>
          </a:bodyPr>
          <a:lstStyle/>
          <a:p>
            <a:r>
              <a:rPr lang="en-US" sz="920" dirty="0">
                <a:solidFill>
                  <a:srgbClr val="50616F"/>
                </a:solidFill>
              </a:rPr>
              <a:t>Chein, J. M., et al. (2024). Individual differences in the discernment of human from AI-generated content. Scientific Reports.</a:t>
            </a:r>
            <a:endParaRPr lang="en-US" sz="920" dirty="0"/>
          </a:p>
          <a:p>
            <a:pPr marL="0" indent="0">
              <a:buNone/>
            </a:pPr>
            <a:r>
              <a:rPr lang="en-US" sz="920" dirty="0">
                <a:solidFill>
                  <a:srgbClr val="50616F"/>
                </a:solidFill>
              </a:rPr>
              <a:t>Elkhatat, A. M., Elsaid, K., &amp; Almeer, S. (2023). Evaluating AI content detection tools. International Journal for Educational Integrity.</a:t>
            </a:r>
            <a:endParaRPr lang="en-US" sz="920" dirty="0"/>
          </a:p>
          <a:p>
            <a:pPr marL="0" indent="0">
              <a:buNone/>
            </a:pPr>
            <a:r>
              <a:rPr lang="en-US" sz="920" dirty="0">
                <a:solidFill>
                  <a:srgbClr val="50616F"/>
                </a:solidFill>
              </a:rPr>
              <a:t>Goldstein, A., et al. (2025). Temporal structure of natural language processing in the human brain. Nature Communications.</a:t>
            </a:r>
            <a:endParaRPr lang="en-US" sz="920" dirty="0"/>
          </a:p>
          <a:p>
            <a:pPr marL="0" indent="0">
              <a:buNone/>
            </a:pPr>
            <a:r>
              <a:rPr lang="en-US" sz="920" dirty="0">
                <a:solidFill>
                  <a:srgbClr val="50616F"/>
                </a:solidFill>
              </a:rPr>
              <a:t>Baddeley, A. (2003). Working memory and language: an overview. Journal of Communication Disorders.</a:t>
            </a:r>
            <a:endParaRPr lang="en-US" sz="9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2617</Words>
  <Application>Microsoft Macintosh PowerPoint</Application>
  <PresentationFormat>Widescreen</PresentationFormat>
  <Paragraphs>253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Psycholinguistic Cues in AI-Authorship Perception and L2 Text Memory</dc:title>
  <dc:subject>Psycholinguistics research proposal showcase</dc:subject>
  <dc:creator>OpenAI</dc:creator>
  <cp:lastModifiedBy>Jiaheng Zhang</cp:lastModifiedBy>
  <cp:revision>2</cp:revision>
  <dcterms:created xsi:type="dcterms:W3CDTF">2026-07-04T08:52:04Z</dcterms:created>
  <dcterms:modified xsi:type="dcterms:W3CDTF">2026-07-04T08:56:52Z</dcterms:modified>
</cp:coreProperties>
</file>